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78"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E8EAF0"/>
                </a:solidFill>
                <a:latin typeface="Arial"/>
              </a:defRPr>
            </a:pPr>
            <a:r>
              <a:rPr sz="1400" b="0" i="0" u="none" strike="noStrike">
                <a:solidFill>
                  <a:srgbClr val="E8EAF0"/>
                </a:solidFill>
                <a:latin typeface="Arial"/>
              </a:rPr>
              <a:t>Validation Metrics (lower = better)</a:t>
            </a:r>
          </a:p>
        </c:rich>
      </c:tx>
      <c:overlay val="0"/>
    </c:title>
    <c:autoTitleDeleted val="0"/>
    <c:plotArea>
      <c:layout/>
      <c:barChart>
        <c:barDir val="col"/>
        <c:grouping val="clustered"/>
        <c:varyColors val="0"/>
        <c:ser>
          <c:idx val="0"/>
          <c:order val="0"/>
          <c:tx>
            <c:strRef>
              <c:f>Sheet1!$B$1</c:f>
              <c:strCache>
                <c:ptCount val="1"/>
                <c:pt idx="0">
                  <c:v>Random Forest</c:v>
                </c:pt>
              </c:strCache>
            </c:strRef>
          </c:tx>
          <c:spPr>
            <a:solidFill>
              <a:srgbClr val="3B82F6"/>
            </a:solidFill>
            <a:effectLst/>
          </c:spPr>
          <c:invertIfNegative val="0"/>
          <c:dLbls>
            <c:numFmt formatCode="#,##0" sourceLinked="0"/>
            <c:spPr>
              <a:noFill/>
              <a:ln>
                <a:noFill/>
              </a:ln>
              <a:effectLst/>
            </c:spPr>
            <c:txPr>
              <a:bodyPr/>
              <a:lstStyle/>
              <a:p>
                <a:pPr>
                  <a:defRPr sz="1100" b="0" i="0" u="none" strike="noStrike">
                    <a:solidFill>
                      <a:srgbClr val="E8EA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RMSPE %</c:v>
                </c:pt>
                <c:pt idx="1">
                  <c:v>MAPE %</c:v>
                </c:pt>
              </c:strCache>
            </c:strRef>
          </c:cat>
          <c:val>
            <c:numRef>
              <c:f>Sheet1!$B$2:$B$3</c:f>
              <c:numCache>
                <c:formatCode>General</c:formatCode>
                <c:ptCount val="2"/>
                <c:pt idx="0">
                  <c:v>14.78</c:v>
                </c:pt>
                <c:pt idx="1">
                  <c:v>19.920000000000002</c:v>
                </c:pt>
              </c:numCache>
            </c:numRef>
          </c:val>
          <c:extLst>
            <c:ext xmlns:c16="http://schemas.microsoft.com/office/drawing/2014/chart" uri="{C3380CC4-5D6E-409C-BE32-E72D297353CC}">
              <c16:uniqueId val="{00000000-244F-423E-AF60-04B09D81E13D}"/>
            </c:ext>
          </c:extLst>
        </c:ser>
        <c:ser>
          <c:idx val="1"/>
          <c:order val="1"/>
          <c:tx>
            <c:strRef>
              <c:f>Sheet1!$C$1</c:f>
              <c:strCache>
                <c:ptCount val="1"/>
                <c:pt idx="0">
                  <c:v>Gradient Boosting</c:v>
                </c:pt>
              </c:strCache>
            </c:strRef>
          </c:tx>
          <c:spPr>
            <a:solidFill>
              <a:srgbClr val="F59E0B"/>
            </a:solidFill>
            <a:effectLst/>
          </c:spPr>
          <c:invertIfNegative val="0"/>
          <c:dLbls>
            <c:numFmt formatCode="#,##0" sourceLinked="0"/>
            <c:spPr>
              <a:noFill/>
              <a:ln>
                <a:noFill/>
              </a:ln>
              <a:effectLst/>
            </c:spPr>
            <c:txPr>
              <a:bodyPr/>
              <a:lstStyle/>
              <a:p>
                <a:pPr>
                  <a:defRPr sz="1100" b="0" i="0" u="none" strike="noStrike">
                    <a:solidFill>
                      <a:srgbClr val="E8EAF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RMSPE %</c:v>
                </c:pt>
                <c:pt idx="1">
                  <c:v>MAPE %</c:v>
                </c:pt>
              </c:strCache>
            </c:strRef>
          </c:cat>
          <c:val>
            <c:numRef>
              <c:f>Sheet1!$C$2:$C$3</c:f>
              <c:numCache>
                <c:formatCode>General</c:formatCode>
                <c:ptCount val="2"/>
                <c:pt idx="0">
                  <c:v>21.56</c:v>
                </c:pt>
                <c:pt idx="1">
                  <c:v>25.5</c:v>
                </c:pt>
              </c:numCache>
            </c:numRef>
          </c:val>
          <c:extLst>
            <c:ext xmlns:c16="http://schemas.microsoft.com/office/drawing/2014/chart" uri="{C3380CC4-5D6E-409C-BE32-E72D297353CC}">
              <c16:uniqueId val="{00000001-244F-423E-AF60-04B09D81E13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E8EAF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F2A3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E8EAF0"/>
                </a:solidFill>
                <a:latin typeface="Arial"/>
              </a:defRPr>
            </a:pPr>
            <a:endParaRPr lang="en-US"/>
          </a:p>
        </c:txPr>
        <c:crossAx val="2094734554"/>
        <c:crosses val="autoZero"/>
        <c:crossBetween val="between"/>
      </c:valAx>
      <c:spPr>
        <a:solidFill>
          <a:srgbClr val="131826"/>
        </a:solidFill>
        <a:ln>
          <a:noFill/>
        </a:ln>
        <a:effectLst/>
      </c:spPr>
    </c:plotArea>
    <c:legend>
      <c:legendPos val="b"/>
      <c:overlay val="0"/>
      <c:txPr>
        <a:bodyPr/>
        <a:lstStyle/>
        <a:p>
          <a:pPr>
            <a:defRPr sz="1100">
              <a:solidFill>
                <a:srgbClr val="E8EAF0"/>
              </a:solidFill>
            </a:defRPr>
          </a:pPr>
          <a:endParaRPr lang="en-US"/>
        </a:p>
      </c:txPr>
    </c:legend>
    <c:plotVisOnly val="1"/>
    <c:dispBlanksAs val="span"/>
    <c:showDLblsOverMax val="1"/>
  </c:chart>
  <c:spPr>
    <a:solidFill>
      <a:srgbClr val="131826"/>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221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1"/>
        </a:solidFill>
        <a:effectLst/>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3B82F6">
              <a:alpha val="12000"/>
            </a:srgbClr>
          </a:solidFill>
          <a:ln w="12700">
            <a:solidFill>
              <a:srgbClr val="FFFFFF">
                <a:alpha val="0"/>
              </a:srgbClr>
            </a:solidFill>
            <a:prstDash val="solid"/>
          </a:ln>
        </p:spPr>
      </p:sp>
      <p:sp>
        <p:nvSpPr>
          <p:cNvPr id="3" name="Shape 1"/>
          <p:cNvSpPr/>
          <p:nvPr/>
        </p:nvSpPr>
        <p:spPr>
          <a:xfrm>
            <a:off x="9601200" y="-914400"/>
            <a:ext cx="3657600" cy="3657600"/>
          </a:xfrm>
          <a:prstGeom prst="ellipse">
            <a:avLst/>
          </a:prstGeom>
          <a:solidFill>
            <a:srgbClr val="10B981">
              <a:alpha val="8000"/>
            </a:srgbClr>
          </a:solidFill>
          <a:ln w="12700">
            <a:solidFill>
              <a:srgbClr val="FFFFFF">
                <a:alpha val="0"/>
              </a:srgbClr>
            </a:solidFill>
            <a:prstDash val="solid"/>
          </a:ln>
        </p:spPr>
      </p:sp>
      <p:sp>
        <p:nvSpPr>
          <p:cNvPr id="4" name="Shape 2"/>
          <p:cNvSpPr/>
          <p:nvPr/>
        </p:nvSpPr>
        <p:spPr>
          <a:xfrm>
            <a:off x="640080" y="1645920"/>
            <a:ext cx="2377440" cy="365760"/>
          </a:xfrm>
          <a:prstGeom prst="roundRect">
            <a:avLst>
              <a:gd name="adj" fmla="val 50000"/>
            </a:avLst>
          </a:prstGeom>
          <a:solidFill>
            <a:srgbClr val="3B82F6">
              <a:alpha val="20000"/>
            </a:srgbClr>
          </a:solidFill>
          <a:ln w="6350">
            <a:solidFill>
              <a:srgbClr val="3B82F6"/>
            </a:solidFill>
            <a:prstDash val="solid"/>
          </a:ln>
        </p:spPr>
      </p:sp>
      <p:sp>
        <p:nvSpPr>
          <p:cNvPr id="5" name="Text 3"/>
          <p:cNvSpPr/>
          <p:nvPr/>
        </p:nvSpPr>
        <p:spPr>
          <a:xfrm>
            <a:off x="640080" y="1645920"/>
            <a:ext cx="2377440" cy="365760"/>
          </a:xfrm>
          <a:prstGeom prst="rect">
            <a:avLst/>
          </a:prstGeom>
          <a:noFill/>
          <a:ln/>
        </p:spPr>
        <p:txBody>
          <a:bodyPr wrap="square" rtlCol="0" anchor="ctr"/>
          <a:lstStyle/>
          <a:p>
            <a:pPr marL="0" indent="0" algn="ctr">
              <a:buNone/>
            </a:pPr>
            <a:r>
              <a:rPr lang="en-US" sz="1000" b="1" kern="0" spc="200" dirty="0">
                <a:solidFill>
                  <a:srgbClr val="3B82F6"/>
                </a:solidFill>
                <a:latin typeface="Calibri" pitchFamily="34" charset="0"/>
                <a:ea typeface="Calibri" pitchFamily="34" charset="-122"/>
                <a:cs typeface="Calibri" pitchFamily="34" charset="-120"/>
              </a:rPr>
              <a:t>NEXTHIKES  PROJECT</a:t>
            </a:r>
            <a:endParaRPr lang="en-US" sz="1000" dirty="0"/>
          </a:p>
        </p:txBody>
      </p:sp>
      <p:sp>
        <p:nvSpPr>
          <p:cNvPr id="6" name="Text 4"/>
          <p:cNvSpPr/>
          <p:nvPr/>
        </p:nvSpPr>
        <p:spPr>
          <a:xfrm>
            <a:off x="640080" y="2286000"/>
            <a:ext cx="10972800" cy="822960"/>
          </a:xfrm>
          <a:prstGeom prst="rect">
            <a:avLst/>
          </a:prstGeom>
          <a:noFill/>
          <a:ln/>
        </p:spPr>
        <p:txBody>
          <a:bodyPr wrap="square" lIns="0" tIns="0" rIns="0" bIns="0" rtlCol="0" anchor="ctr"/>
          <a:lstStyle/>
          <a:p>
            <a:pPr marL="0" indent="0">
              <a:buNone/>
            </a:pPr>
            <a:r>
              <a:rPr lang="en-US" sz="5200" b="1" dirty="0">
                <a:solidFill>
                  <a:srgbClr val="E8EAF0"/>
                </a:solidFill>
                <a:latin typeface="Calibri" pitchFamily="34" charset="0"/>
                <a:ea typeface="Calibri" pitchFamily="34" charset="-122"/>
                <a:cs typeface="Calibri" pitchFamily="34" charset="-120"/>
              </a:rPr>
              <a:t>Rossmann Pharmaceuticals</a:t>
            </a:r>
            <a:endParaRPr lang="en-US" sz="5200" dirty="0"/>
          </a:p>
        </p:txBody>
      </p:sp>
      <p:sp>
        <p:nvSpPr>
          <p:cNvPr id="7" name="Text 5"/>
          <p:cNvSpPr/>
          <p:nvPr/>
        </p:nvSpPr>
        <p:spPr>
          <a:xfrm>
            <a:off x="640080" y="3154680"/>
            <a:ext cx="10972800" cy="548640"/>
          </a:xfrm>
          <a:prstGeom prst="rect">
            <a:avLst/>
          </a:prstGeom>
          <a:noFill/>
          <a:ln/>
        </p:spPr>
        <p:txBody>
          <a:bodyPr wrap="square" lIns="0" tIns="0" rIns="0" bIns="0" rtlCol="0" anchor="ctr"/>
          <a:lstStyle/>
          <a:p>
            <a:pPr marL="0" indent="0">
              <a:buNone/>
            </a:pPr>
            <a:r>
              <a:rPr lang="en-US" sz="2800" dirty="0">
                <a:solidFill>
                  <a:srgbClr val="3B82F6"/>
                </a:solidFill>
                <a:latin typeface="Calibri" pitchFamily="34" charset="0"/>
                <a:ea typeface="Calibri" pitchFamily="34" charset="-122"/>
                <a:cs typeface="Calibri" pitchFamily="34" charset="-120"/>
              </a:rPr>
              <a:t>End-to-End Sales Forecasting Pipeline</a:t>
            </a:r>
            <a:endParaRPr lang="en-US" sz="2800" dirty="0"/>
          </a:p>
        </p:txBody>
      </p:sp>
      <p:sp>
        <p:nvSpPr>
          <p:cNvPr id="8" name="Text 6"/>
          <p:cNvSpPr/>
          <p:nvPr/>
        </p:nvSpPr>
        <p:spPr>
          <a:xfrm>
            <a:off x="640080" y="3886200"/>
            <a:ext cx="10058400" cy="914400"/>
          </a:xfrm>
          <a:prstGeom prst="rect">
            <a:avLst/>
          </a:prstGeom>
          <a:noFill/>
          <a:ln/>
        </p:spPr>
        <p:txBody>
          <a:bodyPr wrap="square" lIns="0" tIns="0" rIns="0" bIns="0" rtlCol="0" anchor="ctr"/>
          <a:lstStyle/>
          <a:p>
            <a:pPr marL="0" indent="0">
              <a:buNone/>
            </a:pPr>
            <a:r>
              <a:rPr lang="en-US" sz="1400" dirty="0">
                <a:solidFill>
                  <a:srgbClr val="C5D2EE"/>
                </a:solidFill>
                <a:latin typeface="Calibri" pitchFamily="34" charset="0"/>
                <a:ea typeface="Calibri" pitchFamily="34" charset="-122"/>
                <a:cs typeface="Calibri" pitchFamily="34" charset="-120"/>
              </a:rPr>
              <a:t>A production-grade machine learning system that predicts daily sales for 1,115 retail pharmacy stores up to six weeks ahead. Built to replace manager intuition with data-driven forecasts that scale across the chain.</a:t>
            </a:r>
            <a:endParaRPr lang="en-US" sz="1400" dirty="0"/>
          </a:p>
        </p:txBody>
      </p:sp>
      <p:sp>
        <p:nvSpPr>
          <p:cNvPr id="9" name="Shape 7"/>
          <p:cNvSpPr/>
          <p:nvPr/>
        </p:nvSpPr>
        <p:spPr>
          <a:xfrm>
            <a:off x="640080" y="4937760"/>
            <a:ext cx="1371600" cy="320040"/>
          </a:xfrm>
          <a:prstGeom prst="roundRect">
            <a:avLst>
              <a:gd name="adj" fmla="val 48571"/>
            </a:avLst>
          </a:prstGeom>
          <a:solidFill>
            <a:srgbClr val="131826"/>
          </a:solidFill>
          <a:ln w="6350">
            <a:solidFill>
              <a:srgbClr val="1F2A3F"/>
            </a:solidFill>
            <a:prstDash val="solid"/>
          </a:ln>
        </p:spPr>
      </p:sp>
      <p:sp>
        <p:nvSpPr>
          <p:cNvPr id="10" name="Text 8"/>
          <p:cNvSpPr/>
          <p:nvPr/>
        </p:nvSpPr>
        <p:spPr>
          <a:xfrm>
            <a:off x="640080" y="4937760"/>
            <a:ext cx="1371600" cy="320040"/>
          </a:xfrm>
          <a:prstGeom prst="rect">
            <a:avLst/>
          </a:prstGeom>
          <a:noFill/>
          <a:ln/>
        </p:spPr>
        <p:txBody>
          <a:bodyPr wrap="square" rtlCol="0" anchor="ctr"/>
          <a:lstStyle/>
          <a:p>
            <a:pPr marL="0" indent="0" algn="ctr">
              <a:buNone/>
            </a:pPr>
            <a:r>
              <a:rPr lang="en-US" sz="1000" dirty="0">
                <a:solidFill>
                  <a:srgbClr val="E8EAF0"/>
                </a:solidFill>
                <a:latin typeface="Calibri" pitchFamily="34" charset="0"/>
                <a:ea typeface="Calibri" pitchFamily="34" charset="-122"/>
                <a:cs typeface="Calibri" pitchFamily="34" charset="-120"/>
              </a:rPr>
              <a:t>scikit-learn</a:t>
            </a:r>
            <a:endParaRPr lang="en-US" sz="1000" dirty="0"/>
          </a:p>
        </p:txBody>
      </p:sp>
      <p:sp>
        <p:nvSpPr>
          <p:cNvPr id="11" name="Shape 9"/>
          <p:cNvSpPr/>
          <p:nvPr/>
        </p:nvSpPr>
        <p:spPr>
          <a:xfrm>
            <a:off x="2148840" y="4937760"/>
            <a:ext cx="1371600" cy="320040"/>
          </a:xfrm>
          <a:prstGeom prst="roundRect">
            <a:avLst>
              <a:gd name="adj" fmla="val 48571"/>
            </a:avLst>
          </a:prstGeom>
          <a:solidFill>
            <a:srgbClr val="131826"/>
          </a:solidFill>
          <a:ln w="6350">
            <a:solidFill>
              <a:srgbClr val="1F2A3F"/>
            </a:solidFill>
            <a:prstDash val="solid"/>
          </a:ln>
        </p:spPr>
      </p:sp>
      <p:sp>
        <p:nvSpPr>
          <p:cNvPr id="12" name="Text 10"/>
          <p:cNvSpPr/>
          <p:nvPr/>
        </p:nvSpPr>
        <p:spPr>
          <a:xfrm>
            <a:off x="2148840" y="4937760"/>
            <a:ext cx="1371600" cy="320040"/>
          </a:xfrm>
          <a:prstGeom prst="rect">
            <a:avLst/>
          </a:prstGeom>
          <a:noFill/>
          <a:ln/>
        </p:spPr>
        <p:txBody>
          <a:bodyPr wrap="square" rtlCol="0" anchor="ctr"/>
          <a:lstStyle/>
          <a:p>
            <a:pPr marL="0" indent="0" algn="ctr">
              <a:buNone/>
            </a:pPr>
            <a:r>
              <a:rPr lang="en-US" sz="1000" dirty="0">
                <a:solidFill>
                  <a:srgbClr val="E8EAF0"/>
                </a:solidFill>
                <a:latin typeface="Calibri" pitchFamily="34" charset="0"/>
                <a:ea typeface="Calibri" pitchFamily="34" charset="-122"/>
                <a:cs typeface="Calibri" pitchFamily="34" charset="-120"/>
              </a:rPr>
              <a:t>TensorFlow LSTM</a:t>
            </a:r>
            <a:endParaRPr lang="en-US" sz="1000" dirty="0"/>
          </a:p>
        </p:txBody>
      </p:sp>
      <p:sp>
        <p:nvSpPr>
          <p:cNvPr id="13" name="Shape 11"/>
          <p:cNvSpPr/>
          <p:nvPr/>
        </p:nvSpPr>
        <p:spPr>
          <a:xfrm>
            <a:off x="3657600" y="4937760"/>
            <a:ext cx="1371600" cy="320040"/>
          </a:xfrm>
          <a:prstGeom prst="roundRect">
            <a:avLst>
              <a:gd name="adj" fmla="val 48571"/>
            </a:avLst>
          </a:prstGeom>
          <a:solidFill>
            <a:srgbClr val="131826"/>
          </a:solidFill>
          <a:ln w="6350">
            <a:solidFill>
              <a:srgbClr val="1F2A3F"/>
            </a:solidFill>
            <a:prstDash val="solid"/>
          </a:ln>
        </p:spPr>
      </p:sp>
      <p:sp>
        <p:nvSpPr>
          <p:cNvPr id="14" name="Text 12"/>
          <p:cNvSpPr/>
          <p:nvPr/>
        </p:nvSpPr>
        <p:spPr>
          <a:xfrm>
            <a:off x="3657600" y="4937760"/>
            <a:ext cx="1371600" cy="320040"/>
          </a:xfrm>
          <a:prstGeom prst="rect">
            <a:avLst/>
          </a:prstGeom>
          <a:noFill/>
          <a:ln/>
        </p:spPr>
        <p:txBody>
          <a:bodyPr wrap="square" rtlCol="0" anchor="ctr"/>
          <a:lstStyle/>
          <a:p>
            <a:pPr marL="0" indent="0" algn="ctr">
              <a:buNone/>
            </a:pPr>
            <a:r>
              <a:rPr lang="en-US" sz="1000" dirty="0">
                <a:solidFill>
                  <a:srgbClr val="E8EAF0"/>
                </a:solidFill>
                <a:latin typeface="Calibri" pitchFamily="34" charset="0"/>
                <a:ea typeface="Calibri" pitchFamily="34" charset="-122"/>
                <a:cs typeface="Calibri" pitchFamily="34" charset="-120"/>
              </a:rPr>
              <a:t>MLflow</a:t>
            </a:r>
            <a:endParaRPr lang="en-US" sz="1000" dirty="0"/>
          </a:p>
        </p:txBody>
      </p:sp>
      <p:sp>
        <p:nvSpPr>
          <p:cNvPr id="15" name="Shape 13"/>
          <p:cNvSpPr/>
          <p:nvPr/>
        </p:nvSpPr>
        <p:spPr>
          <a:xfrm>
            <a:off x="5166360" y="4937760"/>
            <a:ext cx="1371600" cy="320040"/>
          </a:xfrm>
          <a:prstGeom prst="roundRect">
            <a:avLst>
              <a:gd name="adj" fmla="val 48571"/>
            </a:avLst>
          </a:prstGeom>
          <a:solidFill>
            <a:srgbClr val="131826"/>
          </a:solidFill>
          <a:ln w="6350">
            <a:solidFill>
              <a:srgbClr val="1F2A3F"/>
            </a:solidFill>
            <a:prstDash val="solid"/>
          </a:ln>
        </p:spPr>
      </p:sp>
      <p:sp>
        <p:nvSpPr>
          <p:cNvPr id="16" name="Text 14"/>
          <p:cNvSpPr/>
          <p:nvPr/>
        </p:nvSpPr>
        <p:spPr>
          <a:xfrm>
            <a:off x="5166360" y="4937760"/>
            <a:ext cx="1371600" cy="320040"/>
          </a:xfrm>
          <a:prstGeom prst="rect">
            <a:avLst/>
          </a:prstGeom>
          <a:noFill/>
          <a:ln/>
        </p:spPr>
        <p:txBody>
          <a:bodyPr wrap="square" rtlCol="0" anchor="ctr"/>
          <a:lstStyle/>
          <a:p>
            <a:pPr marL="0" indent="0" algn="ctr">
              <a:buNone/>
            </a:pPr>
            <a:r>
              <a:rPr lang="en-US" sz="1000" dirty="0">
                <a:solidFill>
                  <a:srgbClr val="E8EAF0"/>
                </a:solidFill>
                <a:latin typeface="Calibri" pitchFamily="34" charset="0"/>
                <a:ea typeface="Calibri" pitchFamily="34" charset="-122"/>
                <a:cs typeface="Calibri" pitchFamily="34" charset="-120"/>
              </a:rPr>
              <a:t>Streamlit</a:t>
            </a:r>
            <a:endParaRPr lang="en-US" sz="1000" dirty="0"/>
          </a:p>
        </p:txBody>
      </p:sp>
      <p:sp>
        <p:nvSpPr>
          <p:cNvPr id="17" name="Shape 15"/>
          <p:cNvSpPr/>
          <p:nvPr/>
        </p:nvSpPr>
        <p:spPr>
          <a:xfrm>
            <a:off x="6675120" y="4937760"/>
            <a:ext cx="1371600" cy="320040"/>
          </a:xfrm>
          <a:prstGeom prst="roundRect">
            <a:avLst>
              <a:gd name="adj" fmla="val 48571"/>
            </a:avLst>
          </a:prstGeom>
          <a:solidFill>
            <a:srgbClr val="131826"/>
          </a:solidFill>
          <a:ln w="6350">
            <a:solidFill>
              <a:srgbClr val="1F2A3F"/>
            </a:solidFill>
            <a:prstDash val="solid"/>
          </a:ln>
        </p:spPr>
      </p:sp>
      <p:sp>
        <p:nvSpPr>
          <p:cNvPr id="18" name="Text 16"/>
          <p:cNvSpPr/>
          <p:nvPr/>
        </p:nvSpPr>
        <p:spPr>
          <a:xfrm>
            <a:off x="6675120" y="4937760"/>
            <a:ext cx="1371600" cy="320040"/>
          </a:xfrm>
          <a:prstGeom prst="rect">
            <a:avLst/>
          </a:prstGeom>
          <a:noFill/>
          <a:ln/>
        </p:spPr>
        <p:txBody>
          <a:bodyPr wrap="square" rtlCol="0" anchor="ctr"/>
          <a:lstStyle/>
          <a:p>
            <a:pPr marL="0" indent="0" algn="ctr">
              <a:buNone/>
            </a:pPr>
            <a:r>
              <a:rPr lang="en-US" sz="1000" dirty="0">
                <a:solidFill>
                  <a:srgbClr val="E8EAF0"/>
                </a:solidFill>
                <a:latin typeface="Calibri" pitchFamily="34" charset="0"/>
                <a:ea typeface="Calibri" pitchFamily="34" charset="-122"/>
                <a:cs typeface="Calibri" pitchFamily="34" charset="-120"/>
              </a:rPr>
              <a:t>DVC</a:t>
            </a:r>
            <a:endParaRPr lang="en-US" sz="1000" dirty="0"/>
          </a:p>
        </p:txBody>
      </p:sp>
      <p:sp>
        <p:nvSpPr>
          <p:cNvPr id="19" name="Shape 17"/>
          <p:cNvSpPr/>
          <p:nvPr/>
        </p:nvSpPr>
        <p:spPr>
          <a:xfrm>
            <a:off x="8183880" y="4937760"/>
            <a:ext cx="1371600" cy="320040"/>
          </a:xfrm>
          <a:prstGeom prst="roundRect">
            <a:avLst>
              <a:gd name="adj" fmla="val 48571"/>
            </a:avLst>
          </a:prstGeom>
          <a:solidFill>
            <a:srgbClr val="131826"/>
          </a:solidFill>
          <a:ln w="6350">
            <a:solidFill>
              <a:srgbClr val="1F2A3F"/>
            </a:solidFill>
            <a:prstDash val="solid"/>
          </a:ln>
        </p:spPr>
      </p:sp>
      <p:sp>
        <p:nvSpPr>
          <p:cNvPr id="20" name="Text 18"/>
          <p:cNvSpPr/>
          <p:nvPr/>
        </p:nvSpPr>
        <p:spPr>
          <a:xfrm>
            <a:off x="8183880" y="4937760"/>
            <a:ext cx="1371600" cy="320040"/>
          </a:xfrm>
          <a:prstGeom prst="rect">
            <a:avLst/>
          </a:prstGeom>
          <a:noFill/>
          <a:ln/>
        </p:spPr>
        <p:txBody>
          <a:bodyPr wrap="square" rtlCol="0" anchor="ctr"/>
          <a:lstStyle/>
          <a:p>
            <a:pPr marL="0" indent="0" algn="ctr">
              <a:buNone/>
            </a:pPr>
            <a:r>
              <a:rPr lang="en-US" sz="1000" dirty="0">
                <a:solidFill>
                  <a:srgbClr val="E8EAF0"/>
                </a:solidFill>
                <a:latin typeface="Calibri" pitchFamily="34" charset="0"/>
                <a:ea typeface="Calibri" pitchFamily="34" charset="-122"/>
                <a:cs typeface="Calibri" pitchFamily="34" charset="-120"/>
              </a:rPr>
              <a:t>Heroku</a:t>
            </a:r>
            <a:endParaRPr lang="en-US" sz="1000" dirty="0"/>
          </a:p>
        </p:txBody>
      </p:sp>
      <p:sp>
        <p:nvSpPr>
          <p:cNvPr id="21" name="Text 19"/>
          <p:cNvSpPr/>
          <p:nvPr/>
        </p:nvSpPr>
        <p:spPr>
          <a:xfrm>
            <a:off x="640080" y="5943600"/>
            <a:ext cx="5486400" cy="365760"/>
          </a:xfrm>
          <a:prstGeom prst="rect">
            <a:avLst/>
          </a:prstGeom>
          <a:noFill/>
          <a:ln/>
        </p:spPr>
        <p:txBody>
          <a:bodyPr wrap="square" lIns="0" tIns="0" rIns="0" bIns="0" rtlCol="0" anchor="ctr"/>
          <a:lstStyle/>
          <a:p>
            <a:pPr marL="0" indent="0">
              <a:buNone/>
            </a:pPr>
            <a:r>
              <a:rPr lang="en-US" sz="1800" b="1" dirty="0">
                <a:solidFill>
                  <a:srgbClr val="E8EAF0"/>
                </a:solidFill>
                <a:latin typeface="Calibri" pitchFamily="34" charset="0"/>
                <a:ea typeface="Calibri" pitchFamily="34" charset="-122"/>
                <a:cs typeface="Calibri" pitchFamily="34" charset="-120"/>
              </a:rPr>
              <a:t>Sumeet Rajput</a:t>
            </a:r>
            <a:endParaRPr lang="en-US" sz="1800" dirty="0"/>
          </a:p>
        </p:txBody>
      </p:sp>
      <p:sp>
        <p:nvSpPr>
          <p:cNvPr id="22" name="Text 20"/>
          <p:cNvSpPr/>
          <p:nvPr/>
        </p:nvSpPr>
        <p:spPr>
          <a:xfrm>
            <a:off x="640080" y="6263640"/>
            <a:ext cx="7315200" cy="274320"/>
          </a:xfrm>
          <a:prstGeom prst="rect">
            <a:avLst/>
          </a:prstGeom>
          <a:noFill/>
          <a:ln/>
        </p:spPr>
        <p:txBody>
          <a:bodyPr wrap="square" lIns="0" tIns="0" rIns="0" bIns="0" rtlCol="0" anchor="ctr"/>
          <a:lstStyle/>
          <a:p>
            <a:pPr marL="0" indent="0">
              <a:buNone/>
            </a:pPr>
            <a:r>
              <a:rPr lang="en-US" sz="1200" dirty="0">
                <a:solidFill>
                  <a:srgbClr val="9CA8C2"/>
                </a:solidFill>
                <a:latin typeface="Calibri" pitchFamily="34" charset="0"/>
                <a:ea typeface="Calibri" pitchFamily="34" charset="-122"/>
                <a:cs typeface="Calibri" pitchFamily="34" charset="-120"/>
              </a:rPr>
              <a:t>Data Science Intern · Submitted 15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What This Presentation Covers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A guide to each section of the project</a:t>
            </a:r>
            <a:endParaRPr lang="en-US" sz="1300" dirty="0"/>
          </a:p>
        </p:txBody>
      </p:sp>
      <p:sp>
        <p:nvSpPr>
          <p:cNvPr id="4" name="Text 2"/>
          <p:cNvSpPr/>
          <p:nvPr/>
        </p:nvSpPr>
        <p:spPr>
          <a:xfrm>
            <a:off x="457200" y="1417320"/>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01</a:t>
            </a:r>
            <a:endParaRPr lang="en-US" sz="1800" dirty="0"/>
          </a:p>
        </p:txBody>
      </p:sp>
      <p:sp>
        <p:nvSpPr>
          <p:cNvPr id="5" name="Text 3"/>
          <p:cNvSpPr/>
          <p:nvPr/>
        </p:nvSpPr>
        <p:spPr>
          <a:xfrm>
            <a:off x="1005840" y="1417320"/>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Business Problem</a:t>
            </a:r>
            <a:endParaRPr lang="en-US" sz="1400" dirty="0"/>
          </a:p>
        </p:txBody>
      </p:sp>
      <p:sp>
        <p:nvSpPr>
          <p:cNvPr id="6" name="Text 4"/>
          <p:cNvSpPr/>
          <p:nvPr/>
        </p:nvSpPr>
        <p:spPr>
          <a:xfrm>
            <a:off x="1005840" y="1737360"/>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Why Rossmann needs an automated forecasting system</a:t>
            </a:r>
            <a:endParaRPr lang="en-US" sz="1000" dirty="0"/>
          </a:p>
        </p:txBody>
      </p:sp>
      <p:sp>
        <p:nvSpPr>
          <p:cNvPr id="7" name="Text 5"/>
          <p:cNvSpPr/>
          <p:nvPr/>
        </p:nvSpPr>
        <p:spPr>
          <a:xfrm>
            <a:off x="6217920" y="1417320"/>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02</a:t>
            </a:r>
            <a:endParaRPr lang="en-US" sz="1800" dirty="0"/>
          </a:p>
        </p:txBody>
      </p:sp>
      <p:sp>
        <p:nvSpPr>
          <p:cNvPr id="8" name="Text 6"/>
          <p:cNvSpPr/>
          <p:nvPr/>
        </p:nvSpPr>
        <p:spPr>
          <a:xfrm>
            <a:off x="6766560" y="1417320"/>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Solution Architecture</a:t>
            </a:r>
            <a:endParaRPr lang="en-US" sz="1400" dirty="0"/>
          </a:p>
        </p:txBody>
      </p:sp>
      <p:sp>
        <p:nvSpPr>
          <p:cNvPr id="9" name="Text 7"/>
          <p:cNvSpPr/>
          <p:nvPr/>
        </p:nvSpPr>
        <p:spPr>
          <a:xfrm>
            <a:off x="6766560" y="1737360"/>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The 8-stage pipeline from raw CSVs to production</a:t>
            </a:r>
            <a:endParaRPr lang="en-US" sz="1000" dirty="0"/>
          </a:p>
        </p:txBody>
      </p:sp>
      <p:sp>
        <p:nvSpPr>
          <p:cNvPr id="10" name="Text 8"/>
          <p:cNvSpPr/>
          <p:nvPr/>
        </p:nvSpPr>
        <p:spPr>
          <a:xfrm>
            <a:off x="457200" y="2130552"/>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03</a:t>
            </a:r>
            <a:endParaRPr lang="en-US" sz="1800" dirty="0"/>
          </a:p>
        </p:txBody>
      </p:sp>
      <p:sp>
        <p:nvSpPr>
          <p:cNvPr id="11" name="Text 9"/>
          <p:cNvSpPr/>
          <p:nvPr/>
        </p:nvSpPr>
        <p:spPr>
          <a:xfrm>
            <a:off x="1005840" y="2130552"/>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Data Loading &amp; Cleaning</a:t>
            </a:r>
            <a:endParaRPr lang="en-US" sz="1400" dirty="0"/>
          </a:p>
        </p:txBody>
      </p:sp>
      <p:sp>
        <p:nvSpPr>
          <p:cNvPr id="12" name="Text 10"/>
          <p:cNvSpPr/>
          <p:nvPr/>
        </p:nvSpPr>
        <p:spPr>
          <a:xfrm>
            <a:off x="1005840" y="2450592"/>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Working with 1 million rows across three CSV files</a:t>
            </a:r>
            <a:endParaRPr lang="en-US" sz="1000" dirty="0"/>
          </a:p>
        </p:txBody>
      </p:sp>
      <p:sp>
        <p:nvSpPr>
          <p:cNvPr id="13" name="Text 11"/>
          <p:cNvSpPr/>
          <p:nvPr/>
        </p:nvSpPr>
        <p:spPr>
          <a:xfrm>
            <a:off x="6217920" y="2130552"/>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04</a:t>
            </a:r>
            <a:endParaRPr lang="en-US" sz="1800" dirty="0"/>
          </a:p>
        </p:txBody>
      </p:sp>
      <p:sp>
        <p:nvSpPr>
          <p:cNvPr id="14" name="Text 12"/>
          <p:cNvSpPr/>
          <p:nvPr/>
        </p:nvSpPr>
        <p:spPr>
          <a:xfrm>
            <a:off x="6766560" y="2130552"/>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Exploratory Data Analysis</a:t>
            </a:r>
            <a:endParaRPr lang="en-US" sz="1400" dirty="0"/>
          </a:p>
        </p:txBody>
      </p:sp>
      <p:sp>
        <p:nvSpPr>
          <p:cNvPr id="15" name="Text 13"/>
          <p:cNvSpPr/>
          <p:nvPr/>
        </p:nvSpPr>
        <p:spPr>
          <a:xfrm>
            <a:off x="6766560" y="2450592"/>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Seven business questions answered with charts</a:t>
            </a:r>
            <a:endParaRPr lang="en-US" sz="1000" dirty="0"/>
          </a:p>
        </p:txBody>
      </p:sp>
      <p:sp>
        <p:nvSpPr>
          <p:cNvPr id="16" name="Text 14"/>
          <p:cNvSpPr/>
          <p:nvPr/>
        </p:nvSpPr>
        <p:spPr>
          <a:xfrm>
            <a:off x="457200" y="2843784"/>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05</a:t>
            </a:r>
            <a:endParaRPr lang="en-US" sz="1800" dirty="0"/>
          </a:p>
        </p:txBody>
      </p:sp>
      <p:sp>
        <p:nvSpPr>
          <p:cNvPr id="17" name="Text 15"/>
          <p:cNvSpPr/>
          <p:nvPr/>
        </p:nvSpPr>
        <p:spPr>
          <a:xfrm>
            <a:off x="1005840" y="2843784"/>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Feature Engineering</a:t>
            </a:r>
            <a:endParaRPr lang="en-US" sz="1400" dirty="0"/>
          </a:p>
        </p:txBody>
      </p:sp>
      <p:sp>
        <p:nvSpPr>
          <p:cNvPr id="18" name="Text 16"/>
          <p:cNvSpPr/>
          <p:nvPr/>
        </p:nvSpPr>
        <p:spPr>
          <a:xfrm>
            <a:off x="1005840" y="3163824"/>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Creating 17 new features the model can actually use</a:t>
            </a:r>
            <a:endParaRPr lang="en-US" sz="1000" dirty="0"/>
          </a:p>
        </p:txBody>
      </p:sp>
      <p:sp>
        <p:nvSpPr>
          <p:cNvPr id="19" name="Text 17"/>
          <p:cNvSpPr/>
          <p:nvPr/>
        </p:nvSpPr>
        <p:spPr>
          <a:xfrm>
            <a:off x="6217920" y="2843784"/>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06</a:t>
            </a:r>
            <a:endParaRPr lang="en-US" sz="1800" dirty="0"/>
          </a:p>
        </p:txBody>
      </p:sp>
      <p:sp>
        <p:nvSpPr>
          <p:cNvPr id="20" name="Text 18"/>
          <p:cNvSpPr/>
          <p:nvPr/>
        </p:nvSpPr>
        <p:spPr>
          <a:xfrm>
            <a:off x="6766560" y="2843784"/>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The sklearn Pipeline</a:t>
            </a:r>
            <a:endParaRPr lang="en-US" sz="1400" dirty="0"/>
          </a:p>
        </p:txBody>
      </p:sp>
      <p:sp>
        <p:nvSpPr>
          <p:cNvPr id="21" name="Text 19"/>
          <p:cNvSpPr/>
          <p:nvPr/>
        </p:nvSpPr>
        <p:spPr>
          <a:xfrm>
            <a:off x="6766560" y="3163824"/>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Chaining preprocessing and modeling for reproducibility</a:t>
            </a:r>
            <a:endParaRPr lang="en-US" sz="1000" dirty="0"/>
          </a:p>
        </p:txBody>
      </p:sp>
      <p:sp>
        <p:nvSpPr>
          <p:cNvPr id="22" name="Text 20"/>
          <p:cNvSpPr/>
          <p:nvPr/>
        </p:nvSpPr>
        <p:spPr>
          <a:xfrm>
            <a:off x="457200" y="3557016"/>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07</a:t>
            </a:r>
            <a:endParaRPr lang="en-US" sz="1800" dirty="0"/>
          </a:p>
        </p:txBody>
      </p:sp>
      <p:sp>
        <p:nvSpPr>
          <p:cNvPr id="23" name="Text 21"/>
          <p:cNvSpPr/>
          <p:nvPr/>
        </p:nvSpPr>
        <p:spPr>
          <a:xfrm>
            <a:off x="1005840" y="3557016"/>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Loss Function — RMSPE</a:t>
            </a:r>
            <a:endParaRPr lang="en-US" sz="1400" dirty="0"/>
          </a:p>
        </p:txBody>
      </p:sp>
      <p:sp>
        <p:nvSpPr>
          <p:cNvPr id="24" name="Text 22"/>
          <p:cNvSpPr/>
          <p:nvPr/>
        </p:nvSpPr>
        <p:spPr>
          <a:xfrm>
            <a:off x="1005840" y="3877056"/>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Why percentage error is the right metric for this problem</a:t>
            </a:r>
            <a:endParaRPr lang="en-US" sz="1000" dirty="0"/>
          </a:p>
        </p:txBody>
      </p:sp>
      <p:sp>
        <p:nvSpPr>
          <p:cNvPr id="25" name="Text 23"/>
          <p:cNvSpPr/>
          <p:nvPr/>
        </p:nvSpPr>
        <p:spPr>
          <a:xfrm>
            <a:off x="6217920" y="3557016"/>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08</a:t>
            </a:r>
            <a:endParaRPr lang="en-US" sz="1800" dirty="0"/>
          </a:p>
        </p:txBody>
      </p:sp>
      <p:sp>
        <p:nvSpPr>
          <p:cNvPr id="26" name="Text 24"/>
          <p:cNvSpPr/>
          <p:nvPr/>
        </p:nvSpPr>
        <p:spPr>
          <a:xfrm>
            <a:off x="6766560" y="3557016"/>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Model Training &amp; Results</a:t>
            </a:r>
            <a:endParaRPr lang="en-US" sz="1400" dirty="0"/>
          </a:p>
        </p:txBody>
      </p:sp>
      <p:sp>
        <p:nvSpPr>
          <p:cNvPr id="27" name="Text 25"/>
          <p:cNvSpPr/>
          <p:nvPr/>
        </p:nvSpPr>
        <p:spPr>
          <a:xfrm>
            <a:off x="6766560" y="3877056"/>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Comparing Random Forest and Gradient Boosting</a:t>
            </a:r>
            <a:endParaRPr lang="en-US" sz="1000" dirty="0"/>
          </a:p>
        </p:txBody>
      </p:sp>
      <p:sp>
        <p:nvSpPr>
          <p:cNvPr id="28" name="Text 26"/>
          <p:cNvSpPr/>
          <p:nvPr/>
        </p:nvSpPr>
        <p:spPr>
          <a:xfrm>
            <a:off x="457200" y="4270248"/>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09</a:t>
            </a:r>
            <a:endParaRPr lang="en-US" sz="1800" dirty="0"/>
          </a:p>
        </p:txBody>
      </p:sp>
      <p:sp>
        <p:nvSpPr>
          <p:cNvPr id="29" name="Text 27"/>
          <p:cNvSpPr/>
          <p:nvPr/>
        </p:nvSpPr>
        <p:spPr>
          <a:xfrm>
            <a:off x="1005840" y="4270248"/>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Time-Based Validation</a:t>
            </a:r>
            <a:endParaRPr lang="en-US" sz="1400" dirty="0"/>
          </a:p>
        </p:txBody>
      </p:sp>
      <p:sp>
        <p:nvSpPr>
          <p:cNvPr id="30" name="Text 28"/>
          <p:cNvSpPr/>
          <p:nvPr/>
        </p:nvSpPr>
        <p:spPr>
          <a:xfrm>
            <a:off x="1005840" y="4590288"/>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Honest evaluation by predicting only the future</a:t>
            </a:r>
            <a:endParaRPr lang="en-US" sz="1000" dirty="0"/>
          </a:p>
        </p:txBody>
      </p:sp>
      <p:sp>
        <p:nvSpPr>
          <p:cNvPr id="31" name="Text 29"/>
          <p:cNvSpPr/>
          <p:nvPr/>
        </p:nvSpPr>
        <p:spPr>
          <a:xfrm>
            <a:off x="6217920" y="4270248"/>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10</a:t>
            </a:r>
            <a:endParaRPr lang="en-US" sz="1800" dirty="0"/>
          </a:p>
        </p:txBody>
      </p:sp>
      <p:sp>
        <p:nvSpPr>
          <p:cNvPr id="32" name="Text 30"/>
          <p:cNvSpPr/>
          <p:nvPr/>
        </p:nvSpPr>
        <p:spPr>
          <a:xfrm>
            <a:off x="6766560" y="4270248"/>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LSTM Deep Learning</a:t>
            </a:r>
            <a:endParaRPr lang="en-US" sz="1400" dirty="0"/>
          </a:p>
        </p:txBody>
      </p:sp>
      <p:sp>
        <p:nvSpPr>
          <p:cNvPr id="33" name="Text 31"/>
          <p:cNvSpPr/>
          <p:nvPr/>
        </p:nvSpPr>
        <p:spPr>
          <a:xfrm>
            <a:off x="6766560" y="4590288"/>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All seven required steps with a 2-layer neural network</a:t>
            </a:r>
            <a:endParaRPr lang="en-US" sz="1000" dirty="0"/>
          </a:p>
        </p:txBody>
      </p:sp>
      <p:sp>
        <p:nvSpPr>
          <p:cNvPr id="34" name="Text 32"/>
          <p:cNvSpPr/>
          <p:nvPr/>
        </p:nvSpPr>
        <p:spPr>
          <a:xfrm>
            <a:off x="457200" y="4983480"/>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11</a:t>
            </a:r>
            <a:endParaRPr lang="en-US" sz="1800" dirty="0"/>
          </a:p>
        </p:txBody>
      </p:sp>
      <p:sp>
        <p:nvSpPr>
          <p:cNvPr id="35" name="Text 33"/>
          <p:cNvSpPr/>
          <p:nvPr/>
        </p:nvSpPr>
        <p:spPr>
          <a:xfrm>
            <a:off x="1005840" y="4983480"/>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Post-Prediction Analysis</a:t>
            </a:r>
            <a:endParaRPr lang="en-US" sz="1400" dirty="0"/>
          </a:p>
        </p:txBody>
      </p:sp>
      <p:sp>
        <p:nvSpPr>
          <p:cNvPr id="36" name="Text 34"/>
          <p:cNvSpPr/>
          <p:nvPr/>
        </p:nvSpPr>
        <p:spPr>
          <a:xfrm>
            <a:off x="1005840" y="5303520"/>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Feature importance, confidence intervals, residuals</a:t>
            </a:r>
            <a:endParaRPr lang="en-US" sz="1000" dirty="0"/>
          </a:p>
        </p:txBody>
      </p:sp>
      <p:sp>
        <p:nvSpPr>
          <p:cNvPr id="37" name="Text 35"/>
          <p:cNvSpPr/>
          <p:nvPr/>
        </p:nvSpPr>
        <p:spPr>
          <a:xfrm>
            <a:off x="6217920" y="4983480"/>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12</a:t>
            </a:r>
            <a:endParaRPr lang="en-US" sz="1800" dirty="0"/>
          </a:p>
        </p:txBody>
      </p:sp>
      <p:sp>
        <p:nvSpPr>
          <p:cNvPr id="38" name="Text 36"/>
          <p:cNvSpPr/>
          <p:nvPr/>
        </p:nvSpPr>
        <p:spPr>
          <a:xfrm>
            <a:off x="6766560" y="4983480"/>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MLOps Stack</a:t>
            </a:r>
            <a:endParaRPr lang="en-US" sz="1400" dirty="0"/>
          </a:p>
        </p:txBody>
      </p:sp>
      <p:sp>
        <p:nvSpPr>
          <p:cNvPr id="39" name="Text 37"/>
          <p:cNvSpPr/>
          <p:nvPr/>
        </p:nvSpPr>
        <p:spPr>
          <a:xfrm>
            <a:off x="6766560" y="5303520"/>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MLflow, DVC, CI/CD, Heroku, modular code, logging</a:t>
            </a:r>
            <a:endParaRPr lang="en-US" sz="1000" dirty="0"/>
          </a:p>
        </p:txBody>
      </p:sp>
      <p:sp>
        <p:nvSpPr>
          <p:cNvPr id="40" name="Text 38"/>
          <p:cNvSpPr/>
          <p:nvPr/>
        </p:nvSpPr>
        <p:spPr>
          <a:xfrm>
            <a:off x="457200" y="5696712"/>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13</a:t>
            </a:r>
            <a:endParaRPr lang="en-US" sz="1800" dirty="0"/>
          </a:p>
        </p:txBody>
      </p:sp>
      <p:sp>
        <p:nvSpPr>
          <p:cNvPr id="41" name="Text 39"/>
          <p:cNvSpPr/>
          <p:nvPr/>
        </p:nvSpPr>
        <p:spPr>
          <a:xfrm>
            <a:off x="1005840" y="5696712"/>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Streamlit Dashboard</a:t>
            </a:r>
            <a:endParaRPr lang="en-US" sz="1400" dirty="0"/>
          </a:p>
        </p:txBody>
      </p:sp>
      <p:sp>
        <p:nvSpPr>
          <p:cNvPr id="42" name="Text 40"/>
          <p:cNvSpPr/>
          <p:nvPr/>
        </p:nvSpPr>
        <p:spPr>
          <a:xfrm>
            <a:off x="1005840" y="6016752"/>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The 8-page interactive interface for managers</a:t>
            </a:r>
            <a:endParaRPr lang="en-US" sz="1000" dirty="0"/>
          </a:p>
        </p:txBody>
      </p:sp>
      <p:sp>
        <p:nvSpPr>
          <p:cNvPr id="43" name="Text 41"/>
          <p:cNvSpPr/>
          <p:nvPr/>
        </p:nvSpPr>
        <p:spPr>
          <a:xfrm>
            <a:off x="6217920" y="5696712"/>
            <a:ext cx="548640" cy="411480"/>
          </a:xfrm>
          <a:prstGeom prst="rect">
            <a:avLst/>
          </a:prstGeom>
          <a:noFill/>
          <a:ln/>
        </p:spPr>
        <p:txBody>
          <a:bodyPr wrap="square" lIns="0" tIns="0" rIns="0" bIns="0" rtlCol="0" anchor="ctr"/>
          <a:lstStyle/>
          <a:p>
            <a:pPr marL="0" indent="0">
              <a:buNone/>
            </a:pPr>
            <a:r>
              <a:rPr lang="en-US" sz="1800" b="1" dirty="0">
                <a:solidFill>
                  <a:srgbClr val="3B82F6"/>
                </a:solidFill>
                <a:latin typeface="Calibri" pitchFamily="34" charset="0"/>
                <a:ea typeface="Calibri" pitchFamily="34" charset="-122"/>
                <a:cs typeface="Calibri" pitchFamily="34" charset="-120"/>
              </a:rPr>
              <a:t>14</a:t>
            </a:r>
            <a:endParaRPr lang="en-US" sz="1800" dirty="0"/>
          </a:p>
        </p:txBody>
      </p:sp>
      <p:sp>
        <p:nvSpPr>
          <p:cNvPr id="44" name="Text 42"/>
          <p:cNvSpPr/>
          <p:nvPr/>
        </p:nvSpPr>
        <p:spPr>
          <a:xfrm>
            <a:off x="6766560" y="5696712"/>
            <a:ext cx="52120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Final Results</a:t>
            </a:r>
            <a:endParaRPr lang="en-US" sz="1400" dirty="0"/>
          </a:p>
        </p:txBody>
      </p:sp>
      <p:sp>
        <p:nvSpPr>
          <p:cNvPr id="45" name="Text 43"/>
          <p:cNvSpPr/>
          <p:nvPr/>
        </p:nvSpPr>
        <p:spPr>
          <a:xfrm>
            <a:off x="6766560" y="6016752"/>
            <a:ext cx="5212080" cy="320040"/>
          </a:xfrm>
          <a:prstGeom prst="rect">
            <a:avLst/>
          </a:prstGeom>
          <a:noFill/>
          <a:ln/>
        </p:spPr>
        <p:txBody>
          <a:bodyPr wrap="square" lIns="0" tIns="0" rIns="0" bIns="0" rtlCol="0" anchor="ctr"/>
          <a:lstStyle/>
          <a:p>
            <a:pPr marL="0" indent="0">
              <a:buNone/>
            </a:pPr>
            <a:r>
              <a:rPr lang="en-US" sz="1000" dirty="0">
                <a:solidFill>
                  <a:srgbClr val="9CA8C2"/>
                </a:solidFill>
                <a:latin typeface="Calibri" pitchFamily="34" charset="0"/>
                <a:ea typeface="Calibri" pitchFamily="34" charset="-122"/>
                <a:cs typeface="Calibri" pitchFamily="34" charset="-120"/>
              </a:rPr>
              <a:t>Numbers, deliverables, and what makes this project complete</a:t>
            </a:r>
            <a:endParaRPr lang="en-US" sz="1000" dirty="0"/>
          </a:p>
        </p:txBody>
      </p:sp>
      <p:sp>
        <p:nvSpPr>
          <p:cNvPr id="46" name="Text 44"/>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47" name="Text 45"/>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The Business Problem</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Why Rossmann's finance team commissioned this project</a:t>
            </a:r>
            <a:endParaRPr lang="en-US" sz="1300" dirty="0"/>
          </a:p>
        </p:txBody>
      </p:sp>
      <p:sp>
        <p:nvSpPr>
          <p:cNvPr id="4" name="Shape 2"/>
          <p:cNvSpPr/>
          <p:nvPr/>
        </p:nvSpPr>
        <p:spPr>
          <a:xfrm>
            <a:off x="457200" y="1371600"/>
            <a:ext cx="11247120" cy="1645920"/>
          </a:xfrm>
          <a:prstGeom prst="roundRect">
            <a:avLst>
              <a:gd name="adj" fmla="val 4444"/>
            </a:avLst>
          </a:prstGeom>
          <a:solidFill>
            <a:srgbClr val="131826"/>
          </a:solidFill>
          <a:ln w="6350">
            <a:solidFill>
              <a:srgbClr val="1F2A3F"/>
            </a:solidFill>
            <a:prstDash val="solid"/>
          </a:ln>
        </p:spPr>
      </p:sp>
      <p:sp>
        <p:nvSpPr>
          <p:cNvPr id="5" name="Text 3"/>
          <p:cNvSpPr/>
          <p:nvPr/>
        </p:nvSpPr>
        <p:spPr>
          <a:xfrm>
            <a:off x="731520" y="1508760"/>
            <a:ext cx="10698480" cy="274320"/>
          </a:xfrm>
          <a:prstGeom prst="rect">
            <a:avLst/>
          </a:prstGeom>
          <a:noFill/>
          <a:ln/>
        </p:spPr>
        <p:txBody>
          <a:bodyPr wrap="square" rtlCol="0" anchor="ctr"/>
          <a:lstStyle/>
          <a:p>
            <a:pPr marL="0" indent="0">
              <a:buNone/>
            </a:pPr>
            <a:r>
              <a:rPr lang="en-US" sz="1100" b="1" kern="0" spc="200" dirty="0">
                <a:solidFill>
                  <a:srgbClr val="3B82F6"/>
                </a:solidFill>
                <a:latin typeface="Calibri" pitchFamily="34" charset="0"/>
                <a:ea typeface="Calibri" pitchFamily="34" charset="-122"/>
                <a:cs typeface="Calibri" pitchFamily="34" charset="-120"/>
              </a:rPr>
              <a:t>THE SITUATION</a:t>
            </a:r>
            <a:endParaRPr lang="en-US" sz="1100" dirty="0"/>
          </a:p>
        </p:txBody>
      </p:sp>
      <p:sp>
        <p:nvSpPr>
          <p:cNvPr id="6" name="Text 4"/>
          <p:cNvSpPr/>
          <p:nvPr/>
        </p:nvSpPr>
        <p:spPr>
          <a:xfrm>
            <a:off x="731520" y="1828800"/>
            <a:ext cx="10698480" cy="1188720"/>
          </a:xfrm>
          <a:prstGeom prst="rect">
            <a:avLst/>
          </a:prstGeom>
          <a:noFill/>
          <a:ln/>
        </p:spPr>
        <p:txBody>
          <a:bodyPr wrap="square" lIns="0" tIns="0" rIns="0" bIns="0" rtlCol="0" anchor="ctr"/>
          <a:lstStyle/>
          <a:p>
            <a:pPr marL="0" indent="0">
              <a:buNone/>
            </a:pPr>
            <a:r>
              <a:rPr lang="en-US" sz="1300" dirty="0">
                <a:solidFill>
                  <a:srgbClr val="C5D2EE"/>
                </a:solidFill>
                <a:latin typeface="Calibri" pitchFamily="34" charset="0"/>
                <a:ea typeface="Calibri" pitchFamily="34" charset="-122"/>
                <a:cs typeface="Calibri" pitchFamily="34" charset="-120"/>
              </a:rPr>
              <a:t>Rossmann operates 1,115 pharmacy stores. Currently, each store manager forecasts their own daily sales using personal judgement and years of experience. The finance team needs sales predictions across the entire chain six weeks in advance to plan staffing, inventory replenishment, and budget allocation. Manual forecasting cannot scale, varies wildly between managers, and misses critical patterns like promotional lift, holiday seasonality, and competitive effects.</a:t>
            </a:r>
            <a:endParaRPr lang="en-US" sz="1300" dirty="0"/>
          </a:p>
        </p:txBody>
      </p:sp>
      <p:sp>
        <p:nvSpPr>
          <p:cNvPr id="7" name="Shape 5"/>
          <p:cNvSpPr/>
          <p:nvPr/>
        </p:nvSpPr>
        <p:spPr>
          <a:xfrm>
            <a:off x="457200" y="3200400"/>
            <a:ext cx="5486400" cy="2926080"/>
          </a:xfrm>
          <a:prstGeom prst="roundRect">
            <a:avLst>
              <a:gd name="adj" fmla="val 2500"/>
            </a:avLst>
          </a:prstGeom>
          <a:solidFill>
            <a:srgbClr val="131826"/>
          </a:solidFill>
          <a:ln w="6350">
            <a:solidFill>
              <a:srgbClr val="1F2A3F"/>
            </a:solidFill>
            <a:prstDash val="solid"/>
          </a:ln>
        </p:spPr>
      </p:sp>
      <p:sp>
        <p:nvSpPr>
          <p:cNvPr id="8" name="Text 6"/>
          <p:cNvSpPr/>
          <p:nvPr/>
        </p:nvSpPr>
        <p:spPr>
          <a:xfrm>
            <a:off x="731520" y="3337560"/>
            <a:ext cx="4937760" cy="274320"/>
          </a:xfrm>
          <a:prstGeom prst="rect">
            <a:avLst/>
          </a:prstGeom>
          <a:noFill/>
          <a:ln/>
        </p:spPr>
        <p:txBody>
          <a:bodyPr wrap="square" rtlCol="0" anchor="ctr"/>
          <a:lstStyle/>
          <a:p>
            <a:pPr marL="0" indent="0">
              <a:buNone/>
            </a:pPr>
            <a:r>
              <a:rPr lang="en-US" sz="1100" b="1" kern="0" spc="200" dirty="0">
                <a:solidFill>
                  <a:srgbClr val="10B981"/>
                </a:solidFill>
                <a:latin typeface="Calibri" pitchFamily="34" charset="0"/>
                <a:ea typeface="Calibri" pitchFamily="34" charset="-122"/>
                <a:cs typeface="Calibri" pitchFamily="34" charset="-120"/>
              </a:rPr>
              <a:t>WHAT THE FINANCE TEAM NEEDS</a:t>
            </a:r>
            <a:endParaRPr lang="en-US" sz="1100" dirty="0"/>
          </a:p>
        </p:txBody>
      </p:sp>
      <p:sp>
        <p:nvSpPr>
          <p:cNvPr id="9" name="Text 7"/>
          <p:cNvSpPr/>
          <p:nvPr/>
        </p:nvSpPr>
        <p:spPr>
          <a:xfrm>
            <a:off x="822960" y="3657600"/>
            <a:ext cx="4846320" cy="2286000"/>
          </a:xfrm>
          <a:prstGeom prst="rect">
            <a:avLst/>
          </a:prstGeom>
          <a:noFill/>
          <a:ln/>
        </p:spPr>
        <p:txBody>
          <a:bodyPr wrap="square" rtlCol="0" anchor="ctr"/>
          <a:lstStyle/>
          <a:p>
            <a:pPr marL="342900" indent="-342900">
              <a:spcAft>
                <a:spcPts val="800"/>
              </a:spcAft>
              <a:buSzPct val="100000"/>
              <a:buChar char="•"/>
            </a:pPr>
            <a:r>
              <a:rPr lang="en-US" sz="1300" dirty="0">
                <a:solidFill>
                  <a:srgbClr val="E8EAF0"/>
                </a:solidFill>
                <a:latin typeface="Calibri" pitchFamily="34" charset="0"/>
                <a:ea typeface="Calibri" pitchFamily="34" charset="-122"/>
                <a:cs typeface="Calibri" pitchFamily="34" charset="-120"/>
              </a:rPr>
              <a:t>Automated daily sales forecasts for all 1,115 stores</a:t>
            </a:r>
            <a:endParaRPr lang="en-US" sz="1300" dirty="0"/>
          </a:p>
          <a:p>
            <a:pPr marL="342900" indent="-342900">
              <a:spcAft>
                <a:spcPts val="800"/>
              </a:spcAft>
              <a:buSzPct val="100000"/>
              <a:buChar char="•"/>
            </a:pPr>
            <a:r>
              <a:rPr lang="en-US" sz="1300" dirty="0">
                <a:solidFill>
                  <a:srgbClr val="E8EAF0"/>
                </a:solidFill>
                <a:latin typeface="Calibri" pitchFamily="34" charset="0"/>
                <a:ea typeface="Calibri" pitchFamily="34" charset="-122"/>
                <a:cs typeface="Calibri" pitchFamily="34" charset="-120"/>
              </a:rPr>
              <a:t>Six-week ahead prediction horizon (~42 days)</a:t>
            </a:r>
            <a:endParaRPr lang="en-US" sz="1300" dirty="0"/>
          </a:p>
          <a:p>
            <a:pPr marL="342900" indent="-342900">
              <a:spcAft>
                <a:spcPts val="800"/>
              </a:spcAft>
              <a:buSzPct val="100000"/>
              <a:buChar char="•"/>
            </a:pPr>
            <a:r>
              <a:rPr lang="en-US" sz="1300" dirty="0">
                <a:solidFill>
                  <a:srgbClr val="E8EAF0"/>
                </a:solidFill>
                <a:latin typeface="Calibri" pitchFamily="34" charset="0"/>
                <a:ea typeface="Calibri" pitchFamily="34" charset="-122"/>
                <a:cs typeface="Calibri" pitchFamily="34" charset="-120"/>
              </a:rPr>
              <a:t>Accurate enough to plan inventory and staffing</a:t>
            </a:r>
            <a:endParaRPr lang="en-US" sz="1300" dirty="0"/>
          </a:p>
          <a:p>
            <a:pPr marL="342900" indent="-342900">
              <a:spcAft>
                <a:spcPts val="800"/>
              </a:spcAft>
              <a:buSzPct val="100000"/>
              <a:buChar char="•"/>
            </a:pPr>
            <a:r>
              <a:rPr lang="en-US" sz="1300" dirty="0">
                <a:solidFill>
                  <a:srgbClr val="E8EAF0"/>
                </a:solidFill>
                <a:latin typeface="Calibri" pitchFamily="34" charset="0"/>
                <a:ea typeface="Calibri" pitchFamily="34" charset="-122"/>
                <a:cs typeface="Calibri" pitchFamily="34" charset="-120"/>
              </a:rPr>
              <a:t>Interpretable so managers can understand and trust it</a:t>
            </a:r>
            <a:endParaRPr lang="en-US" sz="1300" dirty="0"/>
          </a:p>
          <a:p>
            <a:pPr marL="342900" indent="-342900">
              <a:spcAft>
                <a:spcPts val="800"/>
              </a:spcAft>
              <a:buSzPct val="100000"/>
              <a:buChar char="•"/>
            </a:pPr>
            <a:r>
              <a:rPr lang="en-US" sz="1300" dirty="0">
                <a:solidFill>
                  <a:srgbClr val="E8EAF0"/>
                </a:solidFill>
                <a:latin typeface="Calibri" pitchFamily="34" charset="0"/>
                <a:ea typeface="Calibri" pitchFamily="34" charset="-122"/>
                <a:cs typeface="Calibri" pitchFamily="34" charset="-120"/>
              </a:rPr>
              <a:t>Updatable as new data arrives without manual rework</a:t>
            </a:r>
            <a:endParaRPr lang="en-US" sz="1300" dirty="0"/>
          </a:p>
        </p:txBody>
      </p:sp>
      <p:sp>
        <p:nvSpPr>
          <p:cNvPr id="10" name="Shape 8"/>
          <p:cNvSpPr/>
          <p:nvPr/>
        </p:nvSpPr>
        <p:spPr>
          <a:xfrm>
            <a:off x="6126480" y="3200400"/>
            <a:ext cx="5577840" cy="1417320"/>
          </a:xfrm>
          <a:prstGeom prst="roundRect">
            <a:avLst>
              <a:gd name="adj" fmla="val 5161"/>
            </a:avLst>
          </a:prstGeom>
          <a:solidFill>
            <a:srgbClr val="131826"/>
          </a:solidFill>
          <a:ln w="6350">
            <a:solidFill>
              <a:srgbClr val="1F2A3F"/>
            </a:solidFill>
            <a:prstDash val="solid"/>
          </a:ln>
        </p:spPr>
      </p:sp>
      <p:sp>
        <p:nvSpPr>
          <p:cNvPr id="11" name="Text 9"/>
          <p:cNvSpPr/>
          <p:nvPr/>
        </p:nvSpPr>
        <p:spPr>
          <a:xfrm>
            <a:off x="6355080" y="3383280"/>
            <a:ext cx="2286000" cy="274320"/>
          </a:xfrm>
          <a:prstGeom prst="rect">
            <a:avLst/>
          </a:prstGeom>
          <a:noFill/>
          <a:ln/>
        </p:spPr>
        <p:txBody>
          <a:bodyPr wrap="square" rtlCol="0" anchor="ctr"/>
          <a:lstStyle/>
          <a:p>
            <a:pPr marL="0" indent="0">
              <a:buNone/>
            </a:pPr>
            <a:r>
              <a:rPr lang="en-US" sz="1000" b="1" kern="0" spc="150" dirty="0">
                <a:solidFill>
                  <a:srgbClr val="9CA8C2"/>
                </a:solidFill>
                <a:latin typeface="Calibri" pitchFamily="34" charset="0"/>
                <a:ea typeface="Calibri" pitchFamily="34" charset="-122"/>
                <a:cs typeface="Calibri" pitchFamily="34" charset="-120"/>
              </a:rPr>
              <a:t>STORES</a:t>
            </a:r>
            <a:endParaRPr lang="en-US" sz="1000" dirty="0"/>
          </a:p>
        </p:txBody>
      </p:sp>
      <p:sp>
        <p:nvSpPr>
          <p:cNvPr id="12" name="Text 10"/>
          <p:cNvSpPr/>
          <p:nvPr/>
        </p:nvSpPr>
        <p:spPr>
          <a:xfrm>
            <a:off x="6355080" y="3703320"/>
            <a:ext cx="2286000" cy="640080"/>
          </a:xfrm>
          <a:prstGeom prst="rect">
            <a:avLst/>
          </a:prstGeom>
          <a:noFill/>
          <a:ln/>
        </p:spPr>
        <p:txBody>
          <a:bodyPr wrap="square" lIns="0" tIns="0" rIns="0" bIns="0" rtlCol="0" anchor="ctr"/>
          <a:lstStyle/>
          <a:p>
            <a:pPr marL="0" indent="0">
              <a:buNone/>
            </a:pPr>
            <a:r>
              <a:rPr lang="en-US" sz="3200" b="1" dirty="0">
                <a:solidFill>
                  <a:srgbClr val="3B82F6"/>
                </a:solidFill>
                <a:latin typeface="Calibri" pitchFamily="34" charset="0"/>
                <a:ea typeface="Calibri" pitchFamily="34" charset="-122"/>
                <a:cs typeface="Calibri" pitchFamily="34" charset="-120"/>
              </a:rPr>
              <a:t>1,115</a:t>
            </a:r>
            <a:endParaRPr lang="en-US" sz="3200" dirty="0"/>
          </a:p>
        </p:txBody>
      </p:sp>
      <p:sp>
        <p:nvSpPr>
          <p:cNvPr id="13" name="Text 11"/>
          <p:cNvSpPr/>
          <p:nvPr/>
        </p:nvSpPr>
        <p:spPr>
          <a:xfrm>
            <a:off x="8869680" y="3703320"/>
            <a:ext cx="2697480" cy="640080"/>
          </a:xfrm>
          <a:prstGeom prst="rect">
            <a:avLst/>
          </a:prstGeom>
          <a:noFill/>
          <a:ln/>
        </p:spPr>
        <p:txBody>
          <a:bodyPr wrap="square" rtlCol="0" anchor="ctr"/>
          <a:lstStyle/>
          <a:p>
            <a:pPr marL="0" indent="0">
              <a:buNone/>
            </a:pPr>
            <a:r>
              <a:rPr lang="en-US" sz="1200" dirty="0">
                <a:solidFill>
                  <a:srgbClr val="E8EAF0"/>
                </a:solidFill>
                <a:latin typeface="Calibri" pitchFamily="34" charset="0"/>
                <a:ea typeface="Calibri" pitchFamily="34" charset="-122"/>
                <a:cs typeface="Calibri" pitchFamily="34" charset="-120"/>
              </a:rPr>
              <a:t>pharmacies across Germany</a:t>
            </a:r>
            <a:endParaRPr lang="en-US" sz="1200" dirty="0"/>
          </a:p>
        </p:txBody>
      </p:sp>
      <p:sp>
        <p:nvSpPr>
          <p:cNvPr id="14" name="Shape 12"/>
          <p:cNvSpPr/>
          <p:nvPr/>
        </p:nvSpPr>
        <p:spPr>
          <a:xfrm>
            <a:off x="6126480" y="4754880"/>
            <a:ext cx="5577840" cy="1417320"/>
          </a:xfrm>
          <a:prstGeom prst="roundRect">
            <a:avLst>
              <a:gd name="adj" fmla="val 5161"/>
            </a:avLst>
          </a:prstGeom>
          <a:solidFill>
            <a:srgbClr val="131826"/>
          </a:solidFill>
          <a:ln w="6350">
            <a:solidFill>
              <a:srgbClr val="1F2A3F"/>
            </a:solidFill>
            <a:prstDash val="solid"/>
          </a:ln>
        </p:spPr>
      </p:sp>
      <p:sp>
        <p:nvSpPr>
          <p:cNvPr id="15" name="Text 13"/>
          <p:cNvSpPr/>
          <p:nvPr/>
        </p:nvSpPr>
        <p:spPr>
          <a:xfrm>
            <a:off x="6355080" y="4937760"/>
            <a:ext cx="2286000" cy="274320"/>
          </a:xfrm>
          <a:prstGeom prst="rect">
            <a:avLst/>
          </a:prstGeom>
          <a:noFill/>
          <a:ln/>
        </p:spPr>
        <p:txBody>
          <a:bodyPr wrap="square" rtlCol="0" anchor="ctr"/>
          <a:lstStyle/>
          <a:p>
            <a:pPr marL="0" indent="0">
              <a:buNone/>
            </a:pPr>
            <a:r>
              <a:rPr lang="en-US" sz="1000" b="1" kern="0" spc="150" dirty="0">
                <a:solidFill>
                  <a:srgbClr val="9CA8C2"/>
                </a:solidFill>
                <a:latin typeface="Calibri" pitchFamily="34" charset="0"/>
                <a:ea typeface="Calibri" pitchFamily="34" charset="-122"/>
                <a:cs typeface="Calibri" pitchFamily="34" charset="-120"/>
              </a:rPr>
              <a:t>TRAINING ROWS</a:t>
            </a:r>
            <a:endParaRPr lang="en-US" sz="1000" dirty="0"/>
          </a:p>
        </p:txBody>
      </p:sp>
      <p:sp>
        <p:nvSpPr>
          <p:cNvPr id="16" name="Text 14"/>
          <p:cNvSpPr/>
          <p:nvPr/>
        </p:nvSpPr>
        <p:spPr>
          <a:xfrm>
            <a:off x="6355080" y="5257800"/>
            <a:ext cx="2286000" cy="640080"/>
          </a:xfrm>
          <a:prstGeom prst="rect">
            <a:avLst/>
          </a:prstGeom>
          <a:noFill/>
          <a:ln/>
        </p:spPr>
        <p:txBody>
          <a:bodyPr wrap="square" lIns="0" tIns="0" rIns="0" bIns="0" rtlCol="0" anchor="ctr"/>
          <a:lstStyle/>
          <a:p>
            <a:pPr marL="0" indent="0">
              <a:buNone/>
            </a:pPr>
            <a:r>
              <a:rPr lang="en-US" sz="3200" b="1" dirty="0">
                <a:solidFill>
                  <a:srgbClr val="3B82F6"/>
                </a:solidFill>
                <a:latin typeface="Calibri" pitchFamily="34" charset="0"/>
                <a:ea typeface="Calibri" pitchFamily="34" charset="-122"/>
                <a:cs typeface="Calibri" pitchFamily="34" charset="-120"/>
              </a:rPr>
              <a:t>1.02M</a:t>
            </a:r>
            <a:endParaRPr lang="en-US" sz="3200" dirty="0"/>
          </a:p>
        </p:txBody>
      </p:sp>
      <p:sp>
        <p:nvSpPr>
          <p:cNvPr id="17" name="Text 15"/>
          <p:cNvSpPr/>
          <p:nvPr/>
        </p:nvSpPr>
        <p:spPr>
          <a:xfrm>
            <a:off x="8869680" y="5257800"/>
            <a:ext cx="2697480" cy="640080"/>
          </a:xfrm>
          <a:prstGeom prst="rect">
            <a:avLst/>
          </a:prstGeom>
          <a:noFill/>
          <a:ln/>
        </p:spPr>
        <p:txBody>
          <a:bodyPr wrap="square" rtlCol="0" anchor="ctr"/>
          <a:lstStyle/>
          <a:p>
            <a:pPr marL="0" indent="0">
              <a:buNone/>
            </a:pPr>
            <a:r>
              <a:rPr lang="en-US" sz="1200" dirty="0">
                <a:solidFill>
                  <a:srgbClr val="E8EAF0"/>
                </a:solidFill>
                <a:latin typeface="Calibri" pitchFamily="34" charset="0"/>
                <a:ea typeface="Calibri" pitchFamily="34" charset="-122"/>
                <a:cs typeface="Calibri" pitchFamily="34" charset="-120"/>
              </a:rPr>
              <a:t>Jan 2013 to Jul 2015</a:t>
            </a:r>
            <a:endParaRPr lang="en-US" sz="1200" dirty="0"/>
          </a:p>
        </p:txBody>
      </p:sp>
      <p:sp>
        <p:nvSpPr>
          <p:cNvPr id="18" name="Text 16"/>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19" name="Text 17"/>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Solution Architecture</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Eight stages that turn raw CSVs into deployed predictions</a:t>
            </a:r>
            <a:endParaRPr lang="en-US" sz="1300" dirty="0"/>
          </a:p>
        </p:txBody>
      </p:sp>
      <p:sp>
        <p:nvSpPr>
          <p:cNvPr id="4" name="Text 2"/>
          <p:cNvSpPr/>
          <p:nvPr/>
        </p:nvSpPr>
        <p:spPr>
          <a:xfrm>
            <a:off x="457200" y="1325880"/>
            <a:ext cx="11247120" cy="64008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This project is structured as a modular pipeline. Each stage has a single responsibility and lives in its own Python module under src/. Anyone can swap, retrain, or extend a stage without breaking the others. Here is the complete data flow:</a:t>
            </a:r>
            <a:endParaRPr lang="en-US" sz="1200" dirty="0"/>
          </a:p>
        </p:txBody>
      </p:sp>
      <p:sp>
        <p:nvSpPr>
          <p:cNvPr id="5" name="Shape 3"/>
          <p:cNvSpPr/>
          <p:nvPr/>
        </p:nvSpPr>
        <p:spPr>
          <a:xfrm>
            <a:off x="457200" y="2057400"/>
            <a:ext cx="2743200" cy="2011680"/>
          </a:xfrm>
          <a:prstGeom prst="roundRect">
            <a:avLst>
              <a:gd name="adj" fmla="val 3636"/>
            </a:avLst>
          </a:prstGeom>
          <a:solidFill>
            <a:srgbClr val="131826"/>
          </a:solidFill>
          <a:ln w="6350">
            <a:solidFill>
              <a:srgbClr val="1F2A3F"/>
            </a:solidFill>
            <a:prstDash val="solid"/>
          </a:ln>
        </p:spPr>
      </p:sp>
      <p:sp>
        <p:nvSpPr>
          <p:cNvPr id="6" name="Shape 4"/>
          <p:cNvSpPr/>
          <p:nvPr/>
        </p:nvSpPr>
        <p:spPr>
          <a:xfrm>
            <a:off x="640080" y="2240280"/>
            <a:ext cx="640080" cy="365760"/>
          </a:xfrm>
          <a:prstGeom prst="roundRect">
            <a:avLst>
              <a:gd name="adj" fmla="val 25000"/>
            </a:avLst>
          </a:prstGeom>
          <a:solidFill>
            <a:srgbClr val="3B82F6">
              <a:alpha val="25000"/>
            </a:srgbClr>
          </a:solidFill>
          <a:ln w="6350">
            <a:solidFill>
              <a:srgbClr val="3B82F6"/>
            </a:solidFill>
            <a:prstDash val="solid"/>
          </a:ln>
        </p:spPr>
      </p:sp>
      <p:sp>
        <p:nvSpPr>
          <p:cNvPr id="7" name="Text 5"/>
          <p:cNvSpPr/>
          <p:nvPr/>
        </p:nvSpPr>
        <p:spPr>
          <a:xfrm>
            <a:off x="640080" y="2240280"/>
            <a:ext cx="640080" cy="365760"/>
          </a:xfrm>
          <a:prstGeom prst="rect">
            <a:avLst/>
          </a:prstGeom>
          <a:noFill/>
          <a:ln/>
        </p:spPr>
        <p:txBody>
          <a:bodyPr wrap="square"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01</a:t>
            </a:r>
            <a:endParaRPr lang="en-US" sz="1300" dirty="0"/>
          </a:p>
        </p:txBody>
      </p:sp>
      <p:sp>
        <p:nvSpPr>
          <p:cNvPr id="8" name="Text 6"/>
          <p:cNvSpPr/>
          <p:nvPr/>
        </p:nvSpPr>
        <p:spPr>
          <a:xfrm>
            <a:off x="640080" y="2697480"/>
            <a:ext cx="2468880" cy="36576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Load &amp; Merge</a:t>
            </a:r>
            <a:endParaRPr lang="en-US" sz="1400" dirty="0"/>
          </a:p>
        </p:txBody>
      </p:sp>
      <p:sp>
        <p:nvSpPr>
          <p:cNvPr id="9" name="Text 7"/>
          <p:cNvSpPr/>
          <p:nvPr/>
        </p:nvSpPr>
        <p:spPr>
          <a:xfrm>
            <a:off x="640080" y="3108960"/>
            <a:ext cx="2468880" cy="91440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Read train.csv, store.csv, test.csv. Join on Store ID. Result: 1M rows × 18 columns.</a:t>
            </a:r>
            <a:endParaRPr lang="en-US" sz="1050" dirty="0"/>
          </a:p>
        </p:txBody>
      </p:sp>
      <p:sp>
        <p:nvSpPr>
          <p:cNvPr id="10" name="Shape 8"/>
          <p:cNvSpPr/>
          <p:nvPr/>
        </p:nvSpPr>
        <p:spPr>
          <a:xfrm>
            <a:off x="3337560" y="2057400"/>
            <a:ext cx="2743200" cy="2011680"/>
          </a:xfrm>
          <a:prstGeom prst="roundRect">
            <a:avLst>
              <a:gd name="adj" fmla="val 3636"/>
            </a:avLst>
          </a:prstGeom>
          <a:solidFill>
            <a:srgbClr val="131826"/>
          </a:solidFill>
          <a:ln w="6350">
            <a:solidFill>
              <a:srgbClr val="1F2A3F"/>
            </a:solidFill>
            <a:prstDash val="solid"/>
          </a:ln>
        </p:spPr>
      </p:sp>
      <p:sp>
        <p:nvSpPr>
          <p:cNvPr id="11" name="Shape 9"/>
          <p:cNvSpPr/>
          <p:nvPr/>
        </p:nvSpPr>
        <p:spPr>
          <a:xfrm>
            <a:off x="3520440" y="2240280"/>
            <a:ext cx="640080" cy="365760"/>
          </a:xfrm>
          <a:prstGeom prst="roundRect">
            <a:avLst>
              <a:gd name="adj" fmla="val 25000"/>
            </a:avLst>
          </a:prstGeom>
          <a:solidFill>
            <a:srgbClr val="3B82F6">
              <a:alpha val="25000"/>
            </a:srgbClr>
          </a:solidFill>
          <a:ln w="6350">
            <a:solidFill>
              <a:srgbClr val="3B82F6"/>
            </a:solidFill>
            <a:prstDash val="solid"/>
          </a:ln>
        </p:spPr>
      </p:sp>
      <p:sp>
        <p:nvSpPr>
          <p:cNvPr id="12" name="Text 10"/>
          <p:cNvSpPr/>
          <p:nvPr/>
        </p:nvSpPr>
        <p:spPr>
          <a:xfrm>
            <a:off x="3520440" y="2240280"/>
            <a:ext cx="640080" cy="365760"/>
          </a:xfrm>
          <a:prstGeom prst="rect">
            <a:avLst/>
          </a:prstGeom>
          <a:noFill/>
          <a:ln/>
        </p:spPr>
        <p:txBody>
          <a:bodyPr wrap="square"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3520440" y="2697480"/>
            <a:ext cx="2468880" cy="36576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Clean Data</a:t>
            </a:r>
            <a:endParaRPr lang="en-US" sz="1400" dirty="0"/>
          </a:p>
        </p:txBody>
      </p:sp>
      <p:sp>
        <p:nvSpPr>
          <p:cNvPr id="14" name="Text 12"/>
          <p:cNvSpPr/>
          <p:nvPr/>
        </p:nvSpPr>
        <p:spPr>
          <a:xfrm>
            <a:off x="3520440" y="3108960"/>
            <a:ext cx="2468880" cy="91440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Fill 6 columns of missing values. Median for distances, zero for unknown dates.</a:t>
            </a:r>
            <a:endParaRPr lang="en-US" sz="1050" dirty="0"/>
          </a:p>
        </p:txBody>
      </p:sp>
      <p:sp>
        <p:nvSpPr>
          <p:cNvPr id="15" name="Shape 13"/>
          <p:cNvSpPr/>
          <p:nvPr/>
        </p:nvSpPr>
        <p:spPr>
          <a:xfrm>
            <a:off x="6217920" y="2057400"/>
            <a:ext cx="2743200" cy="2011680"/>
          </a:xfrm>
          <a:prstGeom prst="roundRect">
            <a:avLst>
              <a:gd name="adj" fmla="val 3636"/>
            </a:avLst>
          </a:prstGeom>
          <a:solidFill>
            <a:srgbClr val="131826"/>
          </a:solidFill>
          <a:ln w="6350">
            <a:solidFill>
              <a:srgbClr val="1F2A3F"/>
            </a:solidFill>
            <a:prstDash val="solid"/>
          </a:ln>
        </p:spPr>
      </p:sp>
      <p:sp>
        <p:nvSpPr>
          <p:cNvPr id="16" name="Shape 14"/>
          <p:cNvSpPr/>
          <p:nvPr/>
        </p:nvSpPr>
        <p:spPr>
          <a:xfrm>
            <a:off x="6400800" y="2240280"/>
            <a:ext cx="640080" cy="365760"/>
          </a:xfrm>
          <a:prstGeom prst="roundRect">
            <a:avLst>
              <a:gd name="adj" fmla="val 25000"/>
            </a:avLst>
          </a:prstGeom>
          <a:solidFill>
            <a:srgbClr val="3B82F6">
              <a:alpha val="25000"/>
            </a:srgbClr>
          </a:solidFill>
          <a:ln w="6350">
            <a:solidFill>
              <a:srgbClr val="3B82F6"/>
            </a:solidFill>
            <a:prstDash val="solid"/>
          </a:ln>
        </p:spPr>
      </p:sp>
      <p:sp>
        <p:nvSpPr>
          <p:cNvPr id="17" name="Text 15"/>
          <p:cNvSpPr/>
          <p:nvPr/>
        </p:nvSpPr>
        <p:spPr>
          <a:xfrm>
            <a:off x="6400800" y="2240280"/>
            <a:ext cx="640080" cy="365760"/>
          </a:xfrm>
          <a:prstGeom prst="rect">
            <a:avLst/>
          </a:prstGeom>
          <a:noFill/>
          <a:ln/>
        </p:spPr>
        <p:txBody>
          <a:bodyPr wrap="square"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03</a:t>
            </a:r>
            <a:endParaRPr lang="en-US" sz="1300" dirty="0"/>
          </a:p>
        </p:txBody>
      </p:sp>
      <p:sp>
        <p:nvSpPr>
          <p:cNvPr id="18" name="Text 16"/>
          <p:cNvSpPr/>
          <p:nvPr/>
        </p:nvSpPr>
        <p:spPr>
          <a:xfrm>
            <a:off x="6400800" y="2697480"/>
            <a:ext cx="2468880" cy="36576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EDA Analysis</a:t>
            </a:r>
            <a:endParaRPr lang="en-US" sz="1400" dirty="0"/>
          </a:p>
        </p:txBody>
      </p:sp>
      <p:sp>
        <p:nvSpPr>
          <p:cNvPr id="19" name="Text 17"/>
          <p:cNvSpPr/>
          <p:nvPr/>
        </p:nvSpPr>
        <p:spPr>
          <a:xfrm>
            <a:off x="6400800" y="3108960"/>
            <a:ext cx="2468880" cy="91440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Generate 7 charts answering business questions. Save to outputs/plots/.</a:t>
            </a:r>
            <a:endParaRPr lang="en-US" sz="1050" dirty="0"/>
          </a:p>
        </p:txBody>
      </p:sp>
      <p:sp>
        <p:nvSpPr>
          <p:cNvPr id="20" name="Shape 18"/>
          <p:cNvSpPr/>
          <p:nvPr/>
        </p:nvSpPr>
        <p:spPr>
          <a:xfrm>
            <a:off x="9098280" y="2057400"/>
            <a:ext cx="2743200" cy="2011680"/>
          </a:xfrm>
          <a:prstGeom prst="roundRect">
            <a:avLst>
              <a:gd name="adj" fmla="val 3636"/>
            </a:avLst>
          </a:prstGeom>
          <a:solidFill>
            <a:srgbClr val="131826"/>
          </a:solidFill>
          <a:ln w="6350">
            <a:solidFill>
              <a:srgbClr val="1F2A3F"/>
            </a:solidFill>
            <a:prstDash val="solid"/>
          </a:ln>
        </p:spPr>
      </p:sp>
      <p:sp>
        <p:nvSpPr>
          <p:cNvPr id="21" name="Shape 19"/>
          <p:cNvSpPr/>
          <p:nvPr/>
        </p:nvSpPr>
        <p:spPr>
          <a:xfrm>
            <a:off x="9281160" y="2240280"/>
            <a:ext cx="640080" cy="365760"/>
          </a:xfrm>
          <a:prstGeom prst="roundRect">
            <a:avLst>
              <a:gd name="adj" fmla="val 25000"/>
            </a:avLst>
          </a:prstGeom>
          <a:solidFill>
            <a:srgbClr val="3B82F6">
              <a:alpha val="25000"/>
            </a:srgbClr>
          </a:solidFill>
          <a:ln w="6350">
            <a:solidFill>
              <a:srgbClr val="3B82F6"/>
            </a:solidFill>
            <a:prstDash val="solid"/>
          </a:ln>
        </p:spPr>
      </p:sp>
      <p:sp>
        <p:nvSpPr>
          <p:cNvPr id="22" name="Text 20"/>
          <p:cNvSpPr/>
          <p:nvPr/>
        </p:nvSpPr>
        <p:spPr>
          <a:xfrm>
            <a:off x="9281160" y="2240280"/>
            <a:ext cx="640080" cy="365760"/>
          </a:xfrm>
          <a:prstGeom prst="rect">
            <a:avLst/>
          </a:prstGeom>
          <a:noFill/>
          <a:ln/>
        </p:spPr>
        <p:txBody>
          <a:bodyPr wrap="square"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04</a:t>
            </a:r>
            <a:endParaRPr lang="en-US" sz="1300" dirty="0"/>
          </a:p>
        </p:txBody>
      </p:sp>
      <p:sp>
        <p:nvSpPr>
          <p:cNvPr id="23" name="Text 21"/>
          <p:cNvSpPr/>
          <p:nvPr/>
        </p:nvSpPr>
        <p:spPr>
          <a:xfrm>
            <a:off x="9281160" y="2697480"/>
            <a:ext cx="2468880" cy="36576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Feature Engineering</a:t>
            </a:r>
            <a:endParaRPr lang="en-US" sz="1400" dirty="0"/>
          </a:p>
        </p:txBody>
      </p:sp>
      <p:sp>
        <p:nvSpPr>
          <p:cNvPr id="24" name="Text 22"/>
          <p:cNvSpPr/>
          <p:nvPr/>
        </p:nvSpPr>
        <p:spPr>
          <a:xfrm>
            <a:off x="9281160" y="3108960"/>
            <a:ext cx="2468880" cy="91440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Create 17 numeric features from raw data. Custom sklearn transformer.</a:t>
            </a:r>
            <a:endParaRPr lang="en-US" sz="1050" dirty="0"/>
          </a:p>
        </p:txBody>
      </p:sp>
      <p:sp>
        <p:nvSpPr>
          <p:cNvPr id="25" name="Shape 23"/>
          <p:cNvSpPr/>
          <p:nvPr/>
        </p:nvSpPr>
        <p:spPr>
          <a:xfrm>
            <a:off x="457200" y="4251960"/>
            <a:ext cx="2743200" cy="2011680"/>
          </a:xfrm>
          <a:prstGeom prst="roundRect">
            <a:avLst>
              <a:gd name="adj" fmla="val 3636"/>
            </a:avLst>
          </a:prstGeom>
          <a:solidFill>
            <a:srgbClr val="131826"/>
          </a:solidFill>
          <a:ln w="6350">
            <a:solidFill>
              <a:srgbClr val="1F2A3F"/>
            </a:solidFill>
            <a:prstDash val="solid"/>
          </a:ln>
        </p:spPr>
      </p:sp>
      <p:sp>
        <p:nvSpPr>
          <p:cNvPr id="26" name="Shape 24"/>
          <p:cNvSpPr/>
          <p:nvPr/>
        </p:nvSpPr>
        <p:spPr>
          <a:xfrm>
            <a:off x="640080" y="4434840"/>
            <a:ext cx="640080" cy="365760"/>
          </a:xfrm>
          <a:prstGeom prst="roundRect">
            <a:avLst>
              <a:gd name="adj" fmla="val 25000"/>
            </a:avLst>
          </a:prstGeom>
          <a:solidFill>
            <a:srgbClr val="3B82F6">
              <a:alpha val="25000"/>
            </a:srgbClr>
          </a:solidFill>
          <a:ln w="6350">
            <a:solidFill>
              <a:srgbClr val="3B82F6"/>
            </a:solidFill>
            <a:prstDash val="solid"/>
          </a:ln>
        </p:spPr>
      </p:sp>
      <p:sp>
        <p:nvSpPr>
          <p:cNvPr id="27" name="Text 25"/>
          <p:cNvSpPr/>
          <p:nvPr/>
        </p:nvSpPr>
        <p:spPr>
          <a:xfrm>
            <a:off x="640080" y="4434840"/>
            <a:ext cx="640080" cy="365760"/>
          </a:xfrm>
          <a:prstGeom prst="rect">
            <a:avLst/>
          </a:prstGeom>
          <a:noFill/>
          <a:ln/>
        </p:spPr>
        <p:txBody>
          <a:bodyPr wrap="square"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05</a:t>
            </a:r>
            <a:endParaRPr lang="en-US" sz="1300" dirty="0"/>
          </a:p>
        </p:txBody>
      </p:sp>
      <p:sp>
        <p:nvSpPr>
          <p:cNvPr id="28" name="Text 26"/>
          <p:cNvSpPr/>
          <p:nvPr/>
        </p:nvSpPr>
        <p:spPr>
          <a:xfrm>
            <a:off x="640080" y="4892040"/>
            <a:ext cx="2468880" cy="36576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sklearn Pipeline</a:t>
            </a:r>
            <a:endParaRPr lang="en-US" sz="1400" dirty="0"/>
          </a:p>
        </p:txBody>
      </p:sp>
      <p:sp>
        <p:nvSpPr>
          <p:cNvPr id="29" name="Text 27"/>
          <p:cNvSpPr/>
          <p:nvPr/>
        </p:nvSpPr>
        <p:spPr>
          <a:xfrm>
            <a:off x="640080" y="5303520"/>
            <a:ext cx="2468880" cy="91440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Chain: FeatureEngineer → SimpleImputer → StandardScaler → Model. No leakage.</a:t>
            </a:r>
            <a:endParaRPr lang="en-US" sz="1050" dirty="0"/>
          </a:p>
        </p:txBody>
      </p:sp>
      <p:sp>
        <p:nvSpPr>
          <p:cNvPr id="30" name="Shape 28"/>
          <p:cNvSpPr/>
          <p:nvPr/>
        </p:nvSpPr>
        <p:spPr>
          <a:xfrm>
            <a:off x="3337560" y="4251960"/>
            <a:ext cx="2743200" cy="2011680"/>
          </a:xfrm>
          <a:prstGeom prst="roundRect">
            <a:avLst>
              <a:gd name="adj" fmla="val 3636"/>
            </a:avLst>
          </a:prstGeom>
          <a:solidFill>
            <a:srgbClr val="131826"/>
          </a:solidFill>
          <a:ln w="6350">
            <a:solidFill>
              <a:srgbClr val="1F2A3F"/>
            </a:solidFill>
            <a:prstDash val="solid"/>
          </a:ln>
        </p:spPr>
      </p:sp>
      <p:sp>
        <p:nvSpPr>
          <p:cNvPr id="31" name="Shape 29"/>
          <p:cNvSpPr/>
          <p:nvPr/>
        </p:nvSpPr>
        <p:spPr>
          <a:xfrm>
            <a:off x="3520440" y="4434840"/>
            <a:ext cx="640080" cy="365760"/>
          </a:xfrm>
          <a:prstGeom prst="roundRect">
            <a:avLst>
              <a:gd name="adj" fmla="val 25000"/>
            </a:avLst>
          </a:prstGeom>
          <a:solidFill>
            <a:srgbClr val="3B82F6">
              <a:alpha val="25000"/>
            </a:srgbClr>
          </a:solidFill>
          <a:ln w="6350">
            <a:solidFill>
              <a:srgbClr val="3B82F6"/>
            </a:solidFill>
            <a:prstDash val="solid"/>
          </a:ln>
        </p:spPr>
      </p:sp>
      <p:sp>
        <p:nvSpPr>
          <p:cNvPr id="32" name="Text 30"/>
          <p:cNvSpPr/>
          <p:nvPr/>
        </p:nvSpPr>
        <p:spPr>
          <a:xfrm>
            <a:off x="3520440" y="4434840"/>
            <a:ext cx="640080" cy="365760"/>
          </a:xfrm>
          <a:prstGeom prst="rect">
            <a:avLst/>
          </a:prstGeom>
          <a:noFill/>
          <a:ln/>
        </p:spPr>
        <p:txBody>
          <a:bodyPr wrap="square"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06</a:t>
            </a:r>
            <a:endParaRPr lang="en-US" sz="1300" dirty="0"/>
          </a:p>
        </p:txBody>
      </p:sp>
      <p:sp>
        <p:nvSpPr>
          <p:cNvPr id="33" name="Text 31"/>
          <p:cNvSpPr/>
          <p:nvPr/>
        </p:nvSpPr>
        <p:spPr>
          <a:xfrm>
            <a:off x="3520440" y="4892040"/>
            <a:ext cx="2468880" cy="36576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Train &amp; Compare</a:t>
            </a:r>
            <a:endParaRPr lang="en-US" sz="1400" dirty="0"/>
          </a:p>
        </p:txBody>
      </p:sp>
      <p:sp>
        <p:nvSpPr>
          <p:cNvPr id="34" name="Text 32"/>
          <p:cNvSpPr/>
          <p:nvPr/>
        </p:nvSpPr>
        <p:spPr>
          <a:xfrm>
            <a:off x="3520440" y="5303520"/>
            <a:ext cx="2468880" cy="91440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Fit Random Forest and Gradient Boosting. Compare on validation RMSPE.</a:t>
            </a:r>
            <a:endParaRPr lang="en-US" sz="1050" dirty="0"/>
          </a:p>
        </p:txBody>
      </p:sp>
      <p:sp>
        <p:nvSpPr>
          <p:cNvPr id="35" name="Shape 33"/>
          <p:cNvSpPr/>
          <p:nvPr/>
        </p:nvSpPr>
        <p:spPr>
          <a:xfrm>
            <a:off x="6217920" y="4251960"/>
            <a:ext cx="2743200" cy="2011680"/>
          </a:xfrm>
          <a:prstGeom prst="roundRect">
            <a:avLst>
              <a:gd name="adj" fmla="val 3636"/>
            </a:avLst>
          </a:prstGeom>
          <a:solidFill>
            <a:srgbClr val="131826"/>
          </a:solidFill>
          <a:ln w="6350">
            <a:solidFill>
              <a:srgbClr val="1F2A3F"/>
            </a:solidFill>
            <a:prstDash val="solid"/>
          </a:ln>
        </p:spPr>
      </p:sp>
      <p:sp>
        <p:nvSpPr>
          <p:cNvPr id="36" name="Shape 34"/>
          <p:cNvSpPr/>
          <p:nvPr/>
        </p:nvSpPr>
        <p:spPr>
          <a:xfrm>
            <a:off x="6400800" y="4434840"/>
            <a:ext cx="640080" cy="365760"/>
          </a:xfrm>
          <a:prstGeom prst="roundRect">
            <a:avLst>
              <a:gd name="adj" fmla="val 25000"/>
            </a:avLst>
          </a:prstGeom>
          <a:solidFill>
            <a:srgbClr val="3B82F6">
              <a:alpha val="25000"/>
            </a:srgbClr>
          </a:solidFill>
          <a:ln w="6350">
            <a:solidFill>
              <a:srgbClr val="3B82F6"/>
            </a:solidFill>
            <a:prstDash val="solid"/>
          </a:ln>
        </p:spPr>
      </p:sp>
      <p:sp>
        <p:nvSpPr>
          <p:cNvPr id="37" name="Text 35"/>
          <p:cNvSpPr/>
          <p:nvPr/>
        </p:nvSpPr>
        <p:spPr>
          <a:xfrm>
            <a:off x="6400800" y="4434840"/>
            <a:ext cx="640080" cy="365760"/>
          </a:xfrm>
          <a:prstGeom prst="rect">
            <a:avLst/>
          </a:prstGeom>
          <a:noFill/>
          <a:ln/>
        </p:spPr>
        <p:txBody>
          <a:bodyPr wrap="square"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07</a:t>
            </a:r>
            <a:endParaRPr lang="en-US" sz="1300" dirty="0"/>
          </a:p>
        </p:txBody>
      </p:sp>
      <p:sp>
        <p:nvSpPr>
          <p:cNvPr id="38" name="Text 36"/>
          <p:cNvSpPr/>
          <p:nvPr/>
        </p:nvSpPr>
        <p:spPr>
          <a:xfrm>
            <a:off x="6400800" y="4892040"/>
            <a:ext cx="2468880" cy="36576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LSTM Network</a:t>
            </a:r>
            <a:endParaRPr lang="en-US" sz="1400" dirty="0"/>
          </a:p>
        </p:txBody>
      </p:sp>
      <p:sp>
        <p:nvSpPr>
          <p:cNvPr id="39" name="Text 37"/>
          <p:cNvSpPr/>
          <p:nvPr/>
        </p:nvSpPr>
        <p:spPr>
          <a:xfrm>
            <a:off x="6400800" y="5303520"/>
            <a:ext cx="2468880" cy="91440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Train a 2-layer recurrent network on Store 1's time series.</a:t>
            </a:r>
            <a:endParaRPr lang="en-US" sz="1050" dirty="0"/>
          </a:p>
        </p:txBody>
      </p:sp>
      <p:sp>
        <p:nvSpPr>
          <p:cNvPr id="40" name="Shape 38"/>
          <p:cNvSpPr/>
          <p:nvPr/>
        </p:nvSpPr>
        <p:spPr>
          <a:xfrm>
            <a:off x="9098280" y="4251960"/>
            <a:ext cx="2743200" cy="2011680"/>
          </a:xfrm>
          <a:prstGeom prst="roundRect">
            <a:avLst>
              <a:gd name="adj" fmla="val 3636"/>
            </a:avLst>
          </a:prstGeom>
          <a:solidFill>
            <a:srgbClr val="131826"/>
          </a:solidFill>
          <a:ln w="6350">
            <a:solidFill>
              <a:srgbClr val="1F2A3F"/>
            </a:solidFill>
            <a:prstDash val="solid"/>
          </a:ln>
        </p:spPr>
      </p:sp>
      <p:sp>
        <p:nvSpPr>
          <p:cNvPr id="41" name="Shape 39"/>
          <p:cNvSpPr/>
          <p:nvPr/>
        </p:nvSpPr>
        <p:spPr>
          <a:xfrm>
            <a:off x="9281160" y="4434840"/>
            <a:ext cx="640080" cy="365760"/>
          </a:xfrm>
          <a:prstGeom prst="roundRect">
            <a:avLst>
              <a:gd name="adj" fmla="val 25000"/>
            </a:avLst>
          </a:prstGeom>
          <a:solidFill>
            <a:srgbClr val="3B82F6">
              <a:alpha val="25000"/>
            </a:srgbClr>
          </a:solidFill>
          <a:ln w="6350">
            <a:solidFill>
              <a:srgbClr val="3B82F6"/>
            </a:solidFill>
            <a:prstDash val="solid"/>
          </a:ln>
        </p:spPr>
      </p:sp>
      <p:sp>
        <p:nvSpPr>
          <p:cNvPr id="42" name="Text 40"/>
          <p:cNvSpPr/>
          <p:nvPr/>
        </p:nvSpPr>
        <p:spPr>
          <a:xfrm>
            <a:off x="9281160" y="4434840"/>
            <a:ext cx="640080" cy="365760"/>
          </a:xfrm>
          <a:prstGeom prst="rect">
            <a:avLst/>
          </a:prstGeom>
          <a:noFill/>
          <a:ln/>
        </p:spPr>
        <p:txBody>
          <a:bodyPr wrap="square"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08</a:t>
            </a:r>
            <a:endParaRPr lang="en-US" sz="1300" dirty="0"/>
          </a:p>
        </p:txBody>
      </p:sp>
      <p:sp>
        <p:nvSpPr>
          <p:cNvPr id="43" name="Text 41"/>
          <p:cNvSpPr/>
          <p:nvPr/>
        </p:nvSpPr>
        <p:spPr>
          <a:xfrm>
            <a:off x="9281160" y="4892040"/>
            <a:ext cx="2468880" cy="36576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Deploy</a:t>
            </a:r>
            <a:endParaRPr lang="en-US" sz="1400" dirty="0"/>
          </a:p>
        </p:txBody>
      </p:sp>
      <p:sp>
        <p:nvSpPr>
          <p:cNvPr id="44" name="Text 42"/>
          <p:cNvSpPr/>
          <p:nvPr/>
        </p:nvSpPr>
        <p:spPr>
          <a:xfrm>
            <a:off x="9281160" y="5303520"/>
            <a:ext cx="2468880" cy="91440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Serve through Streamlit dashboard. Track runs in MLflow. Push to Heroku.</a:t>
            </a:r>
            <a:endParaRPr lang="en-US" sz="1050" dirty="0"/>
          </a:p>
        </p:txBody>
      </p:sp>
      <p:sp>
        <p:nvSpPr>
          <p:cNvPr id="45" name="Text 43"/>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46" name="Text 44"/>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Data Loading &amp; Cleaning</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Stage 1 and 2 — preparing 1 million rows for analysis</a:t>
            </a:r>
            <a:endParaRPr lang="en-US" sz="1300" dirty="0"/>
          </a:p>
        </p:txBody>
      </p:sp>
      <p:sp>
        <p:nvSpPr>
          <p:cNvPr id="4" name="Text 2"/>
          <p:cNvSpPr/>
          <p:nvPr/>
        </p:nvSpPr>
        <p:spPr>
          <a:xfrm>
            <a:off x="457200" y="1325880"/>
            <a:ext cx="11247120" cy="77724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The dataset arrives in three CSV files. train.csv contains historical daily sales per store. store.csv has store-level attributes like type and competition. test.csv lists future dates needing predictions. The first job is to merge them so every row knows its full context, then handle missing values without distorting the data.</a:t>
            </a:r>
            <a:endParaRPr lang="en-US" sz="1200" dirty="0"/>
          </a:p>
        </p:txBody>
      </p:sp>
      <p:sp>
        <p:nvSpPr>
          <p:cNvPr id="5" name="Shape 3"/>
          <p:cNvSpPr/>
          <p:nvPr/>
        </p:nvSpPr>
        <p:spPr>
          <a:xfrm>
            <a:off x="457200" y="2194560"/>
            <a:ext cx="3703320" cy="1645920"/>
          </a:xfrm>
          <a:prstGeom prst="roundRect">
            <a:avLst>
              <a:gd name="adj" fmla="val 4444"/>
            </a:avLst>
          </a:prstGeom>
          <a:solidFill>
            <a:srgbClr val="131826"/>
          </a:solidFill>
          <a:ln w="6350">
            <a:solidFill>
              <a:srgbClr val="1F2A3F"/>
            </a:solidFill>
            <a:prstDash val="solid"/>
          </a:ln>
        </p:spPr>
      </p:sp>
      <p:sp>
        <p:nvSpPr>
          <p:cNvPr id="6" name="Text 4"/>
          <p:cNvSpPr/>
          <p:nvPr/>
        </p:nvSpPr>
        <p:spPr>
          <a:xfrm>
            <a:off x="685800" y="2331720"/>
            <a:ext cx="3337560" cy="36576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train.csv</a:t>
            </a:r>
            <a:endParaRPr lang="en-US" sz="1600" dirty="0"/>
          </a:p>
        </p:txBody>
      </p:sp>
      <p:sp>
        <p:nvSpPr>
          <p:cNvPr id="7" name="Text 5"/>
          <p:cNvSpPr/>
          <p:nvPr/>
        </p:nvSpPr>
        <p:spPr>
          <a:xfrm>
            <a:off x="685800" y="2697480"/>
            <a:ext cx="3337560" cy="365760"/>
          </a:xfrm>
          <a:prstGeom prst="rect">
            <a:avLst/>
          </a:prstGeom>
          <a:noFill/>
          <a:ln/>
        </p:spPr>
        <p:txBody>
          <a:bodyPr wrap="square" lIns="0" tIns="0" rIns="0" bIns="0" rtlCol="0" anchor="ctr"/>
          <a:lstStyle/>
          <a:p>
            <a:pPr marL="0" indent="0">
              <a:buNone/>
            </a:pPr>
            <a:r>
              <a:rPr lang="en-US" sz="2000" b="1" dirty="0">
                <a:solidFill>
                  <a:srgbClr val="E8EAF0"/>
                </a:solidFill>
                <a:latin typeface="Calibri" pitchFamily="34" charset="0"/>
                <a:ea typeface="Calibri" pitchFamily="34" charset="-122"/>
                <a:cs typeface="Calibri" pitchFamily="34" charset="-120"/>
              </a:rPr>
              <a:t>1,017,209</a:t>
            </a:r>
            <a:r>
              <a:rPr lang="en-US" sz="1200" dirty="0">
                <a:solidFill>
                  <a:srgbClr val="9CA8C2"/>
                </a:solidFill>
                <a:latin typeface="Calibri" pitchFamily="34" charset="0"/>
                <a:ea typeface="Calibri" pitchFamily="34" charset="-122"/>
                <a:cs typeface="Calibri" pitchFamily="34" charset="-120"/>
              </a:rPr>
              <a:t> rows · </a:t>
            </a:r>
            <a:r>
              <a:rPr lang="en-US" sz="1400" b="1" dirty="0">
                <a:solidFill>
                  <a:srgbClr val="E8EAF0"/>
                </a:solidFill>
                <a:latin typeface="Calibri" pitchFamily="34" charset="0"/>
                <a:ea typeface="Calibri" pitchFamily="34" charset="-122"/>
                <a:cs typeface="Calibri" pitchFamily="34" charset="-120"/>
              </a:rPr>
              <a:t>9</a:t>
            </a:r>
            <a:r>
              <a:rPr lang="en-US" sz="1200" dirty="0">
                <a:solidFill>
                  <a:srgbClr val="9CA8C2"/>
                </a:solidFill>
                <a:latin typeface="Calibri" pitchFamily="34" charset="0"/>
                <a:ea typeface="Calibri" pitchFamily="34" charset="-122"/>
                <a:cs typeface="Calibri" pitchFamily="34" charset="-120"/>
              </a:rPr>
              <a:t> cols</a:t>
            </a:r>
            <a:endParaRPr lang="en-US" sz="2000" dirty="0"/>
          </a:p>
        </p:txBody>
      </p:sp>
      <p:sp>
        <p:nvSpPr>
          <p:cNvPr id="8" name="Text 6"/>
          <p:cNvSpPr/>
          <p:nvPr/>
        </p:nvSpPr>
        <p:spPr>
          <a:xfrm>
            <a:off x="685800" y="3108960"/>
            <a:ext cx="3337560" cy="640080"/>
          </a:xfrm>
          <a:prstGeom prst="rect">
            <a:avLst/>
          </a:prstGeom>
          <a:noFill/>
          <a:ln/>
        </p:spPr>
        <p:txBody>
          <a:bodyPr wrap="square" lIns="0" tIns="0" rIns="0" bIns="0" rtlCol="0" anchor="ctr"/>
          <a:lstStyle/>
          <a:p>
            <a:pPr marL="0" indent="0">
              <a:buNone/>
            </a:pPr>
            <a:r>
              <a:rPr lang="en-US" sz="1100" dirty="0">
                <a:solidFill>
                  <a:srgbClr val="9CA8C2"/>
                </a:solidFill>
                <a:latin typeface="Calibri" pitchFamily="34" charset="0"/>
                <a:ea typeface="Calibri" pitchFamily="34" charset="-122"/>
                <a:cs typeface="Calibri" pitchFamily="34" charset="-120"/>
              </a:rPr>
              <a:t>Daily sales records with Customer count, Promo flag, holidays</a:t>
            </a:r>
            <a:endParaRPr lang="en-US" sz="1100" dirty="0"/>
          </a:p>
        </p:txBody>
      </p:sp>
      <p:sp>
        <p:nvSpPr>
          <p:cNvPr id="9" name="Shape 7"/>
          <p:cNvSpPr/>
          <p:nvPr/>
        </p:nvSpPr>
        <p:spPr>
          <a:xfrm>
            <a:off x="4297680" y="2194560"/>
            <a:ext cx="3703320" cy="1645920"/>
          </a:xfrm>
          <a:prstGeom prst="roundRect">
            <a:avLst>
              <a:gd name="adj" fmla="val 4444"/>
            </a:avLst>
          </a:prstGeom>
          <a:solidFill>
            <a:srgbClr val="131826"/>
          </a:solidFill>
          <a:ln w="6350">
            <a:solidFill>
              <a:srgbClr val="1F2A3F"/>
            </a:solidFill>
            <a:prstDash val="solid"/>
          </a:ln>
        </p:spPr>
      </p:sp>
      <p:sp>
        <p:nvSpPr>
          <p:cNvPr id="10" name="Text 8"/>
          <p:cNvSpPr/>
          <p:nvPr/>
        </p:nvSpPr>
        <p:spPr>
          <a:xfrm>
            <a:off x="4526280" y="2331720"/>
            <a:ext cx="3337560" cy="36576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store.csv</a:t>
            </a:r>
            <a:endParaRPr lang="en-US" sz="1600" dirty="0"/>
          </a:p>
        </p:txBody>
      </p:sp>
      <p:sp>
        <p:nvSpPr>
          <p:cNvPr id="11" name="Text 9"/>
          <p:cNvSpPr/>
          <p:nvPr/>
        </p:nvSpPr>
        <p:spPr>
          <a:xfrm>
            <a:off x="4526280" y="2697480"/>
            <a:ext cx="3337560" cy="365760"/>
          </a:xfrm>
          <a:prstGeom prst="rect">
            <a:avLst/>
          </a:prstGeom>
          <a:noFill/>
          <a:ln/>
        </p:spPr>
        <p:txBody>
          <a:bodyPr wrap="square" lIns="0" tIns="0" rIns="0" bIns="0" rtlCol="0" anchor="ctr"/>
          <a:lstStyle/>
          <a:p>
            <a:pPr marL="0" indent="0">
              <a:buNone/>
            </a:pPr>
            <a:r>
              <a:rPr lang="en-US" sz="2000" b="1" dirty="0">
                <a:solidFill>
                  <a:srgbClr val="E8EAF0"/>
                </a:solidFill>
                <a:latin typeface="Calibri" pitchFamily="34" charset="0"/>
                <a:ea typeface="Calibri" pitchFamily="34" charset="-122"/>
                <a:cs typeface="Calibri" pitchFamily="34" charset="-120"/>
              </a:rPr>
              <a:t>1,115</a:t>
            </a:r>
            <a:r>
              <a:rPr lang="en-US" sz="1200" dirty="0">
                <a:solidFill>
                  <a:srgbClr val="9CA8C2"/>
                </a:solidFill>
                <a:latin typeface="Calibri" pitchFamily="34" charset="0"/>
                <a:ea typeface="Calibri" pitchFamily="34" charset="-122"/>
                <a:cs typeface="Calibri" pitchFamily="34" charset="-120"/>
              </a:rPr>
              <a:t> rows · </a:t>
            </a:r>
            <a:r>
              <a:rPr lang="en-US" sz="1400" b="1" dirty="0">
                <a:solidFill>
                  <a:srgbClr val="E8EAF0"/>
                </a:solidFill>
                <a:latin typeface="Calibri" pitchFamily="34" charset="0"/>
                <a:ea typeface="Calibri" pitchFamily="34" charset="-122"/>
                <a:cs typeface="Calibri" pitchFamily="34" charset="-120"/>
              </a:rPr>
              <a:t>10</a:t>
            </a:r>
            <a:r>
              <a:rPr lang="en-US" sz="1200" dirty="0">
                <a:solidFill>
                  <a:srgbClr val="9CA8C2"/>
                </a:solidFill>
                <a:latin typeface="Calibri" pitchFamily="34" charset="0"/>
                <a:ea typeface="Calibri" pitchFamily="34" charset="-122"/>
                <a:cs typeface="Calibri" pitchFamily="34" charset="-120"/>
              </a:rPr>
              <a:t> cols</a:t>
            </a:r>
            <a:endParaRPr lang="en-US" sz="2000" dirty="0"/>
          </a:p>
        </p:txBody>
      </p:sp>
      <p:sp>
        <p:nvSpPr>
          <p:cNvPr id="12" name="Text 10"/>
          <p:cNvSpPr/>
          <p:nvPr/>
        </p:nvSpPr>
        <p:spPr>
          <a:xfrm>
            <a:off x="4526280" y="3108960"/>
            <a:ext cx="3337560" cy="640080"/>
          </a:xfrm>
          <a:prstGeom prst="rect">
            <a:avLst/>
          </a:prstGeom>
          <a:noFill/>
          <a:ln/>
        </p:spPr>
        <p:txBody>
          <a:bodyPr wrap="square" lIns="0" tIns="0" rIns="0" bIns="0" rtlCol="0" anchor="ctr"/>
          <a:lstStyle/>
          <a:p>
            <a:pPr marL="0" indent="0">
              <a:buNone/>
            </a:pPr>
            <a:r>
              <a:rPr lang="en-US" sz="1100" dirty="0">
                <a:solidFill>
                  <a:srgbClr val="9CA8C2"/>
                </a:solidFill>
                <a:latin typeface="Calibri" pitchFamily="34" charset="0"/>
                <a:ea typeface="Calibri" pitchFamily="34" charset="-122"/>
                <a:cs typeface="Calibri" pitchFamily="34" charset="-120"/>
              </a:rPr>
              <a:t>Store-level attributes: StoreType, Assortment, Competition info</a:t>
            </a:r>
            <a:endParaRPr lang="en-US" sz="1100" dirty="0"/>
          </a:p>
        </p:txBody>
      </p:sp>
      <p:sp>
        <p:nvSpPr>
          <p:cNvPr id="13" name="Shape 11"/>
          <p:cNvSpPr/>
          <p:nvPr/>
        </p:nvSpPr>
        <p:spPr>
          <a:xfrm>
            <a:off x="8138160" y="2194560"/>
            <a:ext cx="3703320" cy="1645920"/>
          </a:xfrm>
          <a:prstGeom prst="roundRect">
            <a:avLst>
              <a:gd name="adj" fmla="val 4444"/>
            </a:avLst>
          </a:prstGeom>
          <a:solidFill>
            <a:srgbClr val="131826"/>
          </a:solidFill>
          <a:ln w="6350">
            <a:solidFill>
              <a:srgbClr val="1F2A3F"/>
            </a:solidFill>
            <a:prstDash val="solid"/>
          </a:ln>
        </p:spPr>
      </p:sp>
      <p:sp>
        <p:nvSpPr>
          <p:cNvPr id="14" name="Text 12"/>
          <p:cNvSpPr/>
          <p:nvPr/>
        </p:nvSpPr>
        <p:spPr>
          <a:xfrm>
            <a:off x="8366760" y="2331720"/>
            <a:ext cx="3337560" cy="365760"/>
          </a:xfrm>
          <a:prstGeom prst="rect">
            <a:avLst/>
          </a:prstGeom>
          <a:noFill/>
          <a:ln/>
        </p:spPr>
        <p:txBody>
          <a:bodyPr wrap="square" lIns="0" tIns="0" rIns="0" bIns="0" rtlCol="0" anchor="ctr"/>
          <a:lstStyle/>
          <a:p>
            <a:pPr marL="0" indent="0">
              <a:buNone/>
            </a:pPr>
            <a:r>
              <a:rPr lang="en-US" sz="1600" b="1" dirty="0">
                <a:solidFill>
                  <a:srgbClr val="3B82F6"/>
                </a:solidFill>
                <a:latin typeface="Calibri" pitchFamily="34" charset="0"/>
                <a:ea typeface="Calibri" pitchFamily="34" charset="-122"/>
                <a:cs typeface="Calibri" pitchFamily="34" charset="-120"/>
              </a:rPr>
              <a:t>test.csv</a:t>
            </a:r>
            <a:endParaRPr lang="en-US" sz="1600" dirty="0"/>
          </a:p>
        </p:txBody>
      </p:sp>
      <p:sp>
        <p:nvSpPr>
          <p:cNvPr id="15" name="Text 13"/>
          <p:cNvSpPr/>
          <p:nvPr/>
        </p:nvSpPr>
        <p:spPr>
          <a:xfrm>
            <a:off x="8366760" y="2697480"/>
            <a:ext cx="3337560" cy="365760"/>
          </a:xfrm>
          <a:prstGeom prst="rect">
            <a:avLst/>
          </a:prstGeom>
          <a:noFill/>
          <a:ln/>
        </p:spPr>
        <p:txBody>
          <a:bodyPr wrap="square" lIns="0" tIns="0" rIns="0" bIns="0" rtlCol="0" anchor="ctr"/>
          <a:lstStyle/>
          <a:p>
            <a:pPr marL="0" indent="0">
              <a:buNone/>
            </a:pPr>
            <a:r>
              <a:rPr lang="en-US" sz="2000" b="1" dirty="0">
                <a:solidFill>
                  <a:srgbClr val="E8EAF0"/>
                </a:solidFill>
                <a:latin typeface="Calibri" pitchFamily="34" charset="0"/>
                <a:ea typeface="Calibri" pitchFamily="34" charset="-122"/>
                <a:cs typeface="Calibri" pitchFamily="34" charset="-120"/>
              </a:rPr>
              <a:t>41,088</a:t>
            </a:r>
            <a:r>
              <a:rPr lang="en-US" sz="1200" dirty="0">
                <a:solidFill>
                  <a:srgbClr val="9CA8C2"/>
                </a:solidFill>
                <a:latin typeface="Calibri" pitchFamily="34" charset="0"/>
                <a:ea typeface="Calibri" pitchFamily="34" charset="-122"/>
                <a:cs typeface="Calibri" pitchFamily="34" charset="-120"/>
              </a:rPr>
              <a:t> rows · </a:t>
            </a:r>
            <a:r>
              <a:rPr lang="en-US" sz="1400" b="1" dirty="0">
                <a:solidFill>
                  <a:srgbClr val="E8EAF0"/>
                </a:solidFill>
                <a:latin typeface="Calibri" pitchFamily="34" charset="0"/>
                <a:ea typeface="Calibri" pitchFamily="34" charset="-122"/>
                <a:cs typeface="Calibri" pitchFamily="34" charset="-120"/>
              </a:rPr>
              <a:t>8</a:t>
            </a:r>
            <a:r>
              <a:rPr lang="en-US" sz="1200" dirty="0">
                <a:solidFill>
                  <a:srgbClr val="9CA8C2"/>
                </a:solidFill>
                <a:latin typeface="Calibri" pitchFamily="34" charset="0"/>
                <a:ea typeface="Calibri" pitchFamily="34" charset="-122"/>
                <a:cs typeface="Calibri" pitchFamily="34" charset="-120"/>
              </a:rPr>
              <a:t> cols</a:t>
            </a:r>
            <a:endParaRPr lang="en-US" sz="2000" dirty="0"/>
          </a:p>
        </p:txBody>
      </p:sp>
      <p:sp>
        <p:nvSpPr>
          <p:cNvPr id="16" name="Text 14"/>
          <p:cNvSpPr/>
          <p:nvPr/>
        </p:nvSpPr>
        <p:spPr>
          <a:xfrm>
            <a:off x="8366760" y="3108960"/>
            <a:ext cx="3337560" cy="640080"/>
          </a:xfrm>
          <a:prstGeom prst="rect">
            <a:avLst/>
          </a:prstGeom>
          <a:noFill/>
          <a:ln/>
        </p:spPr>
        <p:txBody>
          <a:bodyPr wrap="square" lIns="0" tIns="0" rIns="0" bIns="0" rtlCol="0" anchor="ctr"/>
          <a:lstStyle/>
          <a:p>
            <a:pPr marL="0" indent="0">
              <a:buNone/>
            </a:pPr>
            <a:r>
              <a:rPr lang="en-US" sz="1100" dirty="0">
                <a:solidFill>
                  <a:srgbClr val="9CA8C2"/>
                </a:solidFill>
                <a:latin typeface="Calibri" pitchFamily="34" charset="0"/>
                <a:ea typeface="Calibri" pitchFamily="34" charset="-122"/>
                <a:cs typeface="Calibri" pitchFamily="34" charset="-120"/>
              </a:rPr>
              <a:t>Future dates we need to predict (Aug-Sep 2015, 6 weeks)</a:t>
            </a:r>
            <a:endParaRPr lang="en-US" sz="1100" dirty="0"/>
          </a:p>
        </p:txBody>
      </p:sp>
      <p:sp>
        <p:nvSpPr>
          <p:cNvPr id="17" name="Shape 15"/>
          <p:cNvSpPr/>
          <p:nvPr/>
        </p:nvSpPr>
        <p:spPr>
          <a:xfrm>
            <a:off x="457200" y="4069080"/>
            <a:ext cx="11247120" cy="2057400"/>
          </a:xfrm>
          <a:prstGeom prst="roundRect">
            <a:avLst>
              <a:gd name="adj" fmla="val 3556"/>
            </a:avLst>
          </a:prstGeom>
          <a:solidFill>
            <a:srgbClr val="131826"/>
          </a:solidFill>
          <a:ln w="6350">
            <a:solidFill>
              <a:srgbClr val="1F2A3F"/>
            </a:solidFill>
            <a:prstDash val="solid"/>
          </a:ln>
        </p:spPr>
      </p:sp>
      <p:sp>
        <p:nvSpPr>
          <p:cNvPr id="18" name="Text 16"/>
          <p:cNvSpPr/>
          <p:nvPr/>
        </p:nvSpPr>
        <p:spPr>
          <a:xfrm>
            <a:off x="731520" y="4206240"/>
            <a:ext cx="10698480" cy="274320"/>
          </a:xfrm>
          <a:prstGeom prst="rect">
            <a:avLst/>
          </a:prstGeom>
          <a:noFill/>
          <a:ln/>
        </p:spPr>
        <p:txBody>
          <a:bodyPr wrap="square" rtlCol="0" anchor="ctr"/>
          <a:lstStyle/>
          <a:p>
            <a:pPr marL="0" indent="0">
              <a:buNone/>
            </a:pPr>
            <a:r>
              <a:rPr lang="en-US" sz="1100" b="1" kern="0" spc="200" dirty="0">
                <a:solidFill>
                  <a:srgbClr val="3B82F6"/>
                </a:solidFill>
                <a:latin typeface="Calibri" pitchFamily="34" charset="0"/>
                <a:ea typeface="Calibri" pitchFamily="34" charset="-122"/>
                <a:cs typeface="Calibri" pitchFamily="34" charset="-120"/>
              </a:rPr>
              <a:t>MISSING VALUE STRATEGY</a:t>
            </a:r>
            <a:endParaRPr lang="en-US" sz="1100" dirty="0"/>
          </a:p>
        </p:txBody>
      </p:sp>
      <p:sp>
        <p:nvSpPr>
          <p:cNvPr id="19" name="Text 17"/>
          <p:cNvSpPr/>
          <p:nvPr/>
        </p:nvSpPr>
        <p:spPr>
          <a:xfrm>
            <a:off x="731520" y="4526280"/>
            <a:ext cx="3200400" cy="274320"/>
          </a:xfrm>
          <a:prstGeom prst="rect">
            <a:avLst/>
          </a:prstGeom>
          <a:noFill/>
          <a:ln/>
        </p:spPr>
        <p:txBody>
          <a:bodyPr wrap="square" lIns="0" tIns="0" rIns="0" bIns="0" rtlCol="0" anchor="ctr"/>
          <a:lstStyle/>
          <a:p>
            <a:pPr marL="0" indent="0">
              <a:buNone/>
            </a:pPr>
            <a:r>
              <a:rPr lang="en-US" sz="1100" b="1" dirty="0">
                <a:solidFill>
                  <a:srgbClr val="E8EAF0"/>
                </a:solidFill>
                <a:latin typeface="Courier New" pitchFamily="34" charset="0"/>
                <a:ea typeface="Courier New" pitchFamily="34" charset="-122"/>
                <a:cs typeface="Courier New" pitchFamily="34" charset="-120"/>
              </a:rPr>
              <a:t>CompetitionDistance</a:t>
            </a:r>
            <a:endParaRPr lang="en-US" sz="1100" dirty="0"/>
          </a:p>
        </p:txBody>
      </p:sp>
      <p:sp>
        <p:nvSpPr>
          <p:cNvPr id="20" name="Text 18"/>
          <p:cNvSpPr/>
          <p:nvPr/>
        </p:nvSpPr>
        <p:spPr>
          <a:xfrm>
            <a:off x="4023360" y="4526280"/>
            <a:ext cx="2468880" cy="274320"/>
          </a:xfrm>
          <a:prstGeom prst="rect">
            <a:avLst/>
          </a:prstGeom>
          <a:noFill/>
          <a:ln/>
        </p:spPr>
        <p:txBody>
          <a:bodyPr wrap="square" lIns="0" tIns="0" rIns="0" bIns="0" rtlCol="0" anchor="ctr"/>
          <a:lstStyle/>
          <a:p>
            <a:pPr marL="0" indent="0">
              <a:buNone/>
            </a:pPr>
            <a:r>
              <a:rPr lang="en-US" sz="1100" dirty="0">
                <a:solidFill>
                  <a:srgbClr val="10B981"/>
                </a:solidFill>
                <a:latin typeface="Calibri" pitchFamily="34" charset="0"/>
                <a:ea typeface="Calibri" pitchFamily="34" charset="-122"/>
                <a:cs typeface="Calibri" pitchFamily="34" charset="-120"/>
              </a:rPr>
              <a:t>→ median (2,330m)</a:t>
            </a:r>
            <a:endParaRPr lang="en-US" sz="1100" dirty="0"/>
          </a:p>
        </p:txBody>
      </p:sp>
      <p:sp>
        <p:nvSpPr>
          <p:cNvPr id="21" name="Text 19"/>
          <p:cNvSpPr/>
          <p:nvPr/>
        </p:nvSpPr>
        <p:spPr>
          <a:xfrm>
            <a:off x="6583680" y="4526280"/>
            <a:ext cx="5029200" cy="27432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Median resists outliers from a few isolated stores</a:t>
            </a:r>
            <a:endParaRPr lang="en-US" sz="1100" dirty="0"/>
          </a:p>
        </p:txBody>
      </p:sp>
      <p:sp>
        <p:nvSpPr>
          <p:cNvPr id="22" name="Text 20"/>
          <p:cNvSpPr/>
          <p:nvPr/>
        </p:nvSpPr>
        <p:spPr>
          <a:xfrm>
            <a:off x="731520" y="4837176"/>
            <a:ext cx="3200400" cy="274320"/>
          </a:xfrm>
          <a:prstGeom prst="rect">
            <a:avLst/>
          </a:prstGeom>
          <a:noFill/>
          <a:ln/>
        </p:spPr>
        <p:txBody>
          <a:bodyPr wrap="square" lIns="0" tIns="0" rIns="0" bIns="0" rtlCol="0" anchor="ctr"/>
          <a:lstStyle/>
          <a:p>
            <a:pPr marL="0" indent="0">
              <a:buNone/>
            </a:pPr>
            <a:r>
              <a:rPr lang="en-US" sz="1100" b="1" dirty="0">
                <a:solidFill>
                  <a:srgbClr val="E8EAF0"/>
                </a:solidFill>
                <a:latin typeface="Courier New" pitchFamily="34" charset="0"/>
                <a:ea typeface="Courier New" pitchFamily="34" charset="-122"/>
                <a:cs typeface="Courier New" pitchFamily="34" charset="-120"/>
              </a:rPr>
              <a:t>CompetitionOpenSinceMonth/Year</a:t>
            </a:r>
            <a:endParaRPr lang="en-US" sz="1100" dirty="0"/>
          </a:p>
        </p:txBody>
      </p:sp>
      <p:sp>
        <p:nvSpPr>
          <p:cNvPr id="23" name="Text 21"/>
          <p:cNvSpPr/>
          <p:nvPr/>
        </p:nvSpPr>
        <p:spPr>
          <a:xfrm>
            <a:off x="4023360" y="4837176"/>
            <a:ext cx="2468880" cy="274320"/>
          </a:xfrm>
          <a:prstGeom prst="rect">
            <a:avLst/>
          </a:prstGeom>
          <a:noFill/>
          <a:ln/>
        </p:spPr>
        <p:txBody>
          <a:bodyPr wrap="square" lIns="0" tIns="0" rIns="0" bIns="0" rtlCol="0" anchor="ctr"/>
          <a:lstStyle/>
          <a:p>
            <a:pPr marL="0" indent="0">
              <a:buNone/>
            </a:pPr>
            <a:r>
              <a:rPr lang="en-US" sz="1100" dirty="0">
                <a:solidFill>
                  <a:srgbClr val="10B981"/>
                </a:solidFill>
                <a:latin typeface="Calibri" pitchFamily="34" charset="0"/>
                <a:ea typeface="Calibri" pitchFamily="34" charset="-122"/>
                <a:cs typeface="Calibri" pitchFamily="34" charset="-120"/>
              </a:rPr>
              <a:t>→ zero</a:t>
            </a:r>
            <a:endParaRPr lang="en-US" sz="1100" dirty="0"/>
          </a:p>
        </p:txBody>
      </p:sp>
      <p:sp>
        <p:nvSpPr>
          <p:cNvPr id="24" name="Text 22"/>
          <p:cNvSpPr/>
          <p:nvPr/>
        </p:nvSpPr>
        <p:spPr>
          <a:xfrm>
            <a:off x="6583680" y="4837176"/>
            <a:ext cx="5029200" cy="27432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Treat unknown competition as effectively ancient</a:t>
            </a:r>
            <a:endParaRPr lang="en-US" sz="1100" dirty="0"/>
          </a:p>
        </p:txBody>
      </p:sp>
      <p:sp>
        <p:nvSpPr>
          <p:cNvPr id="25" name="Text 23"/>
          <p:cNvSpPr/>
          <p:nvPr/>
        </p:nvSpPr>
        <p:spPr>
          <a:xfrm>
            <a:off x="731520" y="5148072"/>
            <a:ext cx="3200400" cy="274320"/>
          </a:xfrm>
          <a:prstGeom prst="rect">
            <a:avLst/>
          </a:prstGeom>
          <a:noFill/>
          <a:ln/>
        </p:spPr>
        <p:txBody>
          <a:bodyPr wrap="square" lIns="0" tIns="0" rIns="0" bIns="0" rtlCol="0" anchor="ctr"/>
          <a:lstStyle/>
          <a:p>
            <a:pPr marL="0" indent="0">
              <a:buNone/>
            </a:pPr>
            <a:r>
              <a:rPr lang="en-US" sz="1100" b="1" dirty="0">
                <a:solidFill>
                  <a:srgbClr val="E8EAF0"/>
                </a:solidFill>
                <a:latin typeface="Courier New" pitchFamily="34" charset="0"/>
                <a:ea typeface="Courier New" pitchFamily="34" charset="-122"/>
                <a:cs typeface="Courier New" pitchFamily="34" charset="-120"/>
              </a:rPr>
              <a:t>Promo2SinceWeek/Year</a:t>
            </a:r>
            <a:endParaRPr lang="en-US" sz="1100" dirty="0"/>
          </a:p>
        </p:txBody>
      </p:sp>
      <p:sp>
        <p:nvSpPr>
          <p:cNvPr id="26" name="Text 24"/>
          <p:cNvSpPr/>
          <p:nvPr/>
        </p:nvSpPr>
        <p:spPr>
          <a:xfrm>
            <a:off x="4023360" y="5148072"/>
            <a:ext cx="2468880" cy="274320"/>
          </a:xfrm>
          <a:prstGeom prst="rect">
            <a:avLst/>
          </a:prstGeom>
          <a:noFill/>
          <a:ln/>
        </p:spPr>
        <p:txBody>
          <a:bodyPr wrap="square" lIns="0" tIns="0" rIns="0" bIns="0" rtlCol="0" anchor="ctr"/>
          <a:lstStyle/>
          <a:p>
            <a:pPr marL="0" indent="0">
              <a:buNone/>
            </a:pPr>
            <a:r>
              <a:rPr lang="en-US" sz="1100" dirty="0">
                <a:solidFill>
                  <a:srgbClr val="10B981"/>
                </a:solidFill>
                <a:latin typeface="Calibri" pitchFamily="34" charset="0"/>
                <a:ea typeface="Calibri" pitchFamily="34" charset="-122"/>
                <a:cs typeface="Calibri" pitchFamily="34" charset="-120"/>
              </a:rPr>
              <a:t>→ zero</a:t>
            </a:r>
            <a:endParaRPr lang="en-US" sz="1100" dirty="0"/>
          </a:p>
        </p:txBody>
      </p:sp>
      <p:sp>
        <p:nvSpPr>
          <p:cNvPr id="27" name="Text 25"/>
          <p:cNvSpPr/>
          <p:nvPr/>
        </p:nvSpPr>
        <p:spPr>
          <a:xfrm>
            <a:off x="6583680" y="5148072"/>
            <a:ext cx="5029200" cy="27432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Zero means store does not participate in Promo2</a:t>
            </a:r>
            <a:endParaRPr lang="en-US" sz="1100" dirty="0"/>
          </a:p>
        </p:txBody>
      </p:sp>
      <p:sp>
        <p:nvSpPr>
          <p:cNvPr id="28" name="Text 26"/>
          <p:cNvSpPr/>
          <p:nvPr/>
        </p:nvSpPr>
        <p:spPr>
          <a:xfrm>
            <a:off x="731520" y="5458968"/>
            <a:ext cx="3200400" cy="274320"/>
          </a:xfrm>
          <a:prstGeom prst="rect">
            <a:avLst/>
          </a:prstGeom>
          <a:noFill/>
          <a:ln/>
        </p:spPr>
        <p:txBody>
          <a:bodyPr wrap="square" lIns="0" tIns="0" rIns="0" bIns="0" rtlCol="0" anchor="ctr"/>
          <a:lstStyle/>
          <a:p>
            <a:pPr marL="0" indent="0">
              <a:buNone/>
            </a:pPr>
            <a:r>
              <a:rPr lang="en-US" sz="1100" b="1" dirty="0">
                <a:solidFill>
                  <a:srgbClr val="E8EAF0"/>
                </a:solidFill>
                <a:latin typeface="Courier New" pitchFamily="34" charset="0"/>
                <a:ea typeface="Courier New" pitchFamily="34" charset="-122"/>
                <a:cs typeface="Courier New" pitchFamily="34" charset="-120"/>
              </a:rPr>
              <a:t>PromoInterval</a:t>
            </a:r>
            <a:endParaRPr lang="en-US" sz="1100" dirty="0"/>
          </a:p>
        </p:txBody>
      </p:sp>
      <p:sp>
        <p:nvSpPr>
          <p:cNvPr id="29" name="Text 27"/>
          <p:cNvSpPr/>
          <p:nvPr/>
        </p:nvSpPr>
        <p:spPr>
          <a:xfrm>
            <a:off x="4023360" y="5458968"/>
            <a:ext cx="2468880" cy="274320"/>
          </a:xfrm>
          <a:prstGeom prst="rect">
            <a:avLst/>
          </a:prstGeom>
          <a:noFill/>
          <a:ln/>
        </p:spPr>
        <p:txBody>
          <a:bodyPr wrap="square" lIns="0" tIns="0" rIns="0" bIns="0" rtlCol="0" anchor="ctr"/>
          <a:lstStyle/>
          <a:p>
            <a:pPr marL="0" indent="0">
              <a:buNone/>
            </a:pPr>
            <a:r>
              <a:rPr lang="en-US" sz="1100" dirty="0">
                <a:solidFill>
                  <a:srgbClr val="10B981"/>
                </a:solidFill>
                <a:latin typeface="Calibri" pitchFamily="34" charset="0"/>
                <a:ea typeface="Calibri" pitchFamily="34" charset="-122"/>
                <a:cs typeface="Calibri" pitchFamily="34" charset="-120"/>
              </a:rPr>
              <a:t>→ empty string</a:t>
            </a:r>
            <a:endParaRPr lang="en-US" sz="1100" dirty="0"/>
          </a:p>
        </p:txBody>
      </p:sp>
      <p:sp>
        <p:nvSpPr>
          <p:cNvPr id="30" name="Text 28"/>
          <p:cNvSpPr/>
          <p:nvPr/>
        </p:nvSpPr>
        <p:spPr>
          <a:xfrm>
            <a:off x="6583680" y="5458968"/>
            <a:ext cx="5029200" cy="27432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Empty string parses cleanly as 'not participating'</a:t>
            </a:r>
            <a:endParaRPr lang="en-US" sz="1100" dirty="0"/>
          </a:p>
        </p:txBody>
      </p:sp>
      <p:sp>
        <p:nvSpPr>
          <p:cNvPr id="31" name="Text 29"/>
          <p:cNvSpPr/>
          <p:nvPr/>
        </p:nvSpPr>
        <p:spPr>
          <a:xfrm>
            <a:off x="731520" y="5769864"/>
            <a:ext cx="3200400" cy="274320"/>
          </a:xfrm>
          <a:prstGeom prst="rect">
            <a:avLst/>
          </a:prstGeom>
          <a:noFill/>
          <a:ln/>
        </p:spPr>
        <p:txBody>
          <a:bodyPr wrap="square" lIns="0" tIns="0" rIns="0" bIns="0" rtlCol="0" anchor="ctr"/>
          <a:lstStyle/>
          <a:p>
            <a:pPr marL="0" indent="0">
              <a:buNone/>
            </a:pPr>
            <a:r>
              <a:rPr lang="en-US" sz="1100" b="1" dirty="0">
                <a:solidFill>
                  <a:srgbClr val="E8EAF0"/>
                </a:solidFill>
                <a:latin typeface="Courier New" pitchFamily="34" charset="0"/>
                <a:ea typeface="Courier New" pitchFamily="34" charset="-122"/>
                <a:cs typeface="Courier New" pitchFamily="34" charset="-120"/>
              </a:rPr>
              <a:t>Open</a:t>
            </a:r>
            <a:endParaRPr lang="en-US" sz="1100" dirty="0"/>
          </a:p>
        </p:txBody>
      </p:sp>
      <p:sp>
        <p:nvSpPr>
          <p:cNvPr id="32" name="Text 30"/>
          <p:cNvSpPr/>
          <p:nvPr/>
        </p:nvSpPr>
        <p:spPr>
          <a:xfrm>
            <a:off x="4023360" y="5769864"/>
            <a:ext cx="2468880" cy="274320"/>
          </a:xfrm>
          <a:prstGeom prst="rect">
            <a:avLst/>
          </a:prstGeom>
          <a:noFill/>
          <a:ln/>
        </p:spPr>
        <p:txBody>
          <a:bodyPr wrap="square" lIns="0" tIns="0" rIns="0" bIns="0" rtlCol="0" anchor="ctr"/>
          <a:lstStyle/>
          <a:p>
            <a:pPr marL="0" indent="0">
              <a:buNone/>
            </a:pPr>
            <a:r>
              <a:rPr lang="en-US" sz="1100" dirty="0">
                <a:solidFill>
                  <a:srgbClr val="10B981"/>
                </a:solidFill>
                <a:latin typeface="Calibri" pitchFamily="34" charset="0"/>
                <a:ea typeface="Calibri" pitchFamily="34" charset="-122"/>
                <a:cs typeface="Calibri" pitchFamily="34" charset="-120"/>
              </a:rPr>
              <a:t>→ 1 (open)</a:t>
            </a:r>
            <a:endParaRPr lang="en-US" sz="1100" dirty="0"/>
          </a:p>
        </p:txBody>
      </p:sp>
      <p:sp>
        <p:nvSpPr>
          <p:cNvPr id="33" name="Text 31"/>
          <p:cNvSpPr/>
          <p:nvPr/>
        </p:nvSpPr>
        <p:spPr>
          <a:xfrm>
            <a:off x="6583680" y="5769864"/>
            <a:ext cx="5029200" cy="27432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If unknown, assume the store was operating</a:t>
            </a:r>
            <a:endParaRPr lang="en-US" sz="1100" dirty="0"/>
          </a:p>
        </p:txBody>
      </p:sp>
      <p:sp>
        <p:nvSpPr>
          <p:cNvPr id="34" name="Text 32"/>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35" name="Text 33"/>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Exploratory Data Analysis — Key Findings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Seven business questions answered with the data</a:t>
            </a:r>
            <a:endParaRPr lang="en-US" sz="1300" dirty="0"/>
          </a:p>
        </p:txBody>
      </p:sp>
      <p:sp>
        <p:nvSpPr>
          <p:cNvPr id="4" name="Text 2"/>
          <p:cNvSpPr/>
          <p:nvPr/>
        </p:nvSpPr>
        <p:spPr>
          <a:xfrm>
            <a:off x="457200" y="1325880"/>
            <a:ext cx="11247120" cy="64008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Before building any model, we asked questions the finance team cares about. Each chart below confirms or surprises us about how Rossmann actually operates. These insights also guided which features to engineer in the next stage.</a:t>
            </a:r>
            <a:endParaRPr lang="en-US" sz="1200" dirty="0"/>
          </a:p>
        </p:txBody>
      </p:sp>
      <p:sp>
        <p:nvSpPr>
          <p:cNvPr id="5" name="Shape 3"/>
          <p:cNvSpPr/>
          <p:nvPr/>
        </p:nvSpPr>
        <p:spPr>
          <a:xfrm>
            <a:off x="457200" y="2103120"/>
            <a:ext cx="3703320" cy="1920240"/>
          </a:xfrm>
          <a:prstGeom prst="roundRect">
            <a:avLst>
              <a:gd name="adj" fmla="val 3810"/>
            </a:avLst>
          </a:prstGeom>
          <a:solidFill>
            <a:srgbClr val="131826"/>
          </a:solidFill>
          <a:ln w="6350">
            <a:solidFill>
              <a:srgbClr val="1F2A3F"/>
            </a:solidFill>
            <a:prstDash val="solid"/>
          </a:ln>
        </p:spPr>
      </p:sp>
      <p:sp>
        <p:nvSpPr>
          <p:cNvPr id="6" name="Text 4"/>
          <p:cNvSpPr/>
          <p:nvPr/>
        </p:nvSpPr>
        <p:spPr>
          <a:xfrm>
            <a:off x="640080" y="2286000"/>
            <a:ext cx="3383280" cy="594360"/>
          </a:xfrm>
          <a:prstGeom prst="rect">
            <a:avLst/>
          </a:prstGeom>
          <a:noFill/>
          <a:ln/>
        </p:spPr>
        <p:txBody>
          <a:bodyPr wrap="square" lIns="0" tIns="0" rIns="0" bIns="0" rtlCol="0" anchor="ctr"/>
          <a:lstStyle/>
          <a:p>
            <a:pPr marL="0" indent="0">
              <a:buNone/>
            </a:pPr>
            <a:r>
              <a:rPr lang="en-US" sz="2800" b="1" dirty="0">
                <a:solidFill>
                  <a:srgbClr val="3B82F6"/>
                </a:solidFill>
                <a:latin typeface="Calibri" pitchFamily="34" charset="0"/>
                <a:ea typeface="Calibri" pitchFamily="34" charset="-122"/>
                <a:cs typeface="Calibri" pitchFamily="34" charset="-120"/>
              </a:rPr>
              <a:t>+38.8%</a:t>
            </a:r>
            <a:endParaRPr lang="en-US" sz="2800" dirty="0"/>
          </a:p>
        </p:txBody>
      </p:sp>
      <p:sp>
        <p:nvSpPr>
          <p:cNvPr id="7" name="Text 5"/>
          <p:cNvSpPr/>
          <p:nvPr/>
        </p:nvSpPr>
        <p:spPr>
          <a:xfrm>
            <a:off x="640080" y="2880360"/>
            <a:ext cx="3383280" cy="274320"/>
          </a:xfrm>
          <a:prstGeom prst="rect">
            <a:avLst/>
          </a:prstGeom>
          <a:noFill/>
          <a:ln/>
        </p:spPr>
        <p:txBody>
          <a:bodyPr wrap="square" lIns="0" tIns="0" rIns="0" bIns="0" rtlCol="0" anchor="ctr"/>
          <a:lstStyle/>
          <a:p>
            <a:pPr marL="0" indent="0">
              <a:buNone/>
            </a:pPr>
            <a:r>
              <a:rPr lang="en-US" sz="1100" b="1" kern="0" spc="100" dirty="0">
                <a:solidFill>
                  <a:srgbClr val="E8EAF0"/>
                </a:solidFill>
                <a:latin typeface="Calibri" pitchFamily="34" charset="0"/>
                <a:ea typeface="Calibri" pitchFamily="34" charset="-122"/>
                <a:cs typeface="Calibri" pitchFamily="34" charset="-120"/>
              </a:rPr>
              <a:t>Promo lift</a:t>
            </a:r>
            <a:endParaRPr lang="en-US" sz="1100" dirty="0"/>
          </a:p>
        </p:txBody>
      </p:sp>
      <p:sp>
        <p:nvSpPr>
          <p:cNvPr id="8" name="Text 6"/>
          <p:cNvSpPr/>
          <p:nvPr/>
        </p:nvSpPr>
        <p:spPr>
          <a:xfrm>
            <a:off x="640080" y="3200400"/>
            <a:ext cx="3383280" cy="77724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Promotional days drive 39% higher sales than non-promo days on average across all stores</a:t>
            </a:r>
            <a:endParaRPr lang="en-US" sz="1050" dirty="0"/>
          </a:p>
        </p:txBody>
      </p:sp>
      <p:sp>
        <p:nvSpPr>
          <p:cNvPr id="9" name="Shape 7"/>
          <p:cNvSpPr/>
          <p:nvPr/>
        </p:nvSpPr>
        <p:spPr>
          <a:xfrm>
            <a:off x="4297680" y="2103120"/>
            <a:ext cx="3703320" cy="1920240"/>
          </a:xfrm>
          <a:prstGeom prst="roundRect">
            <a:avLst>
              <a:gd name="adj" fmla="val 3810"/>
            </a:avLst>
          </a:prstGeom>
          <a:solidFill>
            <a:srgbClr val="131826"/>
          </a:solidFill>
          <a:ln w="6350">
            <a:solidFill>
              <a:srgbClr val="1F2A3F"/>
            </a:solidFill>
            <a:prstDash val="solid"/>
          </a:ln>
        </p:spPr>
      </p:sp>
      <p:sp>
        <p:nvSpPr>
          <p:cNvPr id="10" name="Text 8"/>
          <p:cNvSpPr/>
          <p:nvPr/>
        </p:nvSpPr>
        <p:spPr>
          <a:xfrm>
            <a:off x="4480560" y="2286000"/>
            <a:ext cx="3383280" cy="594360"/>
          </a:xfrm>
          <a:prstGeom prst="rect">
            <a:avLst/>
          </a:prstGeom>
          <a:noFill/>
          <a:ln/>
        </p:spPr>
        <p:txBody>
          <a:bodyPr wrap="square" lIns="0" tIns="0" rIns="0" bIns="0" rtlCol="0" anchor="ctr"/>
          <a:lstStyle/>
          <a:p>
            <a:pPr marL="0" indent="0">
              <a:buNone/>
            </a:pPr>
            <a:r>
              <a:rPr lang="en-US" sz="2800" b="1" dirty="0">
                <a:solidFill>
                  <a:srgbClr val="10B981"/>
                </a:solidFill>
                <a:latin typeface="Calibri" pitchFamily="34" charset="0"/>
                <a:ea typeface="Calibri" pitchFamily="34" charset="-122"/>
                <a:cs typeface="Calibri" pitchFamily="34" charset="-120"/>
              </a:rPr>
              <a:t>0.83</a:t>
            </a:r>
            <a:endParaRPr lang="en-US" sz="2800" dirty="0"/>
          </a:p>
        </p:txBody>
      </p:sp>
      <p:sp>
        <p:nvSpPr>
          <p:cNvPr id="11" name="Text 9"/>
          <p:cNvSpPr/>
          <p:nvPr/>
        </p:nvSpPr>
        <p:spPr>
          <a:xfrm>
            <a:off x="4480560" y="2880360"/>
            <a:ext cx="3383280" cy="274320"/>
          </a:xfrm>
          <a:prstGeom prst="rect">
            <a:avLst/>
          </a:prstGeom>
          <a:noFill/>
          <a:ln/>
        </p:spPr>
        <p:txBody>
          <a:bodyPr wrap="square" lIns="0" tIns="0" rIns="0" bIns="0" rtlCol="0" anchor="ctr"/>
          <a:lstStyle/>
          <a:p>
            <a:pPr marL="0" indent="0">
              <a:buNone/>
            </a:pPr>
            <a:r>
              <a:rPr lang="en-US" sz="1100" b="1" kern="0" spc="100" dirty="0">
                <a:solidFill>
                  <a:srgbClr val="E8EAF0"/>
                </a:solidFill>
                <a:latin typeface="Calibri" pitchFamily="34" charset="0"/>
                <a:ea typeface="Calibri" pitchFamily="34" charset="-122"/>
                <a:cs typeface="Calibri" pitchFamily="34" charset="-120"/>
              </a:rPr>
              <a:t>Customers ⇄ Sales (r)</a:t>
            </a:r>
            <a:endParaRPr lang="en-US" sz="1100" dirty="0"/>
          </a:p>
        </p:txBody>
      </p:sp>
      <p:sp>
        <p:nvSpPr>
          <p:cNvPr id="12" name="Text 10"/>
          <p:cNvSpPr/>
          <p:nvPr/>
        </p:nvSpPr>
        <p:spPr>
          <a:xfrm>
            <a:off x="4480560" y="3200400"/>
            <a:ext cx="3383280" cy="77724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Strongest predictor of daily sales is customer count — confirms foot traffic matters most</a:t>
            </a:r>
            <a:endParaRPr lang="en-US" sz="1050" dirty="0"/>
          </a:p>
        </p:txBody>
      </p:sp>
      <p:sp>
        <p:nvSpPr>
          <p:cNvPr id="13" name="Shape 11"/>
          <p:cNvSpPr/>
          <p:nvPr/>
        </p:nvSpPr>
        <p:spPr>
          <a:xfrm>
            <a:off x="8138160" y="2103120"/>
            <a:ext cx="3703320" cy="1920240"/>
          </a:xfrm>
          <a:prstGeom prst="roundRect">
            <a:avLst>
              <a:gd name="adj" fmla="val 3810"/>
            </a:avLst>
          </a:prstGeom>
          <a:solidFill>
            <a:srgbClr val="131826"/>
          </a:solidFill>
          <a:ln w="6350">
            <a:solidFill>
              <a:srgbClr val="1F2A3F"/>
            </a:solidFill>
            <a:prstDash val="solid"/>
          </a:ln>
        </p:spPr>
      </p:sp>
      <p:sp>
        <p:nvSpPr>
          <p:cNvPr id="14" name="Text 12"/>
          <p:cNvSpPr/>
          <p:nvPr/>
        </p:nvSpPr>
        <p:spPr>
          <a:xfrm>
            <a:off x="8321040" y="2286000"/>
            <a:ext cx="3383280" cy="594360"/>
          </a:xfrm>
          <a:prstGeom prst="rect">
            <a:avLst/>
          </a:prstGeom>
          <a:noFill/>
          <a:ln/>
        </p:spPr>
        <p:txBody>
          <a:bodyPr wrap="square" lIns="0" tIns="0" rIns="0" bIns="0" rtlCol="0" anchor="ctr"/>
          <a:lstStyle/>
          <a:p>
            <a:pPr marL="0" indent="0">
              <a:buNone/>
            </a:pPr>
            <a:r>
              <a:rPr lang="en-US" sz="2800" b="1" dirty="0">
                <a:solidFill>
                  <a:srgbClr val="F59E0B"/>
                </a:solidFill>
                <a:latin typeface="Calibri" pitchFamily="34" charset="0"/>
                <a:ea typeface="Calibri" pitchFamily="34" charset="-122"/>
                <a:cs typeface="Calibri" pitchFamily="34" charset="-120"/>
              </a:rPr>
              <a:t>+30%</a:t>
            </a:r>
            <a:endParaRPr lang="en-US" sz="2800" dirty="0"/>
          </a:p>
        </p:txBody>
      </p:sp>
      <p:sp>
        <p:nvSpPr>
          <p:cNvPr id="15" name="Text 13"/>
          <p:cNvSpPr/>
          <p:nvPr/>
        </p:nvSpPr>
        <p:spPr>
          <a:xfrm>
            <a:off x="8321040" y="2880360"/>
            <a:ext cx="3383280" cy="274320"/>
          </a:xfrm>
          <a:prstGeom prst="rect">
            <a:avLst/>
          </a:prstGeom>
          <a:noFill/>
          <a:ln/>
        </p:spPr>
        <p:txBody>
          <a:bodyPr wrap="square" lIns="0" tIns="0" rIns="0" bIns="0" rtlCol="0" anchor="ctr"/>
          <a:lstStyle/>
          <a:p>
            <a:pPr marL="0" indent="0">
              <a:buNone/>
            </a:pPr>
            <a:r>
              <a:rPr lang="en-US" sz="1100" b="1" kern="0" spc="100" dirty="0">
                <a:solidFill>
                  <a:srgbClr val="E8EAF0"/>
                </a:solidFill>
                <a:latin typeface="Calibri" pitchFamily="34" charset="0"/>
                <a:ea typeface="Calibri" pitchFamily="34" charset="-122"/>
                <a:cs typeface="Calibri" pitchFamily="34" charset="-120"/>
              </a:rPr>
              <a:t>Christmas peak</a:t>
            </a:r>
            <a:endParaRPr lang="en-US" sz="1100" dirty="0"/>
          </a:p>
        </p:txBody>
      </p:sp>
      <p:sp>
        <p:nvSpPr>
          <p:cNvPr id="16" name="Text 14"/>
          <p:cNvSpPr/>
          <p:nvPr/>
        </p:nvSpPr>
        <p:spPr>
          <a:xfrm>
            <a:off x="8321040" y="3200400"/>
            <a:ext cx="3383280" cy="77724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December consistently outsells year-round average — pharmacy gifting, cold/flu, and last-minute shopping</a:t>
            </a:r>
            <a:endParaRPr lang="en-US" sz="1050" dirty="0"/>
          </a:p>
        </p:txBody>
      </p:sp>
      <p:sp>
        <p:nvSpPr>
          <p:cNvPr id="17" name="Shape 15"/>
          <p:cNvSpPr/>
          <p:nvPr/>
        </p:nvSpPr>
        <p:spPr>
          <a:xfrm>
            <a:off x="457200" y="4160520"/>
            <a:ext cx="3703320" cy="1920240"/>
          </a:xfrm>
          <a:prstGeom prst="roundRect">
            <a:avLst>
              <a:gd name="adj" fmla="val 3810"/>
            </a:avLst>
          </a:prstGeom>
          <a:solidFill>
            <a:srgbClr val="131826"/>
          </a:solidFill>
          <a:ln w="6350">
            <a:solidFill>
              <a:srgbClr val="1F2A3F"/>
            </a:solidFill>
            <a:prstDash val="solid"/>
          </a:ln>
        </p:spPr>
      </p:sp>
      <p:sp>
        <p:nvSpPr>
          <p:cNvPr id="18" name="Text 16"/>
          <p:cNvSpPr/>
          <p:nvPr/>
        </p:nvSpPr>
        <p:spPr>
          <a:xfrm>
            <a:off x="640080" y="4343400"/>
            <a:ext cx="3383280" cy="594360"/>
          </a:xfrm>
          <a:prstGeom prst="rect">
            <a:avLst/>
          </a:prstGeom>
          <a:noFill/>
          <a:ln/>
        </p:spPr>
        <p:txBody>
          <a:bodyPr wrap="square" lIns="0" tIns="0" rIns="0" bIns="0" rtlCol="0" anchor="ctr"/>
          <a:lstStyle/>
          <a:p>
            <a:pPr marL="0" indent="0">
              <a:buNone/>
            </a:pPr>
            <a:r>
              <a:rPr lang="en-US" sz="2800" b="1" dirty="0">
                <a:solidFill>
                  <a:srgbClr val="3B82F6"/>
                </a:solidFill>
                <a:latin typeface="Calibri" pitchFamily="34" charset="0"/>
                <a:ea typeface="Calibri" pitchFamily="34" charset="-122"/>
                <a:cs typeface="Calibri" pitchFamily="34" charset="-120"/>
              </a:rPr>
              <a:t>Type b</a:t>
            </a:r>
            <a:endParaRPr lang="en-US" sz="2800" dirty="0"/>
          </a:p>
        </p:txBody>
      </p:sp>
      <p:sp>
        <p:nvSpPr>
          <p:cNvPr id="19" name="Text 17"/>
          <p:cNvSpPr/>
          <p:nvPr/>
        </p:nvSpPr>
        <p:spPr>
          <a:xfrm>
            <a:off x="640080" y="4937760"/>
            <a:ext cx="3383280" cy="274320"/>
          </a:xfrm>
          <a:prstGeom prst="rect">
            <a:avLst/>
          </a:prstGeom>
          <a:noFill/>
          <a:ln/>
        </p:spPr>
        <p:txBody>
          <a:bodyPr wrap="square" lIns="0" tIns="0" rIns="0" bIns="0" rtlCol="0" anchor="ctr"/>
          <a:lstStyle/>
          <a:p>
            <a:pPr marL="0" indent="0">
              <a:buNone/>
            </a:pPr>
            <a:r>
              <a:rPr lang="en-US" sz="1100" b="1" kern="0" spc="100" dirty="0">
                <a:solidFill>
                  <a:srgbClr val="E8EAF0"/>
                </a:solidFill>
                <a:latin typeface="Calibri" pitchFamily="34" charset="0"/>
                <a:ea typeface="Calibri" pitchFamily="34" charset="-122"/>
                <a:cs typeface="Calibri" pitchFamily="34" charset="-120"/>
              </a:rPr>
              <a:t>Best store format</a:t>
            </a:r>
            <a:endParaRPr lang="en-US" sz="1100" dirty="0"/>
          </a:p>
        </p:txBody>
      </p:sp>
      <p:sp>
        <p:nvSpPr>
          <p:cNvPr id="20" name="Text 18"/>
          <p:cNvSpPr/>
          <p:nvPr/>
        </p:nvSpPr>
        <p:spPr>
          <a:xfrm>
            <a:off x="640080" y="5257800"/>
            <a:ext cx="3383280" cy="77724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Earns most per store despite being the least common type — earns ~50% above chain average</a:t>
            </a:r>
            <a:endParaRPr lang="en-US" sz="1050" dirty="0"/>
          </a:p>
        </p:txBody>
      </p:sp>
      <p:sp>
        <p:nvSpPr>
          <p:cNvPr id="21" name="Shape 19"/>
          <p:cNvSpPr/>
          <p:nvPr/>
        </p:nvSpPr>
        <p:spPr>
          <a:xfrm>
            <a:off x="4297680" y="4160520"/>
            <a:ext cx="3703320" cy="1920240"/>
          </a:xfrm>
          <a:prstGeom prst="roundRect">
            <a:avLst>
              <a:gd name="adj" fmla="val 3810"/>
            </a:avLst>
          </a:prstGeom>
          <a:solidFill>
            <a:srgbClr val="131826"/>
          </a:solidFill>
          <a:ln w="6350">
            <a:solidFill>
              <a:srgbClr val="1F2A3F"/>
            </a:solidFill>
            <a:prstDash val="solid"/>
          </a:ln>
        </p:spPr>
      </p:sp>
      <p:sp>
        <p:nvSpPr>
          <p:cNvPr id="22" name="Text 20"/>
          <p:cNvSpPr/>
          <p:nvPr/>
        </p:nvSpPr>
        <p:spPr>
          <a:xfrm>
            <a:off x="4480560" y="4343400"/>
            <a:ext cx="3383280" cy="594360"/>
          </a:xfrm>
          <a:prstGeom prst="rect">
            <a:avLst/>
          </a:prstGeom>
          <a:noFill/>
          <a:ln/>
        </p:spPr>
        <p:txBody>
          <a:bodyPr wrap="square" lIns="0" tIns="0" rIns="0" bIns="0" rtlCol="0" anchor="ctr"/>
          <a:lstStyle/>
          <a:p>
            <a:pPr marL="0" indent="0">
              <a:buNone/>
            </a:pPr>
            <a:r>
              <a:rPr lang="en-US" sz="2800" b="1" dirty="0">
                <a:solidFill>
                  <a:srgbClr val="10B981"/>
                </a:solidFill>
                <a:latin typeface="Calibri" pitchFamily="34" charset="0"/>
                <a:ea typeface="Calibri" pitchFamily="34" charset="-122"/>
                <a:cs typeface="Calibri" pitchFamily="34" charset="-120"/>
              </a:rPr>
              <a:t>&lt;500m</a:t>
            </a:r>
            <a:endParaRPr lang="en-US" sz="2800" dirty="0"/>
          </a:p>
        </p:txBody>
      </p:sp>
      <p:sp>
        <p:nvSpPr>
          <p:cNvPr id="23" name="Text 21"/>
          <p:cNvSpPr/>
          <p:nvPr/>
        </p:nvSpPr>
        <p:spPr>
          <a:xfrm>
            <a:off x="4480560" y="4937760"/>
            <a:ext cx="3383280" cy="274320"/>
          </a:xfrm>
          <a:prstGeom prst="rect">
            <a:avLst/>
          </a:prstGeom>
          <a:noFill/>
          <a:ln/>
        </p:spPr>
        <p:txBody>
          <a:bodyPr wrap="square" lIns="0" tIns="0" rIns="0" bIns="0" rtlCol="0" anchor="ctr"/>
          <a:lstStyle/>
          <a:p>
            <a:pPr marL="0" indent="0">
              <a:buNone/>
            </a:pPr>
            <a:r>
              <a:rPr lang="en-US" sz="1100" b="1" kern="0" spc="100" dirty="0">
                <a:solidFill>
                  <a:srgbClr val="E8EAF0"/>
                </a:solidFill>
                <a:latin typeface="Calibri" pitchFamily="34" charset="0"/>
                <a:ea typeface="Calibri" pitchFamily="34" charset="-122"/>
                <a:cs typeface="Calibri" pitchFamily="34" charset="-120"/>
              </a:rPr>
              <a:t>Closer wins (counter-intuitive)</a:t>
            </a:r>
            <a:endParaRPr lang="en-US" sz="1100" dirty="0"/>
          </a:p>
        </p:txBody>
      </p:sp>
      <p:sp>
        <p:nvSpPr>
          <p:cNvPr id="24" name="Text 22"/>
          <p:cNvSpPr/>
          <p:nvPr/>
        </p:nvSpPr>
        <p:spPr>
          <a:xfrm>
            <a:off x="4480560" y="5257800"/>
            <a:ext cx="3383280" cy="77724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Stores near competitors actually sell MORE — urban density beats isolation. Location &gt; rivalry.</a:t>
            </a:r>
            <a:endParaRPr lang="en-US" sz="1050" dirty="0"/>
          </a:p>
        </p:txBody>
      </p:sp>
      <p:sp>
        <p:nvSpPr>
          <p:cNvPr id="25" name="Shape 23"/>
          <p:cNvSpPr/>
          <p:nvPr/>
        </p:nvSpPr>
        <p:spPr>
          <a:xfrm>
            <a:off x="8138160" y="4160520"/>
            <a:ext cx="3703320" cy="1920240"/>
          </a:xfrm>
          <a:prstGeom prst="roundRect">
            <a:avLst>
              <a:gd name="adj" fmla="val 3810"/>
            </a:avLst>
          </a:prstGeom>
          <a:solidFill>
            <a:srgbClr val="131826"/>
          </a:solidFill>
          <a:ln w="6350">
            <a:solidFill>
              <a:srgbClr val="1F2A3F"/>
            </a:solidFill>
            <a:prstDash val="solid"/>
          </a:ln>
        </p:spPr>
      </p:sp>
      <p:sp>
        <p:nvSpPr>
          <p:cNvPr id="26" name="Text 24"/>
          <p:cNvSpPr/>
          <p:nvPr/>
        </p:nvSpPr>
        <p:spPr>
          <a:xfrm>
            <a:off x="8321040" y="4343400"/>
            <a:ext cx="3383280" cy="594360"/>
          </a:xfrm>
          <a:prstGeom prst="rect">
            <a:avLst/>
          </a:prstGeom>
          <a:noFill/>
          <a:ln/>
        </p:spPr>
        <p:txBody>
          <a:bodyPr wrap="square" lIns="0" tIns="0" rIns="0" bIns="0" rtlCol="0" anchor="ctr"/>
          <a:lstStyle/>
          <a:p>
            <a:pPr marL="0" indent="0">
              <a:buNone/>
            </a:pPr>
            <a:r>
              <a:rPr lang="en-US" sz="2800" b="1" dirty="0">
                <a:solidFill>
                  <a:srgbClr val="F59E0B"/>
                </a:solidFill>
                <a:latin typeface="Calibri" pitchFamily="34" charset="0"/>
                <a:ea typeface="Calibri" pitchFamily="34" charset="-122"/>
                <a:cs typeface="Calibri" pitchFamily="34" charset="-120"/>
              </a:rPr>
              <a:t>+40%</a:t>
            </a:r>
            <a:endParaRPr lang="en-US" sz="2800" dirty="0"/>
          </a:p>
        </p:txBody>
      </p:sp>
      <p:sp>
        <p:nvSpPr>
          <p:cNvPr id="27" name="Text 25"/>
          <p:cNvSpPr/>
          <p:nvPr/>
        </p:nvSpPr>
        <p:spPr>
          <a:xfrm>
            <a:off x="8321040" y="4937760"/>
            <a:ext cx="3383280" cy="274320"/>
          </a:xfrm>
          <a:prstGeom prst="rect">
            <a:avLst/>
          </a:prstGeom>
          <a:noFill/>
          <a:ln/>
        </p:spPr>
        <p:txBody>
          <a:bodyPr wrap="square" lIns="0" tIns="0" rIns="0" bIns="0" rtlCol="0" anchor="ctr"/>
          <a:lstStyle/>
          <a:p>
            <a:pPr marL="0" indent="0">
              <a:buNone/>
            </a:pPr>
            <a:r>
              <a:rPr lang="en-US" sz="1100" b="1" kern="0" spc="100" dirty="0">
                <a:solidFill>
                  <a:srgbClr val="E8EAF0"/>
                </a:solidFill>
                <a:latin typeface="Calibri" pitchFamily="34" charset="0"/>
                <a:ea typeface="Calibri" pitchFamily="34" charset="-122"/>
                <a:cs typeface="Calibri" pitchFamily="34" charset="-120"/>
              </a:rPr>
              <a:t>Extended assortment lift</a:t>
            </a:r>
            <a:endParaRPr lang="en-US" sz="1100" dirty="0"/>
          </a:p>
        </p:txBody>
      </p:sp>
      <p:sp>
        <p:nvSpPr>
          <p:cNvPr id="28" name="Text 26"/>
          <p:cNvSpPr/>
          <p:nvPr/>
        </p:nvSpPr>
        <p:spPr>
          <a:xfrm>
            <a:off x="8321040" y="5257800"/>
            <a:ext cx="3383280" cy="77724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Stores with extended product range outperform Basic by 40% — strong upsell signal</a:t>
            </a:r>
            <a:endParaRPr lang="en-US" sz="1050" dirty="0"/>
          </a:p>
        </p:txBody>
      </p:sp>
      <p:sp>
        <p:nvSpPr>
          <p:cNvPr id="29" name="Text 27"/>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30" name="Text 28"/>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Feature Engineering</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Turning raw data into 17 numerical signals the model can learn from</a:t>
            </a:r>
            <a:endParaRPr lang="en-US" sz="1300" dirty="0"/>
          </a:p>
        </p:txBody>
      </p:sp>
      <p:sp>
        <p:nvSpPr>
          <p:cNvPr id="4" name="Shape 2"/>
          <p:cNvSpPr/>
          <p:nvPr/>
        </p:nvSpPr>
        <p:spPr>
          <a:xfrm>
            <a:off x="457200" y="1325880"/>
            <a:ext cx="11247120" cy="960120"/>
          </a:xfrm>
          <a:prstGeom prst="roundRect">
            <a:avLst>
              <a:gd name="adj" fmla="val 7619"/>
            </a:avLst>
          </a:prstGeom>
          <a:solidFill>
            <a:srgbClr val="131826"/>
          </a:solidFill>
          <a:ln w="6350">
            <a:solidFill>
              <a:srgbClr val="1F2A3F"/>
            </a:solidFill>
            <a:prstDash val="solid"/>
          </a:ln>
        </p:spPr>
      </p:sp>
      <p:sp>
        <p:nvSpPr>
          <p:cNvPr id="5" name="Text 3"/>
          <p:cNvSpPr/>
          <p:nvPr/>
        </p:nvSpPr>
        <p:spPr>
          <a:xfrm>
            <a:off x="731520" y="1444752"/>
            <a:ext cx="10698480" cy="228600"/>
          </a:xfrm>
          <a:prstGeom prst="rect">
            <a:avLst/>
          </a:prstGeom>
          <a:noFill/>
          <a:ln/>
        </p:spPr>
        <p:txBody>
          <a:bodyPr wrap="square" rtlCol="0" anchor="ctr"/>
          <a:lstStyle/>
          <a:p>
            <a:pPr marL="0" indent="0">
              <a:buNone/>
            </a:pPr>
            <a:r>
              <a:rPr lang="en-US" sz="1000" b="1" kern="0" spc="200" dirty="0">
                <a:solidFill>
                  <a:srgbClr val="F59E0B"/>
                </a:solidFill>
                <a:latin typeface="Calibri" pitchFamily="34" charset="0"/>
                <a:ea typeface="Calibri" pitchFamily="34" charset="-122"/>
                <a:cs typeface="Calibri" pitchFamily="34" charset="-120"/>
              </a:rPr>
              <a:t>THE CORE PROBLEM</a:t>
            </a:r>
            <a:endParaRPr lang="en-US" sz="1000" dirty="0"/>
          </a:p>
        </p:txBody>
      </p:sp>
      <p:sp>
        <p:nvSpPr>
          <p:cNvPr id="6" name="Text 4"/>
          <p:cNvSpPr/>
          <p:nvPr/>
        </p:nvSpPr>
        <p:spPr>
          <a:xfrm>
            <a:off x="731520" y="1691640"/>
            <a:ext cx="10698480" cy="594360"/>
          </a:xfrm>
          <a:prstGeom prst="rect">
            <a:avLst/>
          </a:prstGeom>
          <a:noFill/>
          <a:ln/>
        </p:spPr>
        <p:txBody>
          <a:bodyPr wrap="square" lIns="0" tIns="0" rIns="0" bIns="0" rtlCol="0" anchor="ctr"/>
          <a:lstStyle/>
          <a:p>
            <a:pPr marL="0" indent="0">
              <a:buNone/>
            </a:pPr>
            <a:r>
              <a:rPr lang="en-US" sz="1150" dirty="0">
                <a:solidFill>
                  <a:srgbClr val="C5D2EE"/>
                </a:solidFill>
                <a:latin typeface="Calibri" pitchFamily="34" charset="0"/>
                <a:ea typeface="Calibri" pitchFamily="34" charset="-122"/>
                <a:cs typeface="Calibri" pitchFamily="34" charset="-120"/>
              </a:rPr>
              <a:t>A machine learning model cannot learn from raw text dates. "2015-03-15" is just a string of characters. We must extract numerical signals that capture meaningful patterns — what day of the week is it? Is it close to Christmas? How long has the competitor been open? Each engineered feature gives the model a new way to recognize patterns it could not see in the raw data.</a:t>
            </a:r>
            <a:endParaRPr lang="en-US" sz="1150" dirty="0"/>
          </a:p>
        </p:txBody>
      </p:sp>
      <p:sp>
        <p:nvSpPr>
          <p:cNvPr id="7" name="Shape 5"/>
          <p:cNvSpPr/>
          <p:nvPr/>
        </p:nvSpPr>
        <p:spPr>
          <a:xfrm>
            <a:off x="457200" y="2423160"/>
            <a:ext cx="5486400" cy="1737360"/>
          </a:xfrm>
          <a:prstGeom prst="roundRect">
            <a:avLst>
              <a:gd name="adj" fmla="val 4211"/>
            </a:avLst>
          </a:prstGeom>
          <a:solidFill>
            <a:srgbClr val="131826"/>
          </a:solidFill>
          <a:ln w="6350">
            <a:solidFill>
              <a:srgbClr val="1F2A3F"/>
            </a:solidFill>
            <a:prstDash val="solid"/>
          </a:ln>
        </p:spPr>
      </p:sp>
      <p:sp>
        <p:nvSpPr>
          <p:cNvPr id="8" name="Text 6"/>
          <p:cNvSpPr/>
          <p:nvPr/>
        </p:nvSpPr>
        <p:spPr>
          <a:xfrm>
            <a:off x="685800" y="2560320"/>
            <a:ext cx="5029200" cy="274320"/>
          </a:xfrm>
          <a:prstGeom prst="rect">
            <a:avLst/>
          </a:prstGeom>
          <a:noFill/>
          <a:ln/>
        </p:spPr>
        <p:txBody>
          <a:bodyPr wrap="square" rtlCol="0" anchor="ctr"/>
          <a:lstStyle/>
          <a:p>
            <a:pPr marL="0" indent="0">
              <a:buNone/>
            </a:pPr>
            <a:r>
              <a:rPr lang="en-US" sz="1100" b="1" kern="0" spc="150" dirty="0">
                <a:solidFill>
                  <a:srgbClr val="3B82F6"/>
                </a:solidFill>
                <a:latin typeface="Calibri" pitchFamily="34" charset="0"/>
                <a:ea typeface="Calibri" pitchFamily="34" charset="-122"/>
                <a:cs typeface="Calibri" pitchFamily="34" charset="-120"/>
              </a:rPr>
              <a:t>TIME (6)</a:t>
            </a:r>
            <a:endParaRPr lang="en-US" sz="1100" dirty="0"/>
          </a:p>
        </p:txBody>
      </p:sp>
      <p:sp>
        <p:nvSpPr>
          <p:cNvPr id="9" name="Text 7"/>
          <p:cNvSpPr/>
          <p:nvPr/>
        </p:nvSpPr>
        <p:spPr>
          <a:xfrm>
            <a:off x="777240" y="2880360"/>
            <a:ext cx="5029200" cy="914400"/>
          </a:xfrm>
          <a:prstGeom prst="rect">
            <a:avLst/>
          </a:prstGeom>
          <a:noFill/>
          <a:ln/>
        </p:spPr>
        <p:txBody>
          <a:bodyPr wrap="square" rtlCol="0" anchor="ctr"/>
          <a:lstStyle/>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Year, Month, Day</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DayOfWeek (0-6)</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WeekOfYear (1-53)</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Quarter (1-4)</a:t>
            </a:r>
            <a:endParaRPr lang="en-US" sz="1100" dirty="0"/>
          </a:p>
        </p:txBody>
      </p:sp>
      <p:sp>
        <p:nvSpPr>
          <p:cNvPr id="10" name="Text 8"/>
          <p:cNvSpPr/>
          <p:nvPr/>
        </p:nvSpPr>
        <p:spPr>
          <a:xfrm>
            <a:off x="685800" y="3840480"/>
            <a:ext cx="5029200" cy="274320"/>
          </a:xfrm>
          <a:prstGeom prst="rect">
            <a:avLst/>
          </a:prstGeom>
          <a:noFill/>
          <a:ln/>
        </p:spPr>
        <p:txBody>
          <a:bodyPr wrap="square" lIns="0" tIns="0" rIns="0" bIns="0" rtlCol="0" anchor="ctr"/>
          <a:lstStyle/>
          <a:p>
            <a:pPr marL="0" indent="0">
              <a:buNone/>
            </a:pPr>
            <a:r>
              <a:rPr lang="en-US" sz="1000" i="1" dirty="0">
                <a:solidFill>
                  <a:srgbClr val="9CA8C2"/>
                </a:solidFill>
                <a:latin typeface="Calibri" pitchFamily="34" charset="0"/>
                <a:ea typeface="Calibri" pitchFamily="34" charset="-122"/>
                <a:cs typeface="Calibri" pitchFamily="34" charset="-120"/>
              </a:rPr>
              <a:t>Date decomposition — captures cyclical patterns</a:t>
            </a:r>
            <a:endParaRPr lang="en-US" sz="1000" dirty="0"/>
          </a:p>
        </p:txBody>
      </p:sp>
      <p:sp>
        <p:nvSpPr>
          <p:cNvPr id="11" name="Shape 9"/>
          <p:cNvSpPr/>
          <p:nvPr/>
        </p:nvSpPr>
        <p:spPr>
          <a:xfrm>
            <a:off x="6217920" y="2423160"/>
            <a:ext cx="5486400" cy="1737360"/>
          </a:xfrm>
          <a:prstGeom prst="roundRect">
            <a:avLst>
              <a:gd name="adj" fmla="val 4211"/>
            </a:avLst>
          </a:prstGeom>
          <a:solidFill>
            <a:srgbClr val="131826"/>
          </a:solidFill>
          <a:ln w="6350">
            <a:solidFill>
              <a:srgbClr val="1F2A3F"/>
            </a:solidFill>
            <a:prstDash val="solid"/>
          </a:ln>
        </p:spPr>
      </p:sp>
      <p:sp>
        <p:nvSpPr>
          <p:cNvPr id="12" name="Text 10"/>
          <p:cNvSpPr/>
          <p:nvPr/>
        </p:nvSpPr>
        <p:spPr>
          <a:xfrm>
            <a:off x="6446520" y="2560320"/>
            <a:ext cx="5029200" cy="274320"/>
          </a:xfrm>
          <a:prstGeom prst="rect">
            <a:avLst/>
          </a:prstGeom>
          <a:noFill/>
          <a:ln/>
        </p:spPr>
        <p:txBody>
          <a:bodyPr wrap="square" rtlCol="0" anchor="ctr"/>
          <a:lstStyle/>
          <a:p>
            <a:pPr marL="0" indent="0">
              <a:buNone/>
            </a:pPr>
            <a:r>
              <a:rPr lang="en-US" sz="1100" b="1" kern="0" spc="150" dirty="0">
                <a:solidFill>
                  <a:srgbClr val="10B981"/>
                </a:solidFill>
                <a:latin typeface="Calibri" pitchFamily="34" charset="0"/>
                <a:ea typeface="Calibri" pitchFamily="34" charset="-122"/>
                <a:cs typeface="Calibri" pitchFamily="34" charset="-120"/>
              </a:rPr>
              <a:t>POSITION FLAGS (6)</a:t>
            </a:r>
            <a:endParaRPr lang="en-US" sz="1100" dirty="0"/>
          </a:p>
        </p:txBody>
      </p:sp>
      <p:sp>
        <p:nvSpPr>
          <p:cNvPr id="13" name="Text 11"/>
          <p:cNvSpPr/>
          <p:nvPr/>
        </p:nvSpPr>
        <p:spPr>
          <a:xfrm>
            <a:off x="6537960" y="2880360"/>
            <a:ext cx="5029200" cy="914400"/>
          </a:xfrm>
          <a:prstGeom prst="rect">
            <a:avLst/>
          </a:prstGeom>
          <a:noFill/>
          <a:ln/>
        </p:spPr>
        <p:txBody>
          <a:bodyPr wrap="square" rtlCol="0" anchor="ctr"/>
          <a:lstStyle/>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IsWeekend</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IsMonthStart/Mid/End</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IsYearStart/End</a:t>
            </a:r>
            <a:endParaRPr lang="en-US" sz="1100" dirty="0"/>
          </a:p>
        </p:txBody>
      </p:sp>
      <p:sp>
        <p:nvSpPr>
          <p:cNvPr id="14" name="Text 12"/>
          <p:cNvSpPr/>
          <p:nvPr/>
        </p:nvSpPr>
        <p:spPr>
          <a:xfrm>
            <a:off x="6446520" y="3840480"/>
            <a:ext cx="5029200" cy="274320"/>
          </a:xfrm>
          <a:prstGeom prst="rect">
            <a:avLst/>
          </a:prstGeom>
          <a:noFill/>
          <a:ln/>
        </p:spPr>
        <p:txBody>
          <a:bodyPr wrap="square" lIns="0" tIns="0" rIns="0" bIns="0" rtlCol="0" anchor="ctr"/>
          <a:lstStyle/>
          <a:p>
            <a:pPr marL="0" indent="0">
              <a:buNone/>
            </a:pPr>
            <a:r>
              <a:rPr lang="en-US" sz="1000" i="1" dirty="0">
                <a:solidFill>
                  <a:srgbClr val="9CA8C2"/>
                </a:solidFill>
                <a:latin typeface="Calibri" pitchFamily="34" charset="0"/>
                <a:ea typeface="Calibri" pitchFamily="34" charset="-122"/>
                <a:cs typeface="Calibri" pitchFamily="34" charset="-120"/>
              </a:rPr>
              <a:t>Where we are in the calendar cycle</a:t>
            </a:r>
            <a:endParaRPr lang="en-US" sz="1000" dirty="0"/>
          </a:p>
        </p:txBody>
      </p:sp>
      <p:sp>
        <p:nvSpPr>
          <p:cNvPr id="15" name="Shape 13"/>
          <p:cNvSpPr/>
          <p:nvPr/>
        </p:nvSpPr>
        <p:spPr>
          <a:xfrm>
            <a:off x="457200" y="4297680"/>
            <a:ext cx="5486400" cy="1737360"/>
          </a:xfrm>
          <a:prstGeom prst="roundRect">
            <a:avLst>
              <a:gd name="adj" fmla="val 4211"/>
            </a:avLst>
          </a:prstGeom>
          <a:solidFill>
            <a:srgbClr val="131826"/>
          </a:solidFill>
          <a:ln w="6350">
            <a:solidFill>
              <a:srgbClr val="1F2A3F"/>
            </a:solidFill>
            <a:prstDash val="solid"/>
          </a:ln>
        </p:spPr>
      </p:sp>
      <p:sp>
        <p:nvSpPr>
          <p:cNvPr id="16" name="Text 14"/>
          <p:cNvSpPr/>
          <p:nvPr/>
        </p:nvSpPr>
        <p:spPr>
          <a:xfrm>
            <a:off x="685800" y="4434840"/>
            <a:ext cx="5029200" cy="274320"/>
          </a:xfrm>
          <a:prstGeom prst="rect">
            <a:avLst/>
          </a:prstGeom>
          <a:noFill/>
          <a:ln/>
        </p:spPr>
        <p:txBody>
          <a:bodyPr wrap="square" rtlCol="0" anchor="ctr"/>
          <a:lstStyle/>
          <a:p>
            <a:pPr marL="0" indent="0">
              <a:buNone/>
            </a:pPr>
            <a:r>
              <a:rPr lang="en-US" sz="1100" b="1" kern="0" spc="150" dirty="0">
                <a:solidFill>
                  <a:srgbClr val="F59E0B"/>
                </a:solidFill>
                <a:latin typeface="Calibri" pitchFamily="34" charset="0"/>
                <a:ea typeface="Calibri" pitchFamily="34" charset="-122"/>
                <a:cs typeface="Calibri" pitchFamily="34" charset="-120"/>
              </a:rPr>
              <a:t>HOLIDAY DISTANCE (3)</a:t>
            </a:r>
            <a:endParaRPr lang="en-US" sz="1100" dirty="0"/>
          </a:p>
        </p:txBody>
      </p:sp>
      <p:sp>
        <p:nvSpPr>
          <p:cNvPr id="17" name="Text 15"/>
          <p:cNvSpPr/>
          <p:nvPr/>
        </p:nvSpPr>
        <p:spPr>
          <a:xfrm>
            <a:off x="777240" y="4754880"/>
            <a:ext cx="5029200" cy="914400"/>
          </a:xfrm>
          <a:prstGeom prst="rect">
            <a:avLst/>
          </a:prstGeom>
          <a:noFill/>
          <a:ln/>
        </p:spPr>
        <p:txBody>
          <a:bodyPr wrap="square" rtlCol="0" anchor="ctr"/>
          <a:lstStyle/>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DaysToChristmas</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DaysToEaster</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DaysAfterNewYear</a:t>
            </a:r>
            <a:endParaRPr lang="en-US" sz="1100" dirty="0"/>
          </a:p>
        </p:txBody>
      </p:sp>
      <p:sp>
        <p:nvSpPr>
          <p:cNvPr id="18" name="Text 16"/>
          <p:cNvSpPr/>
          <p:nvPr/>
        </p:nvSpPr>
        <p:spPr>
          <a:xfrm>
            <a:off x="685800" y="5715000"/>
            <a:ext cx="5029200" cy="274320"/>
          </a:xfrm>
          <a:prstGeom prst="rect">
            <a:avLst/>
          </a:prstGeom>
          <a:noFill/>
          <a:ln/>
        </p:spPr>
        <p:txBody>
          <a:bodyPr wrap="square" lIns="0" tIns="0" rIns="0" bIns="0" rtlCol="0" anchor="ctr"/>
          <a:lstStyle/>
          <a:p>
            <a:pPr marL="0" indent="0">
              <a:buNone/>
            </a:pPr>
            <a:r>
              <a:rPr lang="en-US" sz="1000" i="1" dirty="0">
                <a:solidFill>
                  <a:srgbClr val="9CA8C2"/>
                </a:solidFill>
                <a:latin typeface="Calibri" pitchFamily="34" charset="0"/>
                <a:ea typeface="Calibri" pitchFamily="34" charset="-122"/>
                <a:cs typeface="Calibri" pitchFamily="34" charset="-120"/>
              </a:rPr>
              <a:t>Christmas crush, Easter prep, post-holiday slowdown</a:t>
            </a:r>
            <a:endParaRPr lang="en-US" sz="1000" dirty="0"/>
          </a:p>
        </p:txBody>
      </p:sp>
      <p:sp>
        <p:nvSpPr>
          <p:cNvPr id="19" name="Shape 17"/>
          <p:cNvSpPr/>
          <p:nvPr/>
        </p:nvSpPr>
        <p:spPr>
          <a:xfrm>
            <a:off x="6217920" y="4297680"/>
            <a:ext cx="5486400" cy="1737360"/>
          </a:xfrm>
          <a:prstGeom prst="roundRect">
            <a:avLst>
              <a:gd name="adj" fmla="val 4211"/>
            </a:avLst>
          </a:prstGeom>
          <a:solidFill>
            <a:srgbClr val="131826"/>
          </a:solidFill>
          <a:ln w="6350">
            <a:solidFill>
              <a:srgbClr val="1F2A3F"/>
            </a:solidFill>
            <a:prstDash val="solid"/>
          </a:ln>
        </p:spPr>
      </p:sp>
      <p:sp>
        <p:nvSpPr>
          <p:cNvPr id="20" name="Text 18"/>
          <p:cNvSpPr/>
          <p:nvPr/>
        </p:nvSpPr>
        <p:spPr>
          <a:xfrm>
            <a:off x="6446520" y="4434840"/>
            <a:ext cx="5029200" cy="274320"/>
          </a:xfrm>
          <a:prstGeom prst="rect">
            <a:avLst/>
          </a:prstGeom>
          <a:noFill/>
          <a:ln/>
        </p:spPr>
        <p:txBody>
          <a:bodyPr wrap="square" rtlCol="0" anchor="ctr"/>
          <a:lstStyle/>
          <a:p>
            <a:pPr marL="0" indent="0">
              <a:buNone/>
            </a:pPr>
            <a:r>
              <a:rPr lang="en-US" sz="1100" b="1" kern="0" spc="150" dirty="0">
                <a:solidFill>
                  <a:srgbClr val="3B82F6"/>
                </a:solidFill>
                <a:latin typeface="Calibri" pitchFamily="34" charset="0"/>
                <a:ea typeface="Calibri" pitchFamily="34" charset="-122"/>
                <a:cs typeface="Calibri" pitchFamily="34" charset="-120"/>
              </a:rPr>
              <a:t>BUSINESS LOGIC (2)</a:t>
            </a:r>
            <a:endParaRPr lang="en-US" sz="1100" dirty="0"/>
          </a:p>
        </p:txBody>
      </p:sp>
      <p:sp>
        <p:nvSpPr>
          <p:cNvPr id="21" name="Text 19"/>
          <p:cNvSpPr/>
          <p:nvPr/>
        </p:nvSpPr>
        <p:spPr>
          <a:xfrm>
            <a:off x="6537960" y="4754880"/>
            <a:ext cx="5029200" cy="914400"/>
          </a:xfrm>
          <a:prstGeom prst="rect">
            <a:avLst/>
          </a:prstGeom>
          <a:noFill/>
          <a:ln/>
        </p:spPr>
        <p:txBody>
          <a:bodyPr wrap="square" rtlCol="0" anchor="ctr"/>
          <a:lstStyle/>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Promo2Active flag</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CompetitionOpenMonths</a:t>
            </a:r>
            <a:endParaRPr lang="en-US" sz="1100" dirty="0"/>
          </a:p>
        </p:txBody>
      </p:sp>
      <p:sp>
        <p:nvSpPr>
          <p:cNvPr id="22" name="Text 20"/>
          <p:cNvSpPr/>
          <p:nvPr/>
        </p:nvSpPr>
        <p:spPr>
          <a:xfrm>
            <a:off x="6446520" y="5715000"/>
            <a:ext cx="5029200" cy="274320"/>
          </a:xfrm>
          <a:prstGeom prst="rect">
            <a:avLst/>
          </a:prstGeom>
          <a:noFill/>
          <a:ln/>
        </p:spPr>
        <p:txBody>
          <a:bodyPr wrap="square" lIns="0" tIns="0" rIns="0" bIns="0" rtlCol="0" anchor="ctr"/>
          <a:lstStyle/>
          <a:p>
            <a:pPr marL="0" indent="0">
              <a:buNone/>
            </a:pPr>
            <a:r>
              <a:rPr lang="en-US" sz="1000" i="1" dirty="0">
                <a:solidFill>
                  <a:srgbClr val="9CA8C2"/>
                </a:solidFill>
                <a:latin typeface="Calibri" pitchFamily="34" charset="0"/>
                <a:ea typeface="Calibri" pitchFamily="34" charset="-122"/>
                <a:cs typeface="Calibri" pitchFamily="34" charset="-120"/>
              </a:rPr>
              <a:t>Domain-specific signals only humans could derive</a:t>
            </a:r>
            <a:endParaRPr lang="en-US" sz="1000" dirty="0"/>
          </a:p>
        </p:txBody>
      </p:sp>
      <p:sp>
        <p:nvSpPr>
          <p:cNvPr id="23" name="Shape 21"/>
          <p:cNvSpPr/>
          <p:nvPr/>
        </p:nvSpPr>
        <p:spPr>
          <a:xfrm>
            <a:off x="457200" y="6217920"/>
            <a:ext cx="11247120" cy="274320"/>
          </a:xfrm>
          <a:prstGeom prst="roundRect">
            <a:avLst>
              <a:gd name="adj" fmla="val 26667"/>
            </a:avLst>
          </a:prstGeom>
          <a:solidFill>
            <a:srgbClr val="131826"/>
          </a:solidFill>
          <a:ln w="6350">
            <a:solidFill>
              <a:srgbClr val="1F2A3F"/>
            </a:solidFill>
            <a:prstDash val="solid"/>
          </a:ln>
        </p:spPr>
      </p:sp>
      <p:sp>
        <p:nvSpPr>
          <p:cNvPr id="24" name="Text 22"/>
          <p:cNvSpPr/>
          <p:nvPr/>
        </p:nvSpPr>
        <p:spPr>
          <a:xfrm>
            <a:off x="731520" y="6217920"/>
            <a:ext cx="10698480" cy="274320"/>
          </a:xfrm>
          <a:prstGeom prst="rect">
            <a:avLst/>
          </a:prstGeom>
          <a:noFill/>
          <a:ln/>
        </p:spPr>
        <p:txBody>
          <a:bodyPr wrap="square" rtlCol="0" anchor="ctr"/>
          <a:lstStyle/>
          <a:p>
            <a:pPr marL="0" indent="0">
              <a:buNone/>
            </a:pPr>
            <a:r>
              <a:rPr lang="en-US" sz="1100" i="1" dirty="0">
                <a:solidFill>
                  <a:srgbClr val="E8EAF0"/>
                </a:solidFill>
                <a:latin typeface="Calibri" pitchFamily="34" charset="0"/>
                <a:ea typeface="Calibri" pitchFamily="34" charset="-122"/>
                <a:cs typeface="Calibri" pitchFamily="34" charset="-120"/>
              </a:rPr>
              <a:t>Implemented as a custom FeatureEngineer class that extends sklearn's BaseEstimator and TransformerMixin — plugs into any Pipeline.</a:t>
            </a:r>
            <a:endParaRPr lang="en-US" sz="1100" dirty="0"/>
          </a:p>
        </p:txBody>
      </p:sp>
      <p:sp>
        <p:nvSpPr>
          <p:cNvPr id="25" name="Text 23"/>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26" name="Text 24"/>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The sklearn Pipeline</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Why we chain four steps into one reusable object</a:t>
            </a:r>
            <a:endParaRPr lang="en-US" sz="1300" dirty="0"/>
          </a:p>
        </p:txBody>
      </p:sp>
      <p:sp>
        <p:nvSpPr>
          <p:cNvPr id="4" name="Text 2"/>
          <p:cNvSpPr/>
          <p:nvPr/>
        </p:nvSpPr>
        <p:spPr>
          <a:xfrm>
            <a:off x="457200" y="1325880"/>
            <a:ext cx="11247120" cy="77724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Instead of running data cleaning, scaling, and modeling as separate scripts, we chain them into a single sklearn Pipeline. The pipeline behaves like one model: call .fit() to train everything, call .predict() to generate forecasts. This pattern is the industry standard for production ML.</a:t>
            </a:r>
            <a:endParaRPr lang="en-US" sz="1200" dirty="0"/>
          </a:p>
        </p:txBody>
      </p:sp>
      <p:sp>
        <p:nvSpPr>
          <p:cNvPr id="5" name="Shape 3"/>
          <p:cNvSpPr/>
          <p:nvPr/>
        </p:nvSpPr>
        <p:spPr>
          <a:xfrm>
            <a:off x="457200" y="2377440"/>
            <a:ext cx="2103120" cy="1188720"/>
          </a:xfrm>
          <a:prstGeom prst="roundRect">
            <a:avLst>
              <a:gd name="adj" fmla="val 6154"/>
            </a:avLst>
          </a:prstGeom>
          <a:solidFill>
            <a:srgbClr val="131826"/>
          </a:solidFill>
          <a:ln w="6350">
            <a:solidFill>
              <a:srgbClr val="1F2A3F"/>
            </a:solidFill>
            <a:prstDash val="solid"/>
          </a:ln>
        </p:spPr>
      </p:sp>
      <p:sp>
        <p:nvSpPr>
          <p:cNvPr id="6" name="Text 4"/>
          <p:cNvSpPr/>
          <p:nvPr/>
        </p:nvSpPr>
        <p:spPr>
          <a:xfrm>
            <a:off x="594360" y="2514600"/>
            <a:ext cx="1828800" cy="365760"/>
          </a:xfrm>
          <a:prstGeom prst="rect">
            <a:avLst/>
          </a:prstGeom>
          <a:noFill/>
          <a:ln/>
        </p:spPr>
        <p:txBody>
          <a:bodyPr wrap="square" lIns="0" tIns="0" rIns="0" bIns="0" rtlCol="0" anchor="ctr"/>
          <a:lstStyle/>
          <a:p>
            <a:pPr marL="0" indent="0" algn="ctr">
              <a:buNone/>
            </a:pPr>
            <a:r>
              <a:rPr lang="en-US" sz="1300" b="1" dirty="0">
                <a:solidFill>
                  <a:srgbClr val="9CA8C2"/>
                </a:solidFill>
                <a:latin typeface="Calibri" pitchFamily="34" charset="0"/>
                <a:ea typeface="Calibri" pitchFamily="34" charset="-122"/>
                <a:cs typeface="Calibri" pitchFamily="34" charset="-120"/>
              </a:rPr>
              <a:t>Raw Data</a:t>
            </a:r>
            <a:endParaRPr lang="en-US" sz="1300" dirty="0"/>
          </a:p>
        </p:txBody>
      </p:sp>
      <p:sp>
        <p:nvSpPr>
          <p:cNvPr id="7" name="Text 5"/>
          <p:cNvSpPr/>
          <p:nvPr/>
        </p:nvSpPr>
        <p:spPr>
          <a:xfrm>
            <a:off x="594360" y="2926080"/>
            <a:ext cx="1828800" cy="502920"/>
          </a:xfrm>
          <a:prstGeom prst="rect">
            <a:avLst/>
          </a:prstGeom>
          <a:noFill/>
          <a:ln/>
        </p:spPr>
        <p:txBody>
          <a:bodyPr wrap="square" lIns="0" tIns="0" rIns="0" bIns="0" rtlCol="0" anchor="ctr"/>
          <a:lstStyle/>
          <a:p>
            <a:pPr marL="0" indent="0" algn="ctr">
              <a:buNone/>
            </a:pPr>
            <a:r>
              <a:rPr lang="en-US" sz="1100" dirty="0">
                <a:solidFill>
                  <a:srgbClr val="9CA8C2"/>
                </a:solidFill>
                <a:latin typeface="Calibri" pitchFamily="34" charset="0"/>
                <a:ea typeface="Calibri" pitchFamily="34" charset="-122"/>
                <a:cs typeface="Calibri" pitchFamily="34" charset="-120"/>
              </a:rPr>
              <a:t>1M rows × 18 cols</a:t>
            </a:r>
            <a:endParaRPr lang="en-US" sz="1100" dirty="0"/>
          </a:p>
        </p:txBody>
      </p:sp>
      <p:sp>
        <p:nvSpPr>
          <p:cNvPr id="8" name="Shape 6"/>
          <p:cNvSpPr/>
          <p:nvPr/>
        </p:nvSpPr>
        <p:spPr>
          <a:xfrm rot="1800000">
            <a:off x="2606040" y="2880360"/>
            <a:ext cx="182880" cy="182880"/>
          </a:xfrm>
          <a:prstGeom prst="rtTriangle">
            <a:avLst/>
          </a:prstGeom>
          <a:solidFill>
            <a:srgbClr val="3B82F6"/>
          </a:solidFill>
          <a:ln w="12700">
            <a:solidFill>
              <a:srgbClr val="3B82F6"/>
            </a:solidFill>
            <a:prstDash val="solid"/>
          </a:ln>
        </p:spPr>
      </p:sp>
      <p:sp>
        <p:nvSpPr>
          <p:cNvPr id="9" name="Shape 7"/>
          <p:cNvSpPr/>
          <p:nvPr/>
        </p:nvSpPr>
        <p:spPr>
          <a:xfrm>
            <a:off x="2834640" y="2377440"/>
            <a:ext cx="2103120" cy="1188720"/>
          </a:xfrm>
          <a:prstGeom prst="roundRect">
            <a:avLst>
              <a:gd name="adj" fmla="val 6154"/>
            </a:avLst>
          </a:prstGeom>
          <a:solidFill>
            <a:srgbClr val="131826"/>
          </a:solidFill>
          <a:ln w="6350">
            <a:solidFill>
              <a:srgbClr val="1F2A3F"/>
            </a:solidFill>
            <a:prstDash val="solid"/>
          </a:ln>
        </p:spPr>
      </p:sp>
      <p:sp>
        <p:nvSpPr>
          <p:cNvPr id="10" name="Text 8"/>
          <p:cNvSpPr/>
          <p:nvPr/>
        </p:nvSpPr>
        <p:spPr>
          <a:xfrm>
            <a:off x="2971800" y="2514600"/>
            <a:ext cx="1828800" cy="365760"/>
          </a:xfrm>
          <a:prstGeom prst="rect">
            <a:avLst/>
          </a:prstGeom>
          <a:noFill/>
          <a:ln/>
        </p:spPr>
        <p:txBody>
          <a:bodyPr wrap="square" lIns="0" tIns="0" rIns="0" bIns="0"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FeatureEngineer</a:t>
            </a:r>
            <a:endParaRPr lang="en-US" sz="1300" dirty="0"/>
          </a:p>
        </p:txBody>
      </p:sp>
      <p:sp>
        <p:nvSpPr>
          <p:cNvPr id="11" name="Text 9"/>
          <p:cNvSpPr/>
          <p:nvPr/>
        </p:nvSpPr>
        <p:spPr>
          <a:xfrm>
            <a:off x="2971800" y="2926080"/>
            <a:ext cx="1828800" cy="502920"/>
          </a:xfrm>
          <a:prstGeom prst="rect">
            <a:avLst/>
          </a:prstGeom>
          <a:noFill/>
          <a:ln/>
        </p:spPr>
        <p:txBody>
          <a:bodyPr wrap="square" lIns="0" tIns="0" rIns="0" bIns="0" rtlCol="0" anchor="ctr"/>
          <a:lstStyle/>
          <a:p>
            <a:pPr marL="0" indent="0" algn="ctr">
              <a:buNone/>
            </a:pPr>
            <a:r>
              <a:rPr lang="en-US" sz="1100" dirty="0">
                <a:solidFill>
                  <a:srgbClr val="9CA8C2"/>
                </a:solidFill>
                <a:latin typeface="Calibri" pitchFamily="34" charset="0"/>
                <a:ea typeface="Calibri" pitchFamily="34" charset="-122"/>
                <a:cs typeface="Calibri" pitchFamily="34" charset="-120"/>
              </a:rPr>
              <a:t>+17 features</a:t>
            </a:r>
            <a:endParaRPr lang="en-US" sz="1100" dirty="0"/>
          </a:p>
        </p:txBody>
      </p:sp>
      <p:sp>
        <p:nvSpPr>
          <p:cNvPr id="12" name="Shape 10"/>
          <p:cNvSpPr/>
          <p:nvPr/>
        </p:nvSpPr>
        <p:spPr>
          <a:xfrm rot="1800000">
            <a:off x="4983480" y="2880360"/>
            <a:ext cx="182880" cy="182880"/>
          </a:xfrm>
          <a:prstGeom prst="rtTriangle">
            <a:avLst/>
          </a:prstGeom>
          <a:solidFill>
            <a:srgbClr val="3B82F6"/>
          </a:solidFill>
          <a:ln w="12700">
            <a:solidFill>
              <a:srgbClr val="3B82F6"/>
            </a:solidFill>
            <a:prstDash val="solid"/>
          </a:ln>
        </p:spPr>
      </p:sp>
      <p:sp>
        <p:nvSpPr>
          <p:cNvPr id="13" name="Shape 11"/>
          <p:cNvSpPr/>
          <p:nvPr/>
        </p:nvSpPr>
        <p:spPr>
          <a:xfrm>
            <a:off x="5212080" y="2377440"/>
            <a:ext cx="2103120" cy="1188720"/>
          </a:xfrm>
          <a:prstGeom prst="roundRect">
            <a:avLst>
              <a:gd name="adj" fmla="val 6154"/>
            </a:avLst>
          </a:prstGeom>
          <a:solidFill>
            <a:srgbClr val="131826"/>
          </a:solidFill>
          <a:ln w="6350">
            <a:solidFill>
              <a:srgbClr val="1F2A3F"/>
            </a:solidFill>
            <a:prstDash val="solid"/>
          </a:ln>
        </p:spPr>
      </p:sp>
      <p:sp>
        <p:nvSpPr>
          <p:cNvPr id="14" name="Text 12"/>
          <p:cNvSpPr/>
          <p:nvPr/>
        </p:nvSpPr>
        <p:spPr>
          <a:xfrm>
            <a:off x="5349240" y="2514600"/>
            <a:ext cx="1828800" cy="365760"/>
          </a:xfrm>
          <a:prstGeom prst="rect">
            <a:avLst/>
          </a:prstGeom>
          <a:noFill/>
          <a:ln/>
        </p:spPr>
        <p:txBody>
          <a:bodyPr wrap="square" lIns="0" tIns="0" rIns="0" bIns="0"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SimpleImputer</a:t>
            </a:r>
            <a:endParaRPr lang="en-US" sz="1300" dirty="0"/>
          </a:p>
        </p:txBody>
      </p:sp>
      <p:sp>
        <p:nvSpPr>
          <p:cNvPr id="15" name="Text 13"/>
          <p:cNvSpPr/>
          <p:nvPr/>
        </p:nvSpPr>
        <p:spPr>
          <a:xfrm>
            <a:off x="5349240" y="2926080"/>
            <a:ext cx="1828800" cy="502920"/>
          </a:xfrm>
          <a:prstGeom prst="rect">
            <a:avLst/>
          </a:prstGeom>
          <a:noFill/>
          <a:ln/>
        </p:spPr>
        <p:txBody>
          <a:bodyPr wrap="square" lIns="0" tIns="0" rIns="0" bIns="0" rtlCol="0" anchor="ctr"/>
          <a:lstStyle/>
          <a:p>
            <a:pPr marL="0" indent="0" algn="ctr">
              <a:buNone/>
            </a:pPr>
            <a:r>
              <a:rPr lang="en-US" sz="1100" dirty="0">
                <a:solidFill>
                  <a:srgbClr val="9CA8C2"/>
                </a:solidFill>
                <a:latin typeface="Calibri" pitchFamily="34" charset="0"/>
                <a:ea typeface="Calibri" pitchFamily="34" charset="-122"/>
                <a:cs typeface="Calibri" pitchFamily="34" charset="-120"/>
              </a:rPr>
              <a:t>median fill</a:t>
            </a:r>
            <a:endParaRPr lang="en-US" sz="1100" dirty="0"/>
          </a:p>
        </p:txBody>
      </p:sp>
      <p:sp>
        <p:nvSpPr>
          <p:cNvPr id="16" name="Shape 14"/>
          <p:cNvSpPr/>
          <p:nvPr/>
        </p:nvSpPr>
        <p:spPr>
          <a:xfrm rot="1800000">
            <a:off x="7360920" y="2880360"/>
            <a:ext cx="182880" cy="182880"/>
          </a:xfrm>
          <a:prstGeom prst="rtTriangle">
            <a:avLst/>
          </a:prstGeom>
          <a:solidFill>
            <a:srgbClr val="3B82F6"/>
          </a:solidFill>
          <a:ln w="12700">
            <a:solidFill>
              <a:srgbClr val="3B82F6"/>
            </a:solidFill>
            <a:prstDash val="solid"/>
          </a:ln>
        </p:spPr>
      </p:sp>
      <p:sp>
        <p:nvSpPr>
          <p:cNvPr id="17" name="Shape 15"/>
          <p:cNvSpPr/>
          <p:nvPr/>
        </p:nvSpPr>
        <p:spPr>
          <a:xfrm>
            <a:off x="7589520" y="2377440"/>
            <a:ext cx="2103120" cy="1188720"/>
          </a:xfrm>
          <a:prstGeom prst="roundRect">
            <a:avLst>
              <a:gd name="adj" fmla="val 6154"/>
            </a:avLst>
          </a:prstGeom>
          <a:solidFill>
            <a:srgbClr val="131826"/>
          </a:solidFill>
          <a:ln w="6350">
            <a:solidFill>
              <a:srgbClr val="1F2A3F"/>
            </a:solidFill>
            <a:prstDash val="solid"/>
          </a:ln>
        </p:spPr>
      </p:sp>
      <p:sp>
        <p:nvSpPr>
          <p:cNvPr id="18" name="Text 16"/>
          <p:cNvSpPr/>
          <p:nvPr/>
        </p:nvSpPr>
        <p:spPr>
          <a:xfrm>
            <a:off x="7726680" y="2514600"/>
            <a:ext cx="1828800" cy="365760"/>
          </a:xfrm>
          <a:prstGeom prst="rect">
            <a:avLst/>
          </a:prstGeom>
          <a:noFill/>
          <a:ln/>
        </p:spPr>
        <p:txBody>
          <a:bodyPr wrap="square" lIns="0" tIns="0" rIns="0" bIns="0" rtlCol="0" anchor="ctr"/>
          <a:lstStyle/>
          <a:p>
            <a:pPr marL="0" indent="0" algn="ctr">
              <a:buNone/>
            </a:pPr>
            <a:r>
              <a:rPr lang="en-US" sz="1300" b="1" dirty="0">
                <a:solidFill>
                  <a:srgbClr val="3B82F6"/>
                </a:solidFill>
                <a:latin typeface="Calibri" pitchFamily="34" charset="0"/>
                <a:ea typeface="Calibri" pitchFamily="34" charset="-122"/>
                <a:cs typeface="Calibri" pitchFamily="34" charset="-120"/>
              </a:rPr>
              <a:t>StandardScaler</a:t>
            </a:r>
            <a:endParaRPr lang="en-US" sz="1300" dirty="0"/>
          </a:p>
        </p:txBody>
      </p:sp>
      <p:sp>
        <p:nvSpPr>
          <p:cNvPr id="19" name="Text 17"/>
          <p:cNvSpPr/>
          <p:nvPr/>
        </p:nvSpPr>
        <p:spPr>
          <a:xfrm>
            <a:off x="7726680" y="2926080"/>
            <a:ext cx="1828800" cy="502920"/>
          </a:xfrm>
          <a:prstGeom prst="rect">
            <a:avLst/>
          </a:prstGeom>
          <a:noFill/>
          <a:ln/>
        </p:spPr>
        <p:txBody>
          <a:bodyPr wrap="square" lIns="0" tIns="0" rIns="0" bIns="0" rtlCol="0" anchor="ctr"/>
          <a:lstStyle/>
          <a:p>
            <a:pPr marL="0" indent="0" algn="ctr">
              <a:buNone/>
            </a:pPr>
            <a:r>
              <a:rPr lang="en-US" sz="1100" dirty="0">
                <a:solidFill>
                  <a:srgbClr val="9CA8C2"/>
                </a:solidFill>
                <a:latin typeface="Calibri" pitchFamily="34" charset="0"/>
                <a:ea typeface="Calibri" pitchFamily="34" charset="-122"/>
                <a:cs typeface="Calibri" pitchFamily="34" charset="-120"/>
              </a:rPr>
              <a:t>normalize</a:t>
            </a:r>
            <a:endParaRPr lang="en-US" sz="1100" dirty="0"/>
          </a:p>
        </p:txBody>
      </p:sp>
      <p:sp>
        <p:nvSpPr>
          <p:cNvPr id="20" name="Shape 18"/>
          <p:cNvSpPr/>
          <p:nvPr/>
        </p:nvSpPr>
        <p:spPr>
          <a:xfrm rot="1800000">
            <a:off x="9738360" y="2880360"/>
            <a:ext cx="182880" cy="182880"/>
          </a:xfrm>
          <a:prstGeom prst="rtTriangle">
            <a:avLst/>
          </a:prstGeom>
          <a:solidFill>
            <a:srgbClr val="3B82F6"/>
          </a:solidFill>
          <a:ln w="12700">
            <a:solidFill>
              <a:srgbClr val="3B82F6"/>
            </a:solidFill>
            <a:prstDash val="solid"/>
          </a:ln>
        </p:spPr>
      </p:sp>
      <p:sp>
        <p:nvSpPr>
          <p:cNvPr id="21" name="Shape 19"/>
          <p:cNvSpPr/>
          <p:nvPr/>
        </p:nvSpPr>
        <p:spPr>
          <a:xfrm>
            <a:off x="9966960" y="2377440"/>
            <a:ext cx="2103120" cy="1188720"/>
          </a:xfrm>
          <a:prstGeom prst="roundRect">
            <a:avLst>
              <a:gd name="adj" fmla="val 6154"/>
            </a:avLst>
          </a:prstGeom>
          <a:solidFill>
            <a:srgbClr val="131826"/>
          </a:solidFill>
          <a:ln w="6350">
            <a:solidFill>
              <a:srgbClr val="1F2A3F"/>
            </a:solidFill>
            <a:prstDash val="solid"/>
          </a:ln>
        </p:spPr>
      </p:sp>
      <p:sp>
        <p:nvSpPr>
          <p:cNvPr id="22" name="Text 20"/>
          <p:cNvSpPr/>
          <p:nvPr/>
        </p:nvSpPr>
        <p:spPr>
          <a:xfrm>
            <a:off x="10104120" y="2514600"/>
            <a:ext cx="1828800" cy="365760"/>
          </a:xfrm>
          <a:prstGeom prst="rect">
            <a:avLst/>
          </a:prstGeom>
          <a:noFill/>
          <a:ln/>
        </p:spPr>
        <p:txBody>
          <a:bodyPr wrap="square" lIns="0" tIns="0" rIns="0" bIns="0" rtlCol="0" anchor="ctr"/>
          <a:lstStyle/>
          <a:p>
            <a:pPr marL="0" indent="0" algn="ctr">
              <a:buNone/>
            </a:pPr>
            <a:r>
              <a:rPr lang="en-US" sz="1300" b="1" dirty="0">
                <a:solidFill>
                  <a:srgbClr val="10B981"/>
                </a:solidFill>
                <a:latin typeface="Calibri" pitchFamily="34" charset="0"/>
                <a:ea typeface="Calibri" pitchFamily="34" charset="-122"/>
                <a:cs typeface="Calibri" pitchFamily="34" charset="-120"/>
              </a:rPr>
              <a:t>Model</a:t>
            </a:r>
            <a:endParaRPr lang="en-US" sz="1300" dirty="0"/>
          </a:p>
        </p:txBody>
      </p:sp>
      <p:sp>
        <p:nvSpPr>
          <p:cNvPr id="23" name="Text 21"/>
          <p:cNvSpPr/>
          <p:nvPr/>
        </p:nvSpPr>
        <p:spPr>
          <a:xfrm>
            <a:off x="10104120" y="2926080"/>
            <a:ext cx="1828800" cy="502920"/>
          </a:xfrm>
          <a:prstGeom prst="rect">
            <a:avLst/>
          </a:prstGeom>
          <a:noFill/>
          <a:ln/>
        </p:spPr>
        <p:txBody>
          <a:bodyPr wrap="square" lIns="0" tIns="0" rIns="0" bIns="0" rtlCol="0" anchor="ctr"/>
          <a:lstStyle/>
          <a:p>
            <a:pPr marL="0" indent="0" algn="ctr">
              <a:buNone/>
            </a:pPr>
            <a:r>
              <a:rPr lang="en-US" sz="1100" dirty="0">
                <a:solidFill>
                  <a:srgbClr val="9CA8C2"/>
                </a:solidFill>
                <a:latin typeface="Calibri" pitchFamily="34" charset="0"/>
                <a:ea typeface="Calibri" pitchFamily="34" charset="-122"/>
                <a:cs typeface="Calibri" pitchFamily="34" charset="-120"/>
              </a:rPr>
              <a:t>RF or GBM</a:t>
            </a:r>
            <a:endParaRPr lang="en-US" sz="1100" dirty="0"/>
          </a:p>
        </p:txBody>
      </p:sp>
      <p:sp>
        <p:nvSpPr>
          <p:cNvPr id="24" name="Shape 22"/>
          <p:cNvSpPr/>
          <p:nvPr/>
        </p:nvSpPr>
        <p:spPr>
          <a:xfrm>
            <a:off x="457200" y="3840480"/>
            <a:ext cx="3703320" cy="2331720"/>
          </a:xfrm>
          <a:prstGeom prst="roundRect">
            <a:avLst>
              <a:gd name="adj" fmla="val 3137"/>
            </a:avLst>
          </a:prstGeom>
          <a:solidFill>
            <a:srgbClr val="131826"/>
          </a:solidFill>
          <a:ln w="6350">
            <a:solidFill>
              <a:srgbClr val="1F2A3F"/>
            </a:solidFill>
            <a:prstDash val="solid"/>
          </a:ln>
        </p:spPr>
      </p:sp>
      <p:sp>
        <p:nvSpPr>
          <p:cNvPr id="25" name="Text 23"/>
          <p:cNvSpPr/>
          <p:nvPr/>
        </p:nvSpPr>
        <p:spPr>
          <a:xfrm>
            <a:off x="685800" y="4023360"/>
            <a:ext cx="3337560" cy="36576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No Data Leakage</a:t>
            </a:r>
            <a:endParaRPr lang="en-US" sz="1400" dirty="0"/>
          </a:p>
        </p:txBody>
      </p:sp>
      <p:sp>
        <p:nvSpPr>
          <p:cNvPr id="26" name="Text 24"/>
          <p:cNvSpPr/>
          <p:nvPr/>
        </p:nvSpPr>
        <p:spPr>
          <a:xfrm>
            <a:off x="685800" y="4434840"/>
            <a:ext cx="3337560" cy="1600200"/>
          </a:xfrm>
          <a:prstGeom prst="rect">
            <a:avLst/>
          </a:prstGeom>
          <a:noFill/>
          <a:ln/>
        </p:spPr>
        <p:txBody>
          <a:bodyPr wrap="square" lIns="0" tIns="0" rIns="0" bIns="0" rtlCol="0" anchor="ctr"/>
          <a:lstStyle/>
          <a:p>
            <a:pPr marL="0" indent="0">
              <a:buNone/>
            </a:pPr>
            <a:r>
              <a:rPr lang="en-US" sz="1100" dirty="0">
                <a:solidFill>
                  <a:srgbClr val="E8EAF0"/>
                </a:solidFill>
                <a:latin typeface="Calibri" pitchFamily="34" charset="0"/>
                <a:ea typeface="Calibri" pitchFamily="34" charset="-122"/>
                <a:cs typeface="Calibri" pitchFamily="34" charset="-120"/>
              </a:rPr>
              <a:t>The scaler learns its mean and standard deviation ONLY from training data. Validation rows never influence how scaling is applied. This guarantees our reported accuracy is honest — the same accuracy the model will deliver in production.</a:t>
            </a:r>
            <a:endParaRPr lang="en-US" sz="1100" dirty="0"/>
          </a:p>
        </p:txBody>
      </p:sp>
      <p:sp>
        <p:nvSpPr>
          <p:cNvPr id="27" name="Shape 25"/>
          <p:cNvSpPr/>
          <p:nvPr/>
        </p:nvSpPr>
        <p:spPr>
          <a:xfrm>
            <a:off x="4297680" y="3840480"/>
            <a:ext cx="3703320" cy="2331720"/>
          </a:xfrm>
          <a:prstGeom prst="roundRect">
            <a:avLst>
              <a:gd name="adj" fmla="val 3137"/>
            </a:avLst>
          </a:prstGeom>
          <a:solidFill>
            <a:srgbClr val="131826"/>
          </a:solidFill>
          <a:ln w="6350">
            <a:solidFill>
              <a:srgbClr val="1F2A3F"/>
            </a:solidFill>
            <a:prstDash val="solid"/>
          </a:ln>
        </p:spPr>
      </p:sp>
      <p:sp>
        <p:nvSpPr>
          <p:cNvPr id="28" name="Text 26"/>
          <p:cNvSpPr/>
          <p:nvPr/>
        </p:nvSpPr>
        <p:spPr>
          <a:xfrm>
            <a:off x="4526280" y="4023360"/>
            <a:ext cx="3337560" cy="36576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Reproducibility</a:t>
            </a:r>
            <a:endParaRPr lang="en-US" sz="1400" dirty="0"/>
          </a:p>
        </p:txBody>
      </p:sp>
      <p:sp>
        <p:nvSpPr>
          <p:cNvPr id="29" name="Text 27"/>
          <p:cNvSpPr/>
          <p:nvPr/>
        </p:nvSpPr>
        <p:spPr>
          <a:xfrm>
            <a:off x="4526280" y="4434840"/>
            <a:ext cx="3337560" cy="1600200"/>
          </a:xfrm>
          <a:prstGeom prst="rect">
            <a:avLst/>
          </a:prstGeom>
          <a:noFill/>
          <a:ln/>
        </p:spPr>
        <p:txBody>
          <a:bodyPr wrap="square" lIns="0" tIns="0" rIns="0" bIns="0" rtlCol="0" anchor="ctr"/>
          <a:lstStyle/>
          <a:p>
            <a:pPr marL="0" indent="0">
              <a:buNone/>
            </a:pPr>
            <a:r>
              <a:rPr lang="en-US" sz="1100" dirty="0">
                <a:solidFill>
                  <a:srgbClr val="E8EAF0"/>
                </a:solidFill>
                <a:latin typeface="Calibri" pitchFamily="34" charset="0"/>
                <a:ea typeface="Calibri" pitchFamily="34" charset="-122"/>
                <a:cs typeface="Calibri" pitchFamily="34" charset="-120"/>
              </a:rPr>
              <a:t>Same input → same output, every time. Set random_state=42 and you can rerun the entire pipeline and get identical results. Critical for debugging, regulatory compliance, and sharing reproducible research.</a:t>
            </a:r>
            <a:endParaRPr lang="en-US" sz="1100" dirty="0"/>
          </a:p>
        </p:txBody>
      </p:sp>
      <p:sp>
        <p:nvSpPr>
          <p:cNvPr id="30" name="Shape 28"/>
          <p:cNvSpPr/>
          <p:nvPr/>
        </p:nvSpPr>
        <p:spPr>
          <a:xfrm>
            <a:off x="8138160" y="3840480"/>
            <a:ext cx="3703320" cy="2331720"/>
          </a:xfrm>
          <a:prstGeom prst="roundRect">
            <a:avLst>
              <a:gd name="adj" fmla="val 3137"/>
            </a:avLst>
          </a:prstGeom>
          <a:solidFill>
            <a:srgbClr val="131826"/>
          </a:solidFill>
          <a:ln w="6350">
            <a:solidFill>
              <a:srgbClr val="1F2A3F"/>
            </a:solidFill>
            <a:prstDash val="solid"/>
          </a:ln>
        </p:spPr>
      </p:sp>
      <p:sp>
        <p:nvSpPr>
          <p:cNvPr id="31" name="Text 29"/>
          <p:cNvSpPr/>
          <p:nvPr/>
        </p:nvSpPr>
        <p:spPr>
          <a:xfrm>
            <a:off x="8366760" y="4023360"/>
            <a:ext cx="3337560" cy="36576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Easy Deployment</a:t>
            </a:r>
            <a:endParaRPr lang="en-US" sz="1400" dirty="0"/>
          </a:p>
        </p:txBody>
      </p:sp>
      <p:sp>
        <p:nvSpPr>
          <p:cNvPr id="32" name="Text 30"/>
          <p:cNvSpPr/>
          <p:nvPr/>
        </p:nvSpPr>
        <p:spPr>
          <a:xfrm>
            <a:off x="8366760" y="4434840"/>
            <a:ext cx="3337560" cy="1600200"/>
          </a:xfrm>
          <a:prstGeom prst="rect">
            <a:avLst/>
          </a:prstGeom>
          <a:noFill/>
          <a:ln/>
        </p:spPr>
        <p:txBody>
          <a:bodyPr wrap="square" lIns="0" tIns="0" rIns="0" bIns="0" rtlCol="0" anchor="ctr"/>
          <a:lstStyle/>
          <a:p>
            <a:pPr marL="0" indent="0">
              <a:buNone/>
            </a:pPr>
            <a:r>
              <a:rPr lang="en-US" sz="1100" dirty="0">
                <a:solidFill>
                  <a:srgbClr val="E8EAF0"/>
                </a:solidFill>
                <a:latin typeface="Calibri" pitchFamily="34" charset="0"/>
                <a:ea typeface="Calibri" pitchFamily="34" charset="-122"/>
                <a:cs typeface="Calibri" pitchFamily="34" charset="-120"/>
              </a:rPr>
              <a:t>We pickle ONE pipeline object. The Streamlit app loads it and can predict on raw CSV input — no need to recreate the cleaning, feature engineering, or scaling steps separately. Self-contained model.</a:t>
            </a:r>
            <a:endParaRPr lang="en-US" sz="1100" dirty="0"/>
          </a:p>
        </p:txBody>
      </p:sp>
      <p:sp>
        <p:nvSpPr>
          <p:cNvPr id="33" name="Text 31"/>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34" name="Text 32"/>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Choosing the Loss Function — RMSPE</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Why percentage error is the correct metric for this problem</a:t>
            </a:r>
            <a:endParaRPr lang="en-US" sz="1300" dirty="0"/>
          </a:p>
        </p:txBody>
      </p:sp>
      <p:sp>
        <p:nvSpPr>
          <p:cNvPr id="4" name="Shape 2"/>
          <p:cNvSpPr/>
          <p:nvPr/>
        </p:nvSpPr>
        <p:spPr>
          <a:xfrm>
            <a:off x="457200" y="1371600"/>
            <a:ext cx="11247120" cy="1371600"/>
          </a:xfrm>
          <a:prstGeom prst="roundRect">
            <a:avLst>
              <a:gd name="adj" fmla="val 5333"/>
            </a:avLst>
          </a:prstGeom>
          <a:solidFill>
            <a:srgbClr val="131826"/>
          </a:solidFill>
          <a:ln w="6350">
            <a:solidFill>
              <a:srgbClr val="1F2A3F"/>
            </a:solidFill>
            <a:prstDash val="solid"/>
          </a:ln>
        </p:spPr>
      </p:sp>
      <p:sp>
        <p:nvSpPr>
          <p:cNvPr id="5" name="Text 3"/>
          <p:cNvSpPr/>
          <p:nvPr/>
        </p:nvSpPr>
        <p:spPr>
          <a:xfrm>
            <a:off x="731520" y="1508760"/>
            <a:ext cx="10698480" cy="274320"/>
          </a:xfrm>
          <a:prstGeom prst="rect">
            <a:avLst/>
          </a:prstGeom>
          <a:noFill/>
          <a:ln/>
        </p:spPr>
        <p:txBody>
          <a:bodyPr wrap="square" rtlCol="0" anchor="ctr"/>
          <a:lstStyle/>
          <a:p>
            <a:pPr marL="0" indent="0">
              <a:buNone/>
            </a:pPr>
            <a:r>
              <a:rPr lang="en-US" sz="1100" b="1" kern="0" spc="200" dirty="0">
                <a:solidFill>
                  <a:srgbClr val="3B82F6"/>
                </a:solidFill>
                <a:latin typeface="Calibri" pitchFamily="34" charset="0"/>
                <a:ea typeface="Calibri" pitchFamily="34" charset="-122"/>
                <a:cs typeface="Calibri" pitchFamily="34" charset="-120"/>
              </a:rPr>
              <a:t>RMSPE — ROOT MEAN SQUARED PERCENTAGE ERROR</a:t>
            </a:r>
            <a:endParaRPr lang="en-US" sz="1100" dirty="0"/>
          </a:p>
        </p:txBody>
      </p:sp>
      <p:sp>
        <p:nvSpPr>
          <p:cNvPr id="6" name="Text 4"/>
          <p:cNvSpPr/>
          <p:nvPr/>
        </p:nvSpPr>
        <p:spPr>
          <a:xfrm>
            <a:off x="731520" y="1828800"/>
            <a:ext cx="10698480" cy="548640"/>
          </a:xfrm>
          <a:prstGeom prst="rect">
            <a:avLst/>
          </a:prstGeom>
          <a:noFill/>
          <a:ln/>
        </p:spPr>
        <p:txBody>
          <a:bodyPr wrap="square" lIns="0" tIns="0" rIns="0" bIns="0" rtlCol="0" anchor="ctr"/>
          <a:lstStyle/>
          <a:p>
            <a:pPr marL="0" indent="0">
              <a:buNone/>
            </a:pPr>
            <a:r>
              <a:rPr lang="en-US" sz="1200" dirty="0">
                <a:solidFill>
                  <a:srgbClr val="C5D2EE"/>
                </a:solidFill>
                <a:latin typeface="Calibri" pitchFamily="34" charset="0"/>
                <a:ea typeface="Calibri" pitchFamily="34" charset="-122"/>
                <a:cs typeface="Calibri" pitchFamily="34" charset="-120"/>
              </a:rPr>
              <a:t>The official metric used in the Rossmann Kaggle competition. Measures prediction error as a PERCENTAGE of actual sales rather than an absolute value. Industry-standard for retail forecasting because it treats stores of all sizes fairly.</a:t>
            </a:r>
            <a:endParaRPr lang="en-US" sz="1200" dirty="0"/>
          </a:p>
        </p:txBody>
      </p:sp>
      <p:sp>
        <p:nvSpPr>
          <p:cNvPr id="7" name="Text 5"/>
          <p:cNvSpPr/>
          <p:nvPr/>
        </p:nvSpPr>
        <p:spPr>
          <a:xfrm>
            <a:off x="731520" y="2377440"/>
            <a:ext cx="10698480" cy="320040"/>
          </a:xfrm>
          <a:prstGeom prst="rect">
            <a:avLst/>
          </a:prstGeom>
          <a:noFill/>
          <a:ln/>
        </p:spPr>
        <p:txBody>
          <a:bodyPr wrap="square" lIns="0" tIns="0" rIns="0" bIns="0" rtlCol="0" anchor="ctr"/>
          <a:lstStyle/>
          <a:p>
            <a:pPr marL="0" indent="0">
              <a:buNone/>
            </a:pPr>
            <a:r>
              <a:rPr lang="en-US" sz="1300" i="1" dirty="0">
                <a:solidFill>
                  <a:srgbClr val="10B981"/>
                </a:solidFill>
                <a:latin typeface="Courier New" pitchFamily="34" charset="0"/>
                <a:ea typeface="Courier New" pitchFamily="34" charset="-122"/>
                <a:cs typeface="Courier New" pitchFamily="34" charset="-120"/>
              </a:rPr>
              <a:t>RMSPE = √( (1/n) · Σ ((y_actual − y_predicted) / y_actual)² ) × 100</a:t>
            </a:r>
            <a:endParaRPr lang="en-US" sz="1300" dirty="0"/>
          </a:p>
        </p:txBody>
      </p:sp>
      <p:sp>
        <p:nvSpPr>
          <p:cNvPr id="8" name="Shape 6"/>
          <p:cNvSpPr/>
          <p:nvPr/>
        </p:nvSpPr>
        <p:spPr>
          <a:xfrm>
            <a:off x="457200" y="2880360"/>
            <a:ext cx="5486400" cy="3246120"/>
          </a:xfrm>
          <a:prstGeom prst="roundRect">
            <a:avLst>
              <a:gd name="adj" fmla="val 2254"/>
            </a:avLst>
          </a:prstGeom>
          <a:solidFill>
            <a:srgbClr val="131826"/>
          </a:solidFill>
          <a:ln w="6350">
            <a:solidFill>
              <a:srgbClr val="1F2A3F"/>
            </a:solidFill>
            <a:prstDash val="solid"/>
          </a:ln>
        </p:spPr>
      </p:sp>
      <p:sp>
        <p:nvSpPr>
          <p:cNvPr id="9" name="Text 7"/>
          <p:cNvSpPr/>
          <p:nvPr/>
        </p:nvSpPr>
        <p:spPr>
          <a:xfrm>
            <a:off x="731520" y="3017520"/>
            <a:ext cx="4937760" cy="274320"/>
          </a:xfrm>
          <a:prstGeom prst="rect">
            <a:avLst/>
          </a:prstGeom>
          <a:noFill/>
          <a:ln/>
        </p:spPr>
        <p:txBody>
          <a:bodyPr wrap="square" rtlCol="0" anchor="ctr"/>
          <a:lstStyle/>
          <a:p>
            <a:pPr marL="0" indent="0">
              <a:buNone/>
            </a:pPr>
            <a:r>
              <a:rPr lang="en-US" sz="1100" b="1" kern="0" spc="200" dirty="0">
                <a:solidFill>
                  <a:srgbClr val="F59E0B"/>
                </a:solidFill>
                <a:latin typeface="Calibri" pitchFamily="34" charset="0"/>
                <a:ea typeface="Calibri" pitchFamily="34" charset="-122"/>
                <a:cs typeface="Calibri" pitchFamily="34" charset="-120"/>
              </a:rPr>
              <a:t>EXAMPLE 1 — SMALL STORE</a:t>
            </a:r>
            <a:endParaRPr lang="en-US" sz="1100" dirty="0"/>
          </a:p>
        </p:txBody>
      </p:sp>
      <p:sp>
        <p:nvSpPr>
          <p:cNvPr id="10" name="Text 8"/>
          <p:cNvSpPr/>
          <p:nvPr/>
        </p:nvSpPr>
        <p:spPr>
          <a:xfrm>
            <a:off x="731520" y="3383280"/>
            <a:ext cx="1828800" cy="274320"/>
          </a:xfrm>
          <a:prstGeom prst="rect">
            <a:avLst/>
          </a:prstGeom>
          <a:noFill/>
          <a:ln/>
        </p:spPr>
        <p:txBody>
          <a:bodyPr wrap="square" rtlCol="0" anchor="ctr"/>
          <a:lstStyle/>
          <a:p>
            <a:pPr marL="0" indent="0">
              <a:buNone/>
            </a:pPr>
            <a:r>
              <a:rPr lang="en-US" sz="1200" dirty="0">
                <a:solidFill>
                  <a:srgbClr val="9CA8C2"/>
                </a:solidFill>
                <a:latin typeface="Calibri" pitchFamily="34" charset="0"/>
                <a:ea typeface="Calibri" pitchFamily="34" charset="-122"/>
                <a:cs typeface="Calibri" pitchFamily="34" charset="-120"/>
              </a:rPr>
              <a:t>Daily sales:</a:t>
            </a:r>
            <a:endParaRPr lang="en-US" sz="1200" dirty="0"/>
          </a:p>
        </p:txBody>
      </p:sp>
      <p:sp>
        <p:nvSpPr>
          <p:cNvPr id="11" name="Text 9"/>
          <p:cNvSpPr/>
          <p:nvPr/>
        </p:nvSpPr>
        <p:spPr>
          <a:xfrm>
            <a:off x="2560320" y="3383280"/>
            <a:ext cx="2743200" cy="274320"/>
          </a:xfrm>
          <a:prstGeom prst="rect">
            <a:avLst/>
          </a:prstGeom>
          <a:noFill/>
          <a:ln/>
        </p:spPr>
        <p:txBody>
          <a:bodyPr wrap="square"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€1,000</a:t>
            </a:r>
            <a:endParaRPr lang="en-US" sz="1400" dirty="0"/>
          </a:p>
        </p:txBody>
      </p:sp>
      <p:sp>
        <p:nvSpPr>
          <p:cNvPr id="12" name="Text 10"/>
          <p:cNvSpPr/>
          <p:nvPr/>
        </p:nvSpPr>
        <p:spPr>
          <a:xfrm>
            <a:off x="731520" y="3703320"/>
            <a:ext cx="2286000" cy="274320"/>
          </a:xfrm>
          <a:prstGeom prst="rect">
            <a:avLst/>
          </a:prstGeom>
          <a:noFill/>
          <a:ln/>
        </p:spPr>
        <p:txBody>
          <a:bodyPr wrap="square" rtlCol="0" anchor="ctr"/>
          <a:lstStyle/>
          <a:p>
            <a:pPr marL="0" indent="0">
              <a:buNone/>
            </a:pPr>
            <a:r>
              <a:rPr lang="en-US" sz="1200" dirty="0">
                <a:solidFill>
                  <a:srgbClr val="9CA8C2"/>
                </a:solidFill>
                <a:latin typeface="Calibri" pitchFamily="34" charset="0"/>
                <a:ea typeface="Calibri" pitchFamily="34" charset="-122"/>
                <a:cs typeface="Calibri" pitchFamily="34" charset="-120"/>
              </a:rPr>
              <a:t>Our prediction:</a:t>
            </a:r>
            <a:endParaRPr lang="en-US" sz="1200" dirty="0"/>
          </a:p>
        </p:txBody>
      </p:sp>
      <p:sp>
        <p:nvSpPr>
          <p:cNvPr id="13" name="Text 11"/>
          <p:cNvSpPr/>
          <p:nvPr/>
        </p:nvSpPr>
        <p:spPr>
          <a:xfrm>
            <a:off x="3017520" y="3703320"/>
            <a:ext cx="2743200" cy="274320"/>
          </a:xfrm>
          <a:prstGeom prst="rect">
            <a:avLst/>
          </a:prstGeom>
          <a:noFill/>
          <a:ln/>
        </p:spPr>
        <p:txBody>
          <a:bodyPr wrap="square"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€1,500</a:t>
            </a:r>
            <a:endParaRPr lang="en-US" sz="1400" dirty="0"/>
          </a:p>
        </p:txBody>
      </p:sp>
      <p:sp>
        <p:nvSpPr>
          <p:cNvPr id="14" name="Text 12"/>
          <p:cNvSpPr/>
          <p:nvPr/>
        </p:nvSpPr>
        <p:spPr>
          <a:xfrm>
            <a:off x="731520" y="4023360"/>
            <a:ext cx="1828800" cy="274320"/>
          </a:xfrm>
          <a:prstGeom prst="rect">
            <a:avLst/>
          </a:prstGeom>
          <a:noFill/>
          <a:ln/>
        </p:spPr>
        <p:txBody>
          <a:bodyPr wrap="square" rtlCol="0" anchor="ctr"/>
          <a:lstStyle/>
          <a:p>
            <a:pPr marL="0" indent="0">
              <a:buNone/>
            </a:pPr>
            <a:r>
              <a:rPr lang="en-US" sz="1200" dirty="0">
                <a:solidFill>
                  <a:srgbClr val="9CA8C2"/>
                </a:solidFill>
                <a:latin typeface="Calibri" pitchFamily="34" charset="0"/>
                <a:ea typeface="Calibri" pitchFamily="34" charset="-122"/>
                <a:cs typeface="Calibri" pitchFamily="34" charset="-120"/>
              </a:rPr>
              <a:t>Error:</a:t>
            </a:r>
            <a:endParaRPr lang="en-US" sz="1200" dirty="0"/>
          </a:p>
        </p:txBody>
      </p:sp>
      <p:sp>
        <p:nvSpPr>
          <p:cNvPr id="15" name="Text 13"/>
          <p:cNvSpPr/>
          <p:nvPr/>
        </p:nvSpPr>
        <p:spPr>
          <a:xfrm>
            <a:off x="2560320" y="4023360"/>
            <a:ext cx="2743200" cy="274320"/>
          </a:xfrm>
          <a:prstGeom prst="rect">
            <a:avLst/>
          </a:prstGeom>
          <a:noFill/>
          <a:ln/>
        </p:spPr>
        <p:txBody>
          <a:bodyPr wrap="square"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€500</a:t>
            </a:r>
            <a:endParaRPr lang="en-US" sz="1400" dirty="0"/>
          </a:p>
        </p:txBody>
      </p:sp>
      <p:sp>
        <p:nvSpPr>
          <p:cNvPr id="16" name="Shape 14"/>
          <p:cNvSpPr/>
          <p:nvPr/>
        </p:nvSpPr>
        <p:spPr>
          <a:xfrm>
            <a:off x="731520" y="4434840"/>
            <a:ext cx="4937760" cy="27432"/>
          </a:xfrm>
          <a:prstGeom prst="rect">
            <a:avLst/>
          </a:prstGeom>
          <a:solidFill>
            <a:srgbClr val="1F2A3F"/>
          </a:solidFill>
          <a:ln w="12700">
            <a:solidFill>
              <a:srgbClr val="1F2A3F"/>
            </a:solidFill>
            <a:prstDash val="solid"/>
          </a:ln>
        </p:spPr>
      </p:sp>
      <p:sp>
        <p:nvSpPr>
          <p:cNvPr id="17" name="Text 15"/>
          <p:cNvSpPr/>
          <p:nvPr/>
        </p:nvSpPr>
        <p:spPr>
          <a:xfrm>
            <a:off x="731520" y="4572000"/>
            <a:ext cx="4937760" cy="274320"/>
          </a:xfrm>
          <a:prstGeom prst="rect">
            <a:avLst/>
          </a:prstGeom>
          <a:noFill/>
          <a:ln/>
        </p:spPr>
        <p:txBody>
          <a:bodyPr wrap="square"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RMSE perspective: €500 error</a:t>
            </a:r>
            <a:endParaRPr lang="en-US" sz="1100" dirty="0"/>
          </a:p>
        </p:txBody>
      </p:sp>
      <p:sp>
        <p:nvSpPr>
          <p:cNvPr id="18" name="Text 16"/>
          <p:cNvSpPr/>
          <p:nvPr/>
        </p:nvSpPr>
        <p:spPr>
          <a:xfrm>
            <a:off x="731520" y="4892040"/>
            <a:ext cx="3200400" cy="274320"/>
          </a:xfrm>
          <a:prstGeom prst="rect">
            <a:avLst/>
          </a:prstGeom>
          <a:noFill/>
          <a:ln/>
        </p:spPr>
        <p:txBody>
          <a:bodyPr wrap="square"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RMSPE perspective:</a:t>
            </a:r>
            <a:endParaRPr lang="en-US" sz="1100" dirty="0"/>
          </a:p>
        </p:txBody>
      </p:sp>
      <p:sp>
        <p:nvSpPr>
          <p:cNvPr id="19" name="Text 17"/>
          <p:cNvSpPr/>
          <p:nvPr/>
        </p:nvSpPr>
        <p:spPr>
          <a:xfrm>
            <a:off x="731520" y="5212080"/>
            <a:ext cx="4937760" cy="457200"/>
          </a:xfrm>
          <a:prstGeom prst="rect">
            <a:avLst/>
          </a:prstGeom>
          <a:noFill/>
          <a:ln/>
        </p:spPr>
        <p:txBody>
          <a:bodyPr wrap="square" rtlCol="0" anchor="ctr"/>
          <a:lstStyle/>
          <a:p>
            <a:pPr marL="0" indent="0">
              <a:buNone/>
            </a:pPr>
            <a:r>
              <a:rPr lang="en-US" sz="1800" b="1" dirty="0">
                <a:solidFill>
                  <a:srgbClr val="F59E0B"/>
                </a:solidFill>
                <a:latin typeface="Calibri" pitchFamily="34" charset="0"/>
                <a:ea typeface="Calibri" pitchFamily="34" charset="-122"/>
                <a:cs typeface="Calibri" pitchFamily="34" charset="-120"/>
              </a:rPr>
              <a:t>50% off — disastrous</a:t>
            </a:r>
            <a:endParaRPr lang="en-US" sz="1800" dirty="0"/>
          </a:p>
        </p:txBody>
      </p:sp>
      <p:sp>
        <p:nvSpPr>
          <p:cNvPr id="20" name="Shape 18"/>
          <p:cNvSpPr/>
          <p:nvPr/>
        </p:nvSpPr>
        <p:spPr>
          <a:xfrm>
            <a:off x="6126480" y="2880360"/>
            <a:ext cx="5577840" cy="3246120"/>
          </a:xfrm>
          <a:prstGeom prst="roundRect">
            <a:avLst>
              <a:gd name="adj" fmla="val 2254"/>
            </a:avLst>
          </a:prstGeom>
          <a:solidFill>
            <a:srgbClr val="131826"/>
          </a:solidFill>
          <a:ln w="6350">
            <a:solidFill>
              <a:srgbClr val="1F2A3F"/>
            </a:solidFill>
            <a:prstDash val="solid"/>
          </a:ln>
        </p:spPr>
      </p:sp>
      <p:sp>
        <p:nvSpPr>
          <p:cNvPr id="21" name="Text 19"/>
          <p:cNvSpPr/>
          <p:nvPr/>
        </p:nvSpPr>
        <p:spPr>
          <a:xfrm>
            <a:off x="6400800" y="3017520"/>
            <a:ext cx="4937760" cy="274320"/>
          </a:xfrm>
          <a:prstGeom prst="rect">
            <a:avLst/>
          </a:prstGeom>
          <a:noFill/>
          <a:ln/>
        </p:spPr>
        <p:txBody>
          <a:bodyPr wrap="square" rtlCol="0" anchor="ctr"/>
          <a:lstStyle/>
          <a:p>
            <a:pPr marL="0" indent="0">
              <a:buNone/>
            </a:pPr>
            <a:r>
              <a:rPr lang="en-US" sz="1100" b="1" kern="0" spc="200" dirty="0">
                <a:solidFill>
                  <a:srgbClr val="10B981"/>
                </a:solidFill>
                <a:latin typeface="Calibri" pitchFamily="34" charset="0"/>
                <a:ea typeface="Calibri" pitchFamily="34" charset="-122"/>
                <a:cs typeface="Calibri" pitchFamily="34" charset="-120"/>
              </a:rPr>
              <a:t>EXAMPLE 2 — LARGE STORE</a:t>
            </a:r>
            <a:endParaRPr lang="en-US" sz="1100" dirty="0"/>
          </a:p>
        </p:txBody>
      </p:sp>
      <p:sp>
        <p:nvSpPr>
          <p:cNvPr id="22" name="Text 20"/>
          <p:cNvSpPr/>
          <p:nvPr/>
        </p:nvSpPr>
        <p:spPr>
          <a:xfrm>
            <a:off x="6400800" y="3383280"/>
            <a:ext cx="1828800" cy="274320"/>
          </a:xfrm>
          <a:prstGeom prst="rect">
            <a:avLst/>
          </a:prstGeom>
          <a:noFill/>
          <a:ln/>
        </p:spPr>
        <p:txBody>
          <a:bodyPr wrap="square" rtlCol="0" anchor="ctr"/>
          <a:lstStyle/>
          <a:p>
            <a:pPr marL="0" indent="0">
              <a:buNone/>
            </a:pPr>
            <a:r>
              <a:rPr lang="en-US" sz="1200" dirty="0">
                <a:solidFill>
                  <a:srgbClr val="9CA8C2"/>
                </a:solidFill>
                <a:latin typeface="Calibri" pitchFamily="34" charset="0"/>
                <a:ea typeface="Calibri" pitchFamily="34" charset="-122"/>
                <a:cs typeface="Calibri" pitchFamily="34" charset="-120"/>
              </a:rPr>
              <a:t>Daily sales:</a:t>
            </a:r>
            <a:endParaRPr lang="en-US" sz="1200" dirty="0"/>
          </a:p>
        </p:txBody>
      </p:sp>
      <p:sp>
        <p:nvSpPr>
          <p:cNvPr id="23" name="Text 21"/>
          <p:cNvSpPr/>
          <p:nvPr/>
        </p:nvSpPr>
        <p:spPr>
          <a:xfrm>
            <a:off x="8229600" y="3383280"/>
            <a:ext cx="2743200" cy="274320"/>
          </a:xfrm>
          <a:prstGeom prst="rect">
            <a:avLst/>
          </a:prstGeom>
          <a:noFill/>
          <a:ln/>
        </p:spPr>
        <p:txBody>
          <a:bodyPr wrap="square"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€15,000</a:t>
            </a:r>
            <a:endParaRPr lang="en-US" sz="1400" dirty="0"/>
          </a:p>
        </p:txBody>
      </p:sp>
      <p:sp>
        <p:nvSpPr>
          <p:cNvPr id="24" name="Text 22"/>
          <p:cNvSpPr/>
          <p:nvPr/>
        </p:nvSpPr>
        <p:spPr>
          <a:xfrm>
            <a:off x="6400800" y="3703320"/>
            <a:ext cx="2286000" cy="274320"/>
          </a:xfrm>
          <a:prstGeom prst="rect">
            <a:avLst/>
          </a:prstGeom>
          <a:noFill/>
          <a:ln/>
        </p:spPr>
        <p:txBody>
          <a:bodyPr wrap="square" rtlCol="0" anchor="ctr"/>
          <a:lstStyle/>
          <a:p>
            <a:pPr marL="0" indent="0">
              <a:buNone/>
            </a:pPr>
            <a:r>
              <a:rPr lang="en-US" sz="1200" dirty="0">
                <a:solidFill>
                  <a:srgbClr val="9CA8C2"/>
                </a:solidFill>
                <a:latin typeface="Calibri" pitchFamily="34" charset="0"/>
                <a:ea typeface="Calibri" pitchFamily="34" charset="-122"/>
                <a:cs typeface="Calibri" pitchFamily="34" charset="-120"/>
              </a:rPr>
              <a:t>Our prediction:</a:t>
            </a:r>
            <a:endParaRPr lang="en-US" sz="1200" dirty="0"/>
          </a:p>
        </p:txBody>
      </p:sp>
      <p:sp>
        <p:nvSpPr>
          <p:cNvPr id="25" name="Text 23"/>
          <p:cNvSpPr/>
          <p:nvPr/>
        </p:nvSpPr>
        <p:spPr>
          <a:xfrm>
            <a:off x="8686800" y="3703320"/>
            <a:ext cx="2743200" cy="274320"/>
          </a:xfrm>
          <a:prstGeom prst="rect">
            <a:avLst/>
          </a:prstGeom>
          <a:noFill/>
          <a:ln/>
        </p:spPr>
        <p:txBody>
          <a:bodyPr wrap="square"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€15,500</a:t>
            </a:r>
            <a:endParaRPr lang="en-US" sz="1400" dirty="0"/>
          </a:p>
        </p:txBody>
      </p:sp>
      <p:sp>
        <p:nvSpPr>
          <p:cNvPr id="26" name="Text 24"/>
          <p:cNvSpPr/>
          <p:nvPr/>
        </p:nvSpPr>
        <p:spPr>
          <a:xfrm>
            <a:off x="6400800" y="4023360"/>
            <a:ext cx="1828800" cy="274320"/>
          </a:xfrm>
          <a:prstGeom prst="rect">
            <a:avLst/>
          </a:prstGeom>
          <a:noFill/>
          <a:ln/>
        </p:spPr>
        <p:txBody>
          <a:bodyPr wrap="square" rtlCol="0" anchor="ctr"/>
          <a:lstStyle/>
          <a:p>
            <a:pPr marL="0" indent="0">
              <a:buNone/>
            </a:pPr>
            <a:r>
              <a:rPr lang="en-US" sz="1200" dirty="0">
                <a:solidFill>
                  <a:srgbClr val="9CA8C2"/>
                </a:solidFill>
                <a:latin typeface="Calibri" pitchFamily="34" charset="0"/>
                <a:ea typeface="Calibri" pitchFamily="34" charset="-122"/>
                <a:cs typeface="Calibri" pitchFamily="34" charset="-120"/>
              </a:rPr>
              <a:t>Error:</a:t>
            </a:r>
            <a:endParaRPr lang="en-US" sz="1200" dirty="0"/>
          </a:p>
        </p:txBody>
      </p:sp>
      <p:sp>
        <p:nvSpPr>
          <p:cNvPr id="27" name="Text 25"/>
          <p:cNvSpPr/>
          <p:nvPr/>
        </p:nvSpPr>
        <p:spPr>
          <a:xfrm>
            <a:off x="8229600" y="4023360"/>
            <a:ext cx="2743200" cy="274320"/>
          </a:xfrm>
          <a:prstGeom prst="rect">
            <a:avLst/>
          </a:prstGeom>
          <a:noFill/>
          <a:ln/>
        </p:spPr>
        <p:txBody>
          <a:bodyPr wrap="square"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€500</a:t>
            </a:r>
            <a:endParaRPr lang="en-US" sz="1400" dirty="0"/>
          </a:p>
        </p:txBody>
      </p:sp>
      <p:sp>
        <p:nvSpPr>
          <p:cNvPr id="28" name="Shape 26"/>
          <p:cNvSpPr/>
          <p:nvPr/>
        </p:nvSpPr>
        <p:spPr>
          <a:xfrm>
            <a:off x="6400800" y="4434840"/>
            <a:ext cx="4937760" cy="27432"/>
          </a:xfrm>
          <a:prstGeom prst="rect">
            <a:avLst/>
          </a:prstGeom>
          <a:solidFill>
            <a:srgbClr val="1F2A3F"/>
          </a:solidFill>
          <a:ln w="12700">
            <a:solidFill>
              <a:srgbClr val="1F2A3F"/>
            </a:solidFill>
            <a:prstDash val="solid"/>
          </a:ln>
        </p:spPr>
      </p:sp>
      <p:sp>
        <p:nvSpPr>
          <p:cNvPr id="29" name="Text 27"/>
          <p:cNvSpPr/>
          <p:nvPr/>
        </p:nvSpPr>
        <p:spPr>
          <a:xfrm>
            <a:off x="6400800" y="4572000"/>
            <a:ext cx="4937760" cy="274320"/>
          </a:xfrm>
          <a:prstGeom prst="rect">
            <a:avLst/>
          </a:prstGeom>
          <a:noFill/>
          <a:ln/>
        </p:spPr>
        <p:txBody>
          <a:bodyPr wrap="square"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RMSE perspective: €500 error</a:t>
            </a:r>
            <a:endParaRPr lang="en-US" sz="1100" dirty="0"/>
          </a:p>
        </p:txBody>
      </p:sp>
      <p:sp>
        <p:nvSpPr>
          <p:cNvPr id="30" name="Text 28"/>
          <p:cNvSpPr/>
          <p:nvPr/>
        </p:nvSpPr>
        <p:spPr>
          <a:xfrm>
            <a:off x="6400800" y="4892040"/>
            <a:ext cx="3200400" cy="274320"/>
          </a:xfrm>
          <a:prstGeom prst="rect">
            <a:avLst/>
          </a:prstGeom>
          <a:noFill/>
          <a:ln/>
        </p:spPr>
        <p:txBody>
          <a:bodyPr wrap="square"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RMSPE perspective:</a:t>
            </a:r>
            <a:endParaRPr lang="en-US" sz="1100" dirty="0"/>
          </a:p>
        </p:txBody>
      </p:sp>
      <p:sp>
        <p:nvSpPr>
          <p:cNvPr id="31" name="Text 29"/>
          <p:cNvSpPr/>
          <p:nvPr/>
        </p:nvSpPr>
        <p:spPr>
          <a:xfrm>
            <a:off x="6400800" y="5212080"/>
            <a:ext cx="4937760" cy="457200"/>
          </a:xfrm>
          <a:prstGeom prst="rect">
            <a:avLst/>
          </a:prstGeom>
          <a:noFill/>
          <a:ln/>
        </p:spPr>
        <p:txBody>
          <a:bodyPr wrap="square" rtlCol="0" anchor="ctr"/>
          <a:lstStyle/>
          <a:p>
            <a:pPr marL="0" indent="0">
              <a:buNone/>
            </a:pPr>
            <a:r>
              <a:rPr lang="en-US" sz="1800" b="1" dirty="0">
                <a:solidFill>
                  <a:srgbClr val="10B981"/>
                </a:solidFill>
                <a:latin typeface="Calibri" pitchFamily="34" charset="0"/>
                <a:ea typeface="Calibri" pitchFamily="34" charset="-122"/>
                <a:cs typeface="Calibri" pitchFamily="34" charset="-120"/>
              </a:rPr>
              <a:t>3% off — excellent</a:t>
            </a:r>
            <a:endParaRPr lang="en-US" sz="1800" dirty="0"/>
          </a:p>
        </p:txBody>
      </p:sp>
      <p:sp>
        <p:nvSpPr>
          <p:cNvPr id="32" name="Text 30"/>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33" name="Text 31"/>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Time-Based Validation Split</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Why we never use random train/test split for forecasting</a:t>
            </a:r>
            <a:endParaRPr lang="en-US" sz="1300" dirty="0"/>
          </a:p>
        </p:txBody>
      </p:sp>
      <p:sp>
        <p:nvSpPr>
          <p:cNvPr id="4" name="Text 2"/>
          <p:cNvSpPr/>
          <p:nvPr/>
        </p:nvSpPr>
        <p:spPr>
          <a:xfrm>
            <a:off x="457200" y="1325880"/>
            <a:ext cx="11247120" cy="77724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In forecasting, the goal is to predict the future from the past. So our validation set must come AFTER our training set chronologically. A random split would let the model effectively peek into the future during training — and would give us misleadingly good accuracy that does not survive production.</a:t>
            </a:r>
            <a:endParaRPr lang="en-US" sz="1200" dirty="0"/>
          </a:p>
        </p:txBody>
      </p:sp>
      <p:sp>
        <p:nvSpPr>
          <p:cNvPr id="5" name="Shape 3"/>
          <p:cNvSpPr/>
          <p:nvPr/>
        </p:nvSpPr>
        <p:spPr>
          <a:xfrm>
            <a:off x="457200" y="2148840"/>
            <a:ext cx="11247120" cy="1280160"/>
          </a:xfrm>
          <a:prstGeom prst="roundRect">
            <a:avLst>
              <a:gd name="adj" fmla="val 5714"/>
            </a:avLst>
          </a:prstGeom>
          <a:solidFill>
            <a:srgbClr val="131826"/>
          </a:solidFill>
          <a:ln w="6350">
            <a:solidFill>
              <a:srgbClr val="1F2A3F"/>
            </a:solidFill>
            <a:prstDash val="solid"/>
          </a:ln>
        </p:spPr>
      </p:sp>
      <p:sp>
        <p:nvSpPr>
          <p:cNvPr id="6" name="Shape 4"/>
          <p:cNvSpPr/>
          <p:nvPr/>
        </p:nvSpPr>
        <p:spPr>
          <a:xfrm>
            <a:off x="914400" y="2743200"/>
            <a:ext cx="10332720" cy="365760"/>
          </a:xfrm>
          <a:prstGeom prst="rect">
            <a:avLst/>
          </a:prstGeom>
          <a:solidFill>
            <a:srgbClr val="1F2A3F"/>
          </a:solidFill>
          <a:ln w="12700">
            <a:solidFill>
              <a:srgbClr val="1F2A3F"/>
            </a:solidFill>
            <a:prstDash val="solid"/>
          </a:ln>
        </p:spPr>
      </p:sp>
      <p:sp>
        <p:nvSpPr>
          <p:cNvPr id="7" name="Shape 5"/>
          <p:cNvSpPr/>
          <p:nvPr/>
        </p:nvSpPr>
        <p:spPr>
          <a:xfrm>
            <a:off x="914400" y="2743200"/>
            <a:ext cx="8686800" cy="365760"/>
          </a:xfrm>
          <a:prstGeom prst="rect">
            <a:avLst/>
          </a:prstGeom>
          <a:solidFill>
            <a:srgbClr val="3B82F6"/>
          </a:solidFill>
          <a:ln w="12700">
            <a:solidFill>
              <a:srgbClr val="3B82F6"/>
            </a:solidFill>
            <a:prstDash val="solid"/>
          </a:ln>
        </p:spPr>
      </p:sp>
      <p:sp>
        <p:nvSpPr>
          <p:cNvPr id="8" name="Shape 6"/>
          <p:cNvSpPr/>
          <p:nvPr/>
        </p:nvSpPr>
        <p:spPr>
          <a:xfrm>
            <a:off x="9601200" y="2743200"/>
            <a:ext cx="1645920" cy="365760"/>
          </a:xfrm>
          <a:prstGeom prst="rect">
            <a:avLst/>
          </a:prstGeom>
          <a:solidFill>
            <a:srgbClr val="F59E0B"/>
          </a:solidFill>
          <a:ln w="12700">
            <a:solidFill>
              <a:srgbClr val="F59E0B"/>
            </a:solidFill>
            <a:prstDash val="solid"/>
          </a:ln>
        </p:spPr>
      </p:sp>
      <p:sp>
        <p:nvSpPr>
          <p:cNvPr id="9" name="Text 7"/>
          <p:cNvSpPr/>
          <p:nvPr/>
        </p:nvSpPr>
        <p:spPr>
          <a:xfrm>
            <a:off x="640080" y="3200400"/>
            <a:ext cx="1371600" cy="274320"/>
          </a:xfrm>
          <a:prstGeom prst="rect">
            <a:avLst/>
          </a:prstGeom>
          <a:noFill/>
          <a:ln/>
        </p:spPr>
        <p:txBody>
          <a:bodyPr wrap="square" rtlCol="0" anchor="ctr"/>
          <a:lstStyle/>
          <a:p>
            <a:pPr marL="0" indent="0">
              <a:buNone/>
            </a:pPr>
            <a:r>
              <a:rPr lang="en-US" sz="1100" dirty="0">
                <a:solidFill>
                  <a:srgbClr val="9CA8C2"/>
                </a:solidFill>
                <a:latin typeface="Calibri" pitchFamily="34" charset="0"/>
                <a:ea typeface="Calibri" pitchFamily="34" charset="-122"/>
                <a:cs typeface="Calibri" pitchFamily="34" charset="-120"/>
              </a:rPr>
              <a:t>Jan 2013</a:t>
            </a:r>
            <a:endParaRPr lang="en-US" sz="1100" dirty="0"/>
          </a:p>
        </p:txBody>
      </p:sp>
      <p:sp>
        <p:nvSpPr>
          <p:cNvPr id="10" name="Text 8"/>
          <p:cNvSpPr/>
          <p:nvPr/>
        </p:nvSpPr>
        <p:spPr>
          <a:xfrm>
            <a:off x="8686800" y="3200400"/>
            <a:ext cx="1828800" cy="274320"/>
          </a:xfrm>
          <a:prstGeom prst="rect">
            <a:avLst/>
          </a:prstGeom>
          <a:noFill/>
          <a:ln/>
        </p:spPr>
        <p:txBody>
          <a:bodyPr wrap="square" rtlCol="0" anchor="ctr"/>
          <a:lstStyle/>
          <a:p>
            <a:pPr marL="0" indent="0" algn="ctr">
              <a:buNone/>
            </a:pPr>
            <a:r>
              <a:rPr lang="en-US" sz="1100" dirty="0">
                <a:solidFill>
                  <a:srgbClr val="E8EAF0"/>
                </a:solidFill>
                <a:latin typeface="Calibri" pitchFamily="34" charset="0"/>
                <a:ea typeface="Calibri" pitchFamily="34" charset="-122"/>
                <a:cs typeface="Calibri" pitchFamily="34" charset="-120"/>
              </a:rPr>
              <a:t>Jun 19, 2015</a:t>
            </a:r>
            <a:endParaRPr lang="en-US" sz="1100" dirty="0"/>
          </a:p>
        </p:txBody>
      </p:sp>
      <p:sp>
        <p:nvSpPr>
          <p:cNvPr id="11" name="Text 9"/>
          <p:cNvSpPr/>
          <p:nvPr/>
        </p:nvSpPr>
        <p:spPr>
          <a:xfrm>
            <a:off x="10058400" y="3200400"/>
            <a:ext cx="1371600" cy="274320"/>
          </a:xfrm>
          <a:prstGeom prst="rect">
            <a:avLst/>
          </a:prstGeom>
          <a:noFill/>
          <a:ln/>
        </p:spPr>
        <p:txBody>
          <a:bodyPr wrap="square" rtlCol="0" anchor="ctr"/>
          <a:lstStyle/>
          <a:p>
            <a:pPr marL="0" indent="0" algn="r">
              <a:buNone/>
            </a:pPr>
            <a:r>
              <a:rPr lang="en-US" sz="1100" dirty="0">
                <a:solidFill>
                  <a:srgbClr val="9CA8C2"/>
                </a:solidFill>
                <a:latin typeface="Calibri" pitchFamily="34" charset="0"/>
                <a:ea typeface="Calibri" pitchFamily="34" charset="-122"/>
                <a:cs typeface="Calibri" pitchFamily="34" charset="-120"/>
              </a:rPr>
              <a:t>Jul 31, 2015</a:t>
            </a:r>
            <a:endParaRPr lang="en-US" sz="1100" dirty="0"/>
          </a:p>
        </p:txBody>
      </p:sp>
      <p:sp>
        <p:nvSpPr>
          <p:cNvPr id="12" name="Text 10"/>
          <p:cNvSpPr/>
          <p:nvPr/>
        </p:nvSpPr>
        <p:spPr>
          <a:xfrm>
            <a:off x="914400" y="3520440"/>
            <a:ext cx="10332720" cy="274320"/>
          </a:xfrm>
          <a:prstGeom prst="rect">
            <a:avLst/>
          </a:prstGeom>
          <a:noFill/>
          <a:ln/>
        </p:spPr>
        <p:txBody>
          <a:bodyPr wrap="square" lIns="0" tIns="0" rIns="0" bIns="0" rtlCol="0" anchor="ctr"/>
          <a:lstStyle/>
          <a:p>
            <a:pPr marL="0" indent="0" algn="ctr">
              <a:buNone/>
            </a:pPr>
            <a:r>
              <a:rPr lang="en-US" sz="1100" b="1" dirty="0">
                <a:solidFill>
                  <a:srgbClr val="3B82F6"/>
                </a:solidFill>
                <a:latin typeface="Calibri" pitchFamily="34" charset="0"/>
                <a:ea typeface="Calibri" pitchFamily="34" charset="-122"/>
                <a:cs typeface="Calibri" pitchFamily="34" charset="-120"/>
              </a:rPr>
              <a:t>Training  </a:t>
            </a:r>
            <a:r>
              <a:rPr lang="en-US" sz="1100" dirty="0">
                <a:solidFill>
                  <a:srgbClr val="9CA8C2"/>
                </a:solidFill>
                <a:latin typeface="Calibri" pitchFamily="34" charset="0"/>
                <a:ea typeface="Calibri" pitchFamily="34" charset="-122"/>
                <a:cs typeface="Calibri" pitchFamily="34" charset="-120"/>
              </a:rPr>
              <a:t>(160k rows, 84%)    </a:t>
            </a:r>
            <a:r>
              <a:rPr lang="en-US" sz="1100" b="1" dirty="0">
                <a:solidFill>
                  <a:srgbClr val="F59E0B"/>
                </a:solidFill>
                <a:latin typeface="Calibri" pitchFamily="34" charset="0"/>
                <a:ea typeface="Calibri" pitchFamily="34" charset="-122"/>
                <a:cs typeface="Calibri" pitchFamily="34" charset="-120"/>
              </a:rPr>
              <a:t>Validation  </a:t>
            </a:r>
            <a:r>
              <a:rPr lang="en-US" sz="1100" dirty="0">
                <a:solidFill>
                  <a:srgbClr val="9CA8C2"/>
                </a:solidFill>
                <a:latin typeface="Calibri" pitchFamily="34" charset="0"/>
                <a:ea typeface="Calibri" pitchFamily="34" charset="-122"/>
                <a:cs typeface="Calibri" pitchFamily="34" charset="-120"/>
              </a:rPr>
              <a:t>(8k rows, 16% — last 6 weeks)</a:t>
            </a:r>
            <a:endParaRPr lang="en-US" sz="1100" dirty="0"/>
          </a:p>
        </p:txBody>
      </p:sp>
      <p:sp>
        <p:nvSpPr>
          <p:cNvPr id="13" name="Shape 11"/>
          <p:cNvSpPr/>
          <p:nvPr/>
        </p:nvSpPr>
        <p:spPr>
          <a:xfrm>
            <a:off x="457200" y="3611880"/>
            <a:ext cx="5486400" cy="2514600"/>
          </a:xfrm>
          <a:prstGeom prst="roundRect">
            <a:avLst>
              <a:gd name="adj" fmla="val 2909"/>
            </a:avLst>
          </a:prstGeom>
          <a:solidFill>
            <a:srgbClr val="131826"/>
          </a:solidFill>
          <a:ln w="6350">
            <a:solidFill>
              <a:srgbClr val="1F2A3F"/>
            </a:solidFill>
            <a:prstDash val="solid"/>
          </a:ln>
        </p:spPr>
      </p:sp>
      <p:sp>
        <p:nvSpPr>
          <p:cNvPr id="14" name="Text 12"/>
          <p:cNvSpPr/>
          <p:nvPr/>
        </p:nvSpPr>
        <p:spPr>
          <a:xfrm>
            <a:off x="731520" y="3749040"/>
            <a:ext cx="4937760" cy="36576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RANDOM SPLIT (WRONG)</a:t>
            </a:r>
            <a:endParaRPr lang="en-US" sz="1400" dirty="0"/>
          </a:p>
        </p:txBody>
      </p:sp>
      <p:sp>
        <p:nvSpPr>
          <p:cNvPr id="15" name="Text 13"/>
          <p:cNvSpPr/>
          <p:nvPr/>
        </p:nvSpPr>
        <p:spPr>
          <a:xfrm>
            <a:off x="731520" y="4160520"/>
            <a:ext cx="4937760" cy="960120"/>
          </a:xfrm>
          <a:prstGeom prst="rect">
            <a:avLst/>
          </a:prstGeom>
          <a:noFill/>
          <a:ln/>
        </p:spPr>
        <p:txBody>
          <a:bodyPr wrap="square" lIns="0" tIns="0" rIns="0" bIns="0" rtlCol="0" anchor="ctr"/>
          <a:lstStyle/>
          <a:p>
            <a:pPr marL="0" indent="0">
              <a:buNone/>
            </a:pPr>
            <a:r>
              <a:rPr lang="en-US" sz="1150" dirty="0">
                <a:solidFill>
                  <a:srgbClr val="E8EAF0"/>
                </a:solidFill>
                <a:latin typeface="Calibri" pitchFamily="34" charset="0"/>
                <a:ea typeface="Calibri" pitchFamily="34" charset="-122"/>
                <a:cs typeface="Calibri" pitchFamily="34" charset="-120"/>
              </a:rPr>
              <a:t>Picks rows for validation at random. The model effectively peeks into the future: a January 2014 row might end up in training while a similar January 2013 row from a similar week ends up in validation.</a:t>
            </a:r>
            <a:endParaRPr lang="en-US" sz="1150" dirty="0"/>
          </a:p>
        </p:txBody>
      </p:sp>
      <p:sp>
        <p:nvSpPr>
          <p:cNvPr id="16" name="Text 14"/>
          <p:cNvSpPr/>
          <p:nvPr/>
        </p:nvSpPr>
        <p:spPr>
          <a:xfrm>
            <a:off x="731520" y="5212080"/>
            <a:ext cx="4937760" cy="77724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Result: artificially inflated accuracy that does NOT match what we will see in production.</a:t>
            </a:r>
            <a:endParaRPr lang="en-US" sz="1100" dirty="0"/>
          </a:p>
        </p:txBody>
      </p:sp>
      <p:sp>
        <p:nvSpPr>
          <p:cNvPr id="17" name="Shape 15"/>
          <p:cNvSpPr/>
          <p:nvPr/>
        </p:nvSpPr>
        <p:spPr>
          <a:xfrm>
            <a:off x="6126480" y="3611880"/>
            <a:ext cx="5577840" cy="2514600"/>
          </a:xfrm>
          <a:prstGeom prst="roundRect">
            <a:avLst>
              <a:gd name="adj" fmla="val 2909"/>
            </a:avLst>
          </a:prstGeom>
          <a:solidFill>
            <a:srgbClr val="131826"/>
          </a:solidFill>
          <a:ln w="6350">
            <a:solidFill>
              <a:srgbClr val="1F2A3F"/>
            </a:solidFill>
            <a:prstDash val="solid"/>
          </a:ln>
        </p:spPr>
      </p:sp>
      <p:sp>
        <p:nvSpPr>
          <p:cNvPr id="18" name="Text 16"/>
          <p:cNvSpPr/>
          <p:nvPr/>
        </p:nvSpPr>
        <p:spPr>
          <a:xfrm>
            <a:off x="6400800" y="3749040"/>
            <a:ext cx="4937760" cy="36576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TIME-BASED SPLIT (CORRECT)</a:t>
            </a:r>
            <a:endParaRPr lang="en-US" sz="1400" dirty="0"/>
          </a:p>
        </p:txBody>
      </p:sp>
      <p:sp>
        <p:nvSpPr>
          <p:cNvPr id="19" name="Text 17"/>
          <p:cNvSpPr/>
          <p:nvPr/>
        </p:nvSpPr>
        <p:spPr>
          <a:xfrm>
            <a:off x="6400800" y="4160520"/>
            <a:ext cx="4937760" cy="960120"/>
          </a:xfrm>
          <a:prstGeom prst="rect">
            <a:avLst/>
          </a:prstGeom>
          <a:noFill/>
          <a:ln/>
        </p:spPr>
        <p:txBody>
          <a:bodyPr wrap="square" lIns="0" tIns="0" rIns="0" bIns="0" rtlCol="0" anchor="ctr"/>
          <a:lstStyle/>
          <a:p>
            <a:pPr marL="0" indent="0">
              <a:buNone/>
            </a:pPr>
            <a:r>
              <a:rPr lang="en-US" sz="1150" dirty="0">
                <a:solidFill>
                  <a:srgbClr val="E8EAF0"/>
                </a:solidFill>
                <a:latin typeface="Calibri" pitchFamily="34" charset="0"/>
                <a:ea typeface="Calibri" pitchFamily="34" charset="-122"/>
                <a:cs typeface="Calibri" pitchFamily="34" charset="-120"/>
              </a:rPr>
              <a:t>Train on data UP TO June 19, 2015. Validate on the last 6 weeks. This is the same six-week horizon we predict in production, so our validation set is a true "future" the model has never seen.</a:t>
            </a:r>
            <a:endParaRPr lang="en-US" sz="1150" dirty="0"/>
          </a:p>
        </p:txBody>
      </p:sp>
      <p:sp>
        <p:nvSpPr>
          <p:cNvPr id="20" name="Text 18"/>
          <p:cNvSpPr/>
          <p:nvPr/>
        </p:nvSpPr>
        <p:spPr>
          <a:xfrm>
            <a:off x="6400800" y="5212080"/>
            <a:ext cx="4937760" cy="77724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Result: honest performance estimate that matches real-world deployment. The R² and RMSPE we report are trustworthy.</a:t>
            </a:r>
            <a:endParaRPr lang="en-US" sz="1100" dirty="0"/>
          </a:p>
        </p:txBody>
      </p:sp>
      <p:sp>
        <p:nvSpPr>
          <p:cNvPr id="21" name="Text 19"/>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22" name="Text 20"/>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Model Training &amp; Results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Comparing Random Forest vs Gradient Boosting on full data</a:t>
            </a:r>
            <a:endParaRPr lang="en-US" sz="1300" dirty="0"/>
          </a:p>
        </p:txBody>
      </p:sp>
      <p:sp>
        <p:nvSpPr>
          <p:cNvPr id="4" name="Text 2"/>
          <p:cNvSpPr/>
          <p:nvPr/>
        </p:nvSpPr>
        <p:spPr>
          <a:xfrm>
            <a:off x="457200" y="1325880"/>
            <a:ext cx="11247120" cy="77724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We trained two tree-based models on the full 844,338 training rows and compared their performance on the last 6 weeks of validation data. Random Forest emerged as the winner with R² = 0.8792 and RMSPE = 14.78% — meaning the model explains 88% of the variance in sales and predictions are accurate within about 15% on average.</a:t>
            </a:r>
            <a:endParaRPr lang="en-US" sz="1200" dirty="0"/>
          </a:p>
        </p:txBody>
      </p:sp>
      <p:graphicFrame>
        <p:nvGraphicFramePr>
          <p:cNvPr id="5" name="Chart 0"/>
          <p:cNvGraphicFramePr/>
          <p:nvPr/>
        </p:nvGraphicFramePr>
        <p:xfrm>
          <a:off x="457200" y="2194560"/>
          <a:ext cx="59436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675120" y="2194560"/>
            <a:ext cx="5029200" cy="1828800"/>
          </a:xfrm>
          <a:prstGeom prst="roundRect">
            <a:avLst>
              <a:gd name="adj" fmla="val 4000"/>
            </a:avLst>
          </a:prstGeom>
          <a:solidFill>
            <a:srgbClr val="131826"/>
          </a:solidFill>
          <a:ln w="6350">
            <a:solidFill>
              <a:srgbClr val="1F2A3F"/>
            </a:solidFill>
            <a:prstDash val="solid"/>
          </a:ln>
        </p:spPr>
      </p:sp>
      <p:sp>
        <p:nvSpPr>
          <p:cNvPr id="7" name="Text 4"/>
          <p:cNvSpPr/>
          <p:nvPr/>
        </p:nvSpPr>
        <p:spPr>
          <a:xfrm>
            <a:off x="6858000" y="2331720"/>
            <a:ext cx="4663440" cy="274320"/>
          </a:xfrm>
          <a:prstGeom prst="rect">
            <a:avLst/>
          </a:prstGeom>
          <a:noFill/>
          <a:ln/>
        </p:spPr>
        <p:txBody>
          <a:bodyPr wrap="square" rtlCol="0" anchor="ctr"/>
          <a:lstStyle/>
          <a:p>
            <a:pPr marL="0" indent="0">
              <a:buNone/>
            </a:pPr>
            <a:r>
              <a:rPr lang="en-US" sz="1100" b="1" kern="0" spc="200" dirty="0">
                <a:solidFill>
                  <a:srgbClr val="3B82F6"/>
                </a:solidFill>
                <a:latin typeface="Calibri" pitchFamily="34" charset="0"/>
                <a:ea typeface="Calibri" pitchFamily="34" charset="-122"/>
                <a:cs typeface="Calibri" pitchFamily="34" charset="-120"/>
              </a:rPr>
              <a:t>WINNER</a:t>
            </a:r>
            <a:endParaRPr lang="en-US" sz="1100" dirty="0"/>
          </a:p>
        </p:txBody>
      </p:sp>
      <p:sp>
        <p:nvSpPr>
          <p:cNvPr id="8" name="Text 5"/>
          <p:cNvSpPr/>
          <p:nvPr/>
        </p:nvSpPr>
        <p:spPr>
          <a:xfrm>
            <a:off x="6858000" y="2606040"/>
            <a:ext cx="4663440" cy="502920"/>
          </a:xfrm>
          <a:prstGeom prst="rect">
            <a:avLst/>
          </a:prstGeom>
          <a:noFill/>
          <a:ln/>
        </p:spPr>
        <p:txBody>
          <a:bodyPr wrap="square" lIns="0" tIns="0" rIns="0" bIns="0" rtlCol="0" anchor="ctr"/>
          <a:lstStyle/>
          <a:p>
            <a:pPr marL="0" indent="0">
              <a:buNone/>
            </a:pPr>
            <a:r>
              <a:rPr lang="en-US" sz="2600" b="1" dirty="0">
                <a:solidFill>
                  <a:srgbClr val="E8EAF0"/>
                </a:solidFill>
                <a:latin typeface="Calibri" pitchFamily="34" charset="0"/>
                <a:ea typeface="Calibri" pitchFamily="34" charset="-122"/>
                <a:cs typeface="Calibri" pitchFamily="34" charset="-120"/>
              </a:rPr>
              <a:t>Random Forest</a:t>
            </a:r>
            <a:endParaRPr lang="en-US" sz="2600" dirty="0"/>
          </a:p>
        </p:txBody>
      </p:sp>
      <p:sp>
        <p:nvSpPr>
          <p:cNvPr id="9" name="Text 6"/>
          <p:cNvSpPr/>
          <p:nvPr/>
        </p:nvSpPr>
        <p:spPr>
          <a:xfrm>
            <a:off x="6858000" y="3108960"/>
            <a:ext cx="4663440" cy="274320"/>
          </a:xfrm>
          <a:prstGeom prst="rect">
            <a:avLst/>
          </a:prstGeom>
          <a:noFill/>
          <a:ln/>
        </p:spPr>
        <p:txBody>
          <a:bodyPr wrap="square" lIns="0" tIns="0" rIns="0" bIns="0" rtlCol="0" anchor="ctr"/>
          <a:lstStyle/>
          <a:p>
            <a:pPr marL="0" indent="0">
              <a:buNone/>
            </a:pPr>
            <a:r>
              <a:rPr lang="en-US" sz="1100" dirty="0">
                <a:solidFill>
                  <a:srgbClr val="9CA8C2"/>
                </a:solidFill>
                <a:latin typeface="Calibri" pitchFamily="34" charset="0"/>
                <a:ea typeface="Calibri" pitchFamily="34" charset="-122"/>
                <a:cs typeface="Calibri" pitchFamily="34" charset="-120"/>
              </a:rPr>
              <a:t>400 trees · max_depth 25 · all 844k rows</a:t>
            </a:r>
            <a:endParaRPr lang="en-US" sz="1100" dirty="0"/>
          </a:p>
        </p:txBody>
      </p:sp>
      <p:sp>
        <p:nvSpPr>
          <p:cNvPr id="10" name="Text 7"/>
          <p:cNvSpPr/>
          <p:nvPr/>
        </p:nvSpPr>
        <p:spPr>
          <a:xfrm>
            <a:off x="6858000" y="3474720"/>
            <a:ext cx="4663440" cy="457200"/>
          </a:xfrm>
          <a:prstGeom prst="rect">
            <a:avLst/>
          </a:prstGeom>
          <a:noFill/>
          <a:ln/>
        </p:spPr>
        <p:txBody>
          <a:bodyPr wrap="square" lIns="0" tIns="0" rIns="0" bIns="0" rtlCol="0" anchor="ctr"/>
          <a:lstStyle/>
          <a:p>
            <a:pPr marL="0" indent="0">
              <a:buNone/>
            </a:pPr>
            <a:r>
              <a:rPr lang="en-US" sz="1400" dirty="0">
                <a:solidFill>
                  <a:srgbClr val="9CA8C2"/>
                </a:solidFill>
                <a:latin typeface="Calibri" pitchFamily="34" charset="0"/>
                <a:ea typeface="Calibri" pitchFamily="34" charset="-122"/>
                <a:cs typeface="Calibri" pitchFamily="34" charset="-120"/>
              </a:rPr>
              <a:t>RMSPE: </a:t>
            </a:r>
            <a:r>
              <a:rPr lang="en-US" sz="1400" b="1" dirty="0">
                <a:solidFill>
                  <a:srgbClr val="3B82F6"/>
                </a:solidFill>
                <a:latin typeface="Calibri" pitchFamily="34" charset="0"/>
                <a:ea typeface="Calibri" pitchFamily="34" charset="-122"/>
                <a:cs typeface="Calibri" pitchFamily="34" charset="-120"/>
              </a:rPr>
              <a:t>14.78%</a:t>
            </a:r>
            <a:r>
              <a:rPr lang="en-US" sz="1400" dirty="0">
                <a:solidFill>
                  <a:srgbClr val="9CA8C2"/>
                </a:solidFill>
                <a:latin typeface="Calibri" pitchFamily="34" charset="0"/>
                <a:ea typeface="Calibri" pitchFamily="34" charset="-122"/>
                <a:cs typeface="Calibri" pitchFamily="34" charset="-120"/>
              </a:rPr>
              <a:t>    R²: </a:t>
            </a:r>
            <a:r>
              <a:rPr lang="en-US" sz="1400" b="1" dirty="0">
                <a:solidFill>
                  <a:srgbClr val="3B82F6"/>
                </a:solidFill>
                <a:latin typeface="Calibri" pitchFamily="34" charset="0"/>
                <a:ea typeface="Calibri" pitchFamily="34" charset="-122"/>
                <a:cs typeface="Calibri" pitchFamily="34" charset="-120"/>
              </a:rPr>
              <a:t>0.8792</a:t>
            </a:r>
            <a:endParaRPr lang="en-US" sz="1400" dirty="0"/>
          </a:p>
        </p:txBody>
      </p:sp>
      <p:sp>
        <p:nvSpPr>
          <p:cNvPr id="11" name="Shape 8"/>
          <p:cNvSpPr/>
          <p:nvPr/>
        </p:nvSpPr>
        <p:spPr>
          <a:xfrm>
            <a:off x="6675120" y="4160520"/>
            <a:ext cx="5029200" cy="1965960"/>
          </a:xfrm>
          <a:prstGeom prst="roundRect">
            <a:avLst>
              <a:gd name="adj" fmla="val 3721"/>
            </a:avLst>
          </a:prstGeom>
          <a:solidFill>
            <a:srgbClr val="131826"/>
          </a:solidFill>
          <a:ln w="6350">
            <a:solidFill>
              <a:srgbClr val="1F2A3F"/>
            </a:solidFill>
            <a:prstDash val="solid"/>
          </a:ln>
        </p:spPr>
      </p:sp>
      <p:sp>
        <p:nvSpPr>
          <p:cNvPr id="12" name="Text 9"/>
          <p:cNvSpPr/>
          <p:nvPr/>
        </p:nvSpPr>
        <p:spPr>
          <a:xfrm>
            <a:off x="6858000" y="4297680"/>
            <a:ext cx="4663440" cy="274320"/>
          </a:xfrm>
          <a:prstGeom prst="rect">
            <a:avLst/>
          </a:prstGeom>
          <a:noFill/>
          <a:ln/>
        </p:spPr>
        <p:txBody>
          <a:bodyPr wrap="square" rtlCol="0" anchor="ctr"/>
          <a:lstStyle/>
          <a:p>
            <a:pPr marL="0" indent="0">
              <a:buNone/>
            </a:pPr>
            <a:r>
              <a:rPr lang="en-US" sz="1100" b="1" kern="0" spc="200" dirty="0">
                <a:solidFill>
                  <a:srgbClr val="10B981"/>
                </a:solidFill>
                <a:latin typeface="Calibri" pitchFamily="34" charset="0"/>
                <a:ea typeface="Calibri" pitchFamily="34" charset="-122"/>
                <a:cs typeface="Calibri" pitchFamily="34" charset="-120"/>
              </a:rPr>
              <a:t>WHAT THESE NUMBERS MEAN</a:t>
            </a:r>
            <a:endParaRPr lang="en-US" sz="1100" dirty="0"/>
          </a:p>
        </p:txBody>
      </p:sp>
      <p:sp>
        <p:nvSpPr>
          <p:cNvPr id="13" name="Text 10"/>
          <p:cNvSpPr/>
          <p:nvPr/>
        </p:nvSpPr>
        <p:spPr>
          <a:xfrm>
            <a:off x="6949440" y="4617720"/>
            <a:ext cx="4572000" cy="1417320"/>
          </a:xfrm>
          <a:prstGeom prst="rect">
            <a:avLst/>
          </a:prstGeom>
          <a:noFill/>
          <a:ln/>
        </p:spPr>
        <p:txBody>
          <a:bodyPr wrap="square" rtlCol="0" anchor="ctr"/>
          <a:lstStyle/>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Model explains 88% of all sales variance</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Predictions accurate within ~15% on average</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95% confidence intervals capture 94.7% of actuals</a:t>
            </a:r>
            <a:endParaRPr lang="en-US" sz="1100" dirty="0"/>
          </a:p>
          <a:p>
            <a:pPr marL="342900" indent="-342900">
              <a:spcAft>
                <a:spcPts val="400"/>
              </a:spcAft>
              <a:buSzPct val="100000"/>
              <a:buChar char="•"/>
            </a:pPr>
            <a:r>
              <a:rPr lang="en-US" sz="1100" dirty="0">
                <a:solidFill>
                  <a:srgbClr val="E8EAF0"/>
                </a:solidFill>
                <a:latin typeface="Calibri" pitchFamily="34" charset="0"/>
                <a:ea typeface="Calibri" pitchFamily="34" charset="-122"/>
                <a:cs typeface="Calibri" pitchFamily="34" charset="-120"/>
              </a:rPr>
              <a:t>Top features: Store, CompetitionDistance, Promo</a:t>
            </a:r>
            <a:endParaRPr lang="en-US" sz="1100" dirty="0"/>
          </a:p>
        </p:txBody>
      </p:sp>
      <p:sp>
        <p:nvSpPr>
          <p:cNvPr id="14" name="Text 11"/>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15" name="Text 12"/>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LSTM Deep Learning Model</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Task 2.6 — a 2-layer recurrent neural network</a:t>
            </a:r>
            <a:endParaRPr lang="en-US" sz="1300" dirty="0"/>
          </a:p>
        </p:txBody>
      </p:sp>
      <p:sp>
        <p:nvSpPr>
          <p:cNvPr id="4" name="Text 2"/>
          <p:cNvSpPr/>
          <p:nvPr/>
        </p:nvSpPr>
        <p:spPr>
          <a:xfrm>
            <a:off x="457200" y="1325880"/>
            <a:ext cx="11247120" cy="77724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In addition to tree-based models, the brief asks for a Long Short-Term Memory (LSTM) neural network — a type of recurrent neural network designed for sequential data. LSTMs are good at remembering long-range patterns in time series. We trained one on Store 1's historical sales, following all 7 required steps:</a:t>
            </a:r>
            <a:endParaRPr lang="en-US" sz="1200" dirty="0"/>
          </a:p>
        </p:txBody>
      </p:sp>
      <p:sp>
        <p:nvSpPr>
          <p:cNvPr id="5" name="Shape 3"/>
          <p:cNvSpPr/>
          <p:nvPr/>
        </p:nvSpPr>
        <p:spPr>
          <a:xfrm>
            <a:off x="457200" y="2194560"/>
            <a:ext cx="5029200" cy="3931920"/>
          </a:xfrm>
          <a:prstGeom prst="roundRect">
            <a:avLst>
              <a:gd name="adj" fmla="val 1860"/>
            </a:avLst>
          </a:prstGeom>
          <a:solidFill>
            <a:srgbClr val="131826"/>
          </a:solidFill>
          <a:ln w="6350">
            <a:solidFill>
              <a:srgbClr val="1F2A3F"/>
            </a:solidFill>
            <a:prstDash val="solid"/>
          </a:ln>
        </p:spPr>
      </p:sp>
      <p:sp>
        <p:nvSpPr>
          <p:cNvPr id="6" name="Text 4"/>
          <p:cNvSpPr/>
          <p:nvPr/>
        </p:nvSpPr>
        <p:spPr>
          <a:xfrm>
            <a:off x="731520" y="2331720"/>
            <a:ext cx="4572000" cy="274320"/>
          </a:xfrm>
          <a:prstGeom prst="rect">
            <a:avLst/>
          </a:prstGeom>
          <a:noFill/>
          <a:ln/>
        </p:spPr>
        <p:txBody>
          <a:bodyPr wrap="square" rtlCol="0" anchor="ctr"/>
          <a:lstStyle/>
          <a:p>
            <a:pPr marL="0" indent="0">
              <a:buNone/>
            </a:pPr>
            <a:r>
              <a:rPr lang="en-US" sz="1100" b="1" kern="0" spc="200" dirty="0">
                <a:solidFill>
                  <a:srgbClr val="3B82F6"/>
                </a:solidFill>
                <a:latin typeface="Calibri" pitchFamily="34" charset="0"/>
                <a:ea typeface="Calibri" pitchFamily="34" charset="-122"/>
                <a:cs typeface="Calibri" pitchFamily="34" charset="-120"/>
              </a:rPr>
              <a:t>PIPELINE STEPS (TASK 2.6)</a:t>
            </a:r>
            <a:endParaRPr lang="en-US" sz="1100" dirty="0"/>
          </a:p>
        </p:txBody>
      </p:sp>
      <p:sp>
        <p:nvSpPr>
          <p:cNvPr id="7" name="Text 5"/>
          <p:cNvSpPr/>
          <p:nvPr/>
        </p:nvSpPr>
        <p:spPr>
          <a:xfrm>
            <a:off x="731520" y="2651760"/>
            <a:ext cx="4572000" cy="3383280"/>
          </a:xfrm>
          <a:prstGeom prst="rect">
            <a:avLst/>
          </a:prstGeom>
          <a:noFill/>
          <a:ln/>
        </p:spPr>
        <p:txBody>
          <a:bodyPr wrap="square" rtlCol="0" anchor="ctr"/>
          <a:lstStyle/>
          <a:p>
            <a:pPr marL="342900" indent="-342900">
              <a:spcAft>
                <a:spcPts val="600"/>
              </a:spcAft>
              <a:buSzPct val="100000"/>
              <a:buFont typeface="+mj-lt"/>
              <a:buAutoNum type="arabicPeriod"/>
            </a:pPr>
            <a:r>
              <a:rPr lang="en-US" sz="1150" dirty="0">
                <a:solidFill>
                  <a:srgbClr val="E8EAF0"/>
                </a:solidFill>
                <a:latin typeface="Calibri" pitchFamily="34" charset="0"/>
                <a:ea typeface="Calibri" pitchFamily="34" charset="-122"/>
                <a:cs typeface="Calibri" pitchFamily="34" charset="-120"/>
              </a:rPr>
              <a:t>Isolate Store 1 daily sales as a time series</a:t>
            </a:r>
            <a:endParaRPr lang="en-US" sz="1150" dirty="0"/>
          </a:p>
          <a:p>
            <a:pPr marL="342900" indent="-342900">
              <a:spcAft>
                <a:spcPts val="600"/>
              </a:spcAft>
              <a:buSzPct val="100000"/>
              <a:buFont typeface="+mj-lt"/>
              <a:buAutoNum type="arabicPeriod"/>
            </a:pPr>
            <a:r>
              <a:rPr lang="en-US" sz="1150" dirty="0">
                <a:solidFill>
                  <a:srgbClr val="E8EAF0"/>
                </a:solidFill>
                <a:latin typeface="Calibri" pitchFamily="34" charset="0"/>
                <a:ea typeface="Calibri" pitchFamily="34" charset="-122"/>
                <a:cs typeface="Calibri" pitchFamily="34" charset="-120"/>
              </a:rPr>
              <a:t>ADF stationarity test → p=0.0001 (stationary)</a:t>
            </a:r>
            <a:endParaRPr lang="en-US" sz="1150" dirty="0"/>
          </a:p>
          <a:p>
            <a:pPr marL="342900" indent="-342900">
              <a:spcAft>
                <a:spcPts val="600"/>
              </a:spcAft>
              <a:buSzPct val="100000"/>
              <a:buFont typeface="+mj-lt"/>
              <a:buAutoNum type="arabicPeriod"/>
            </a:pPr>
            <a:r>
              <a:rPr lang="en-US" sz="1150" dirty="0">
                <a:solidFill>
                  <a:srgbClr val="E8EAF0"/>
                </a:solidFill>
                <a:latin typeface="Calibri" pitchFamily="34" charset="0"/>
                <a:ea typeface="Calibri" pitchFamily="34" charset="-122"/>
                <a:cs typeface="Calibri" pitchFamily="34" charset="-120"/>
              </a:rPr>
              <a:t>First-order differencing (skipped — already stationary)</a:t>
            </a:r>
            <a:endParaRPr lang="en-US" sz="1150" dirty="0"/>
          </a:p>
          <a:p>
            <a:pPr marL="342900" indent="-342900">
              <a:spcAft>
                <a:spcPts val="600"/>
              </a:spcAft>
              <a:buSzPct val="100000"/>
              <a:buFont typeface="+mj-lt"/>
              <a:buAutoNum type="arabicPeriod"/>
            </a:pPr>
            <a:r>
              <a:rPr lang="en-US" sz="1150" dirty="0">
                <a:solidFill>
                  <a:srgbClr val="E8EAF0"/>
                </a:solidFill>
                <a:latin typeface="Calibri" pitchFamily="34" charset="0"/>
                <a:ea typeface="Calibri" pitchFamily="34" charset="-122"/>
                <a:cs typeface="Calibri" pitchFamily="34" charset="-120"/>
              </a:rPr>
              <a:t>Check ACF and PACF for autocorrelation</a:t>
            </a:r>
            <a:endParaRPr lang="en-US" sz="1150" dirty="0"/>
          </a:p>
          <a:p>
            <a:pPr marL="342900" indent="-342900">
              <a:spcAft>
                <a:spcPts val="600"/>
              </a:spcAft>
              <a:buSzPct val="100000"/>
              <a:buFont typeface="+mj-lt"/>
              <a:buAutoNum type="arabicPeriod"/>
            </a:pPr>
            <a:r>
              <a:rPr lang="en-US" sz="1150" dirty="0">
                <a:solidFill>
                  <a:srgbClr val="E8EAF0"/>
                </a:solidFill>
                <a:latin typeface="Calibri" pitchFamily="34" charset="0"/>
                <a:ea typeface="Calibri" pitchFamily="34" charset="-122"/>
                <a:cs typeface="Calibri" pitchFamily="34" charset="-120"/>
              </a:rPr>
              <a:t>Sliding window: last 14 days → predict day 15</a:t>
            </a:r>
            <a:endParaRPr lang="en-US" sz="1150" dirty="0"/>
          </a:p>
          <a:p>
            <a:pPr marL="342900" indent="-342900">
              <a:spcAft>
                <a:spcPts val="600"/>
              </a:spcAft>
              <a:buSzPct val="100000"/>
              <a:buFont typeface="+mj-lt"/>
              <a:buAutoNum type="arabicPeriod"/>
            </a:pPr>
            <a:r>
              <a:rPr lang="en-US" sz="1150" dirty="0">
                <a:solidFill>
                  <a:srgbClr val="E8EAF0"/>
                </a:solidFill>
                <a:latin typeface="Calibri" pitchFamily="34" charset="0"/>
                <a:ea typeface="Calibri" pitchFamily="34" charset="-122"/>
                <a:cs typeface="Calibri" pitchFamily="34" charset="-120"/>
              </a:rPr>
              <a:t>Scale values to [-1, 1] range for LSTM</a:t>
            </a:r>
            <a:endParaRPr lang="en-US" sz="1150" dirty="0"/>
          </a:p>
          <a:p>
            <a:pPr marL="342900" indent="-342900">
              <a:spcAft>
                <a:spcPts val="600"/>
              </a:spcAft>
              <a:buSzPct val="100000"/>
              <a:buFont typeface="+mj-lt"/>
              <a:buAutoNum type="arabicPeriod"/>
            </a:pPr>
            <a:r>
              <a:rPr lang="en-US" sz="1150" dirty="0">
                <a:solidFill>
                  <a:srgbClr val="E8EAF0"/>
                </a:solidFill>
                <a:latin typeface="Calibri" pitchFamily="34" charset="0"/>
                <a:ea typeface="Calibri" pitchFamily="34" charset="-122"/>
                <a:cs typeface="Calibri" pitchFamily="34" charset="-120"/>
              </a:rPr>
              <a:t>Train 2-layer LSTM (64 → 32 → Dense)</a:t>
            </a:r>
            <a:endParaRPr lang="en-US" sz="1150" dirty="0"/>
          </a:p>
        </p:txBody>
      </p:sp>
      <p:sp>
        <p:nvSpPr>
          <p:cNvPr id="8" name="Shape 6"/>
          <p:cNvSpPr/>
          <p:nvPr/>
        </p:nvSpPr>
        <p:spPr>
          <a:xfrm>
            <a:off x="5760720" y="2194560"/>
            <a:ext cx="5943600" cy="2011680"/>
          </a:xfrm>
          <a:prstGeom prst="roundRect">
            <a:avLst>
              <a:gd name="adj" fmla="val 3636"/>
            </a:avLst>
          </a:prstGeom>
          <a:solidFill>
            <a:srgbClr val="131826"/>
          </a:solidFill>
          <a:ln w="6350">
            <a:solidFill>
              <a:srgbClr val="1F2A3F"/>
            </a:solidFill>
            <a:prstDash val="solid"/>
          </a:ln>
        </p:spPr>
      </p:sp>
      <p:sp>
        <p:nvSpPr>
          <p:cNvPr id="9" name="Text 7"/>
          <p:cNvSpPr/>
          <p:nvPr/>
        </p:nvSpPr>
        <p:spPr>
          <a:xfrm>
            <a:off x="6035040" y="2331720"/>
            <a:ext cx="5486400" cy="274320"/>
          </a:xfrm>
          <a:prstGeom prst="rect">
            <a:avLst/>
          </a:prstGeom>
          <a:noFill/>
          <a:ln/>
        </p:spPr>
        <p:txBody>
          <a:bodyPr wrap="square" rtlCol="0" anchor="ctr"/>
          <a:lstStyle/>
          <a:p>
            <a:pPr marL="0" indent="0">
              <a:buNone/>
            </a:pPr>
            <a:r>
              <a:rPr lang="en-US" sz="1100" b="1" kern="0" spc="200" dirty="0">
                <a:solidFill>
                  <a:srgbClr val="3B82F6"/>
                </a:solidFill>
                <a:latin typeface="Calibri" pitchFamily="34" charset="0"/>
                <a:ea typeface="Calibri" pitchFamily="34" charset="-122"/>
                <a:cs typeface="Calibri" pitchFamily="34" charset="-120"/>
              </a:rPr>
              <a:t>ARCHITECTURE</a:t>
            </a:r>
            <a:endParaRPr lang="en-US" sz="1100" dirty="0"/>
          </a:p>
        </p:txBody>
      </p:sp>
      <p:sp>
        <p:nvSpPr>
          <p:cNvPr id="10" name="Text 8"/>
          <p:cNvSpPr/>
          <p:nvPr/>
        </p:nvSpPr>
        <p:spPr>
          <a:xfrm>
            <a:off x="6035040" y="2651760"/>
            <a:ext cx="5486400" cy="1508760"/>
          </a:xfrm>
          <a:prstGeom prst="rect">
            <a:avLst/>
          </a:prstGeom>
          <a:noFill/>
          <a:ln/>
        </p:spPr>
        <p:txBody>
          <a:bodyPr wrap="square" lIns="0" tIns="0" rIns="0" bIns="0" rtlCol="0" anchor="ctr"/>
          <a:lstStyle/>
          <a:p>
            <a:pPr marL="0" indent="0">
              <a:buNone/>
            </a:pPr>
            <a:r>
              <a:rPr lang="en-US" sz="1100" dirty="0">
                <a:solidFill>
                  <a:srgbClr val="F59E0B"/>
                </a:solidFill>
                <a:latin typeface="Courier New" pitchFamily="34" charset="0"/>
                <a:ea typeface="Courier New" pitchFamily="34" charset="-122"/>
                <a:cs typeface="Courier New" pitchFamily="34" charset="-120"/>
              </a:rPr>
              <a:t>Sequential([</a:t>
            </a:r>
            <a:endParaRPr lang="en-US" sz="1100" dirty="0"/>
          </a:p>
          <a:p>
            <a:pPr marL="0" indent="0">
              <a:buNone/>
            </a:pPr>
            <a:r>
              <a:rPr lang="en-US" sz="1100" dirty="0">
                <a:solidFill>
                  <a:srgbClr val="E8EAF0"/>
                </a:solidFill>
                <a:latin typeface="Courier New" pitchFamily="34" charset="0"/>
                <a:ea typeface="Courier New" pitchFamily="34" charset="-122"/>
                <a:cs typeface="Courier New" pitchFamily="34" charset="-120"/>
              </a:rPr>
              <a:t>    LSTM(64, return_sequences=True),</a:t>
            </a:r>
            <a:endParaRPr lang="en-US" sz="1100" dirty="0"/>
          </a:p>
          <a:p>
            <a:pPr marL="0" indent="0">
              <a:buNone/>
            </a:pPr>
            <a:r>
              <a:rPr lang="en-US" sz="1100" dirty="0">
                <a:solidFill>
                  <a:srgbClr val="E8EAF0"/>
                </a:solidFill>
                <a:latin typeface="Courier New" pitchFamily="34" charset="0"/>
                <a:ea typeface="Courier New" pitchFamily="34" charset="-122"/>
                <a:cs typeface="Courier New" pitchFamily="34" charset="-120"/>
              </a:rPr>
              <a:t>    Dropout(0.2),</a:t>
            </a:r>
            <a:endParaRPr lang="en-US" sz="1100" dirty="0"/>
          </a:p>
          <a:p>
            <a:pPr marL="0" indent="0">
              <a:buNone/>
            </a:pPr>
            <a:r>
              <a:rPr lang="en-US" sz="1100" dirty="0">
                <a:solidFill>
                  <a:srgbClr val="E8EAF0"/>
                </a:solidFill>
                <a:latin typeface="Courier New" pitchFamily="34" charset="0"/>
                <a:ea typeface="Courier New" pitchFamily="34" charset="-122"/>
                <a:cs typeface="Courier New" pitchFamily="34" charset="-120"/>
              </a:rPr>
              <a:t>    LSTM(32),</a:t>
            </a:r>
            <a:endParaRPr lang="en-US" sz="1100" dirty="0"/>
          </a:p>
          <a:p>
            <a:pPr marL="0" indent="0">
              <a:buNone/>
            </a:pPr>
            <a:r>
              <a:rPr lang="en-US" sz="1100" dirty="0">
                <a:solidFill>
                  <a:srgbClr val="E8EAF0"/>
                </a:solidFill>
                <a:latin typeface="Courier New" pitchFamily="34" charset="0"/>
                <a:ea typeface="Courier New" pitchFamily="34" charset="-122"/>
                <a:cs typeface="Courier New" pitchFamily="34" charset="-120"/>
              </a:rPr>
              <a:t>    Dropout(0.2),</a:t>
            </a:r>
            <a:endParaRPr lang="en-US" sz="1100" dirty="0"/>
          </a:p>
          <a:p>
            <a:pPr marL="0" indent="0">
              <a:buNone/>
            </a:pPr>
            <a:r>
              <a:rPr lang="en-US" sz="1100" dirty="0">
                <a:solidFill>
                  <a:srgbClr val="E8EAF0"/>
                </a:solidFill>
                <a:latin typeface="Courier New" pitchFamily="34" charset="0"/>
                <a:ea typeface="Courier New" pitchFamily="34" charset="-122"/>
                <a:cs typeface="Courier New" pitchFamily="34" charset="-120"/>
              </a:rPr>
              <a:t>    Dense(1)</a:t>
            </a:r>
            <a:endParaRPr lang="en-US" sz="1100" dirty="0"/>
          </a:p>
          <a:p>
            <a:pPr marL="0" indent="0">
              <a:buNone/>
            </a:pPr>
            <a:r>
              <a:rPr lang="en-US" sz="1100" dirty="0">
                <a:solidFill>
                  <a:srgbClr val="F59E0B"/>
                </a:solidFill>
                <a:latin typeface="Courier New" pitchFamily="34" charset="0"/>
                <a:ea typeface="Courier New" pitchFamily="34" charset="-122"/>
                <a:cs typeface="Courier New" pitchFamily="34" charset="-120"/>
              </a:rPr>
              <a:t>])</a:t>
            </a:r>
            <a:endParaRPr lang="en-US" sz="1100" dirty="0"/>
          </a:p>
          <a:p>
            <a:pPr marL="0" indent="0">
              <a:buNone/>
            </a:pPr>
            <a:r>
              <a:rPr lang="en-US" sz="1100" dirty="0">
                <a:solidFill>
                  <a:srgbClr val="10B981"/>
                </a:solidFill>
                <a:latin typeface="Courier New" pitchFamily="34" charset="0"/>
                <a:ea typeface="Courier New" pitchFamily="34" charset="-122"/>
                <a:cs typeface="Courier New" pitchFamily="34" charset="-120"/>
              </a:rPr>
              <a:t>Optimizer: Adam   |   Loss: MSE   |   EarlyStopping(10)</a:t>
            </a:r>
            <a:endParaRPr lang="en-US" sz="1100" dirty="0"/>
          </a:p>
        </p:txBody>
      </p:sp>
      <p:sp>
        <p:nvSpPr>
          <p:cNvPr id="11" name="Shape 9"/>
          <p:cNvSpPr/>
          <p:nvPr/>
        </p:nvSpPr>
        <p:spPr>
          <a:xfrm>
            <a:off x="5760720" y="4343400"/>
            <a:ext cx="2834640" cy="1783080"/>
          </a:xfrm>
          <a:prstGeom prst="roundRect">
            <a:avLst>
              <a:gd name="adj" fmla="val 4103"/>
            </a:avLst>
          </a:prstGeom>
          <a:solidFill>
            <a:srgbClr val="131826"/>
          </a:solidFill>
          <a:ln w="6350">
            <a:solidFill>
              <a:srgbClr val="1F2A3F"/>
            </a:solidFill>
            <a:prstDash val="solid"/>
          </a:ln>
        </p:spPr>
      </p:sp>
      <p:sp>
        <p:nvSpPr>
          <p:cNvPr id="12" name="Text 10"/>
          <p:cNvSpPr/>
          <p:nvPr/>
        </p:nvSpPr>
        <p:spPr>
          <a:xfrm>
            <a:off x="5897880" y="4480560"/>
            <a:ext cx="2606040" cy="274320"/>
          </a:xfrm>
          <a:prstGeom prst="rect">
            <a:avLst/>
          </a:prstGeom>
          <a:noFill/>
          <a:ln/>
        </p:spPr>
        <p:txBody>
          <a:bodyPr wrap="square" rtlCol="0" anchor="ctr"/>
          <a:lstStyle/>
          <a:p>
            <a:pPr marL="0" indent="0" algn="ctr">
              <a:buNone/>
            </a:pPr>
            <a:r>
              <a:rPr lang="en-US" sz="1000" b="1" kern="0" spc="150" dirty="0">
                <a:solidFill>
                  <a:srgbClr val="9CA8C2"/>
                </a:solidFill>
                <a:latin typeface="Calibri" pitchFamily="34" charset="0"/>
                <a:ea typeface="Calibri" pitchFamily="34" charset="-122"/>
                <a:cs typeface="Calibri" pitchFamily="34" charset="-120"/>
              </a:rPr>
              <a:t>TEST RMSE</a:t>
            </a:r>
            <a:endParaRPr lang="en-US" sz="1000" dirty="0"/>
          </a:p>
        </p:txBody>
      </p:sp>
      <p:sp>
        <p:nvSpPr>
          <p:cNvPr id="13" name="Text 11"/>
          <p:cNvSpPr/>
          <p:nvPr/>
        </p:nvSpPr>
        <p:spPr>
          <a:xfrm>
            <a:off x="5897880" y="4754880"/>
            <a:ext cx="2606040" cy="685800"/>
          </a:xfrm>
          <a:prstGeom prst="rect">
            <a:avLst/>
          </a:prstGeom>
          <a:noFill/>
          <a:ln/>
        </p:spPr>
        <p:txBody>
          <a:bodyPr wrap="square" lIns="0" tIns="0" rIns="0" bIns="0" rtlCol="0" anchor="ctr"/>
          <a:lstStyle/>
          <a:p>
            <a:pPr marL="0" indent="0" algn="ctr">
              <a:buNone/>
            </a:pPr>
            <a:r>
              <a:rPr lang="en-US" sz="3200" b="1" dirty="0">
                <a:solidFill>
                  <a:srgbClr val="3B82F6"/>
                </a:solidFill>
                <a:latin typeface="Calibri" pitchFamily="34" charset="0"/>
                <a:ea typeface="Calibri" pitchFamily="34" charset="-122"/>
                <a:cs typeface="Calibri" pitchFamily="34" charset="-120"/>
              </a:rPr>
              <a:t>€451</a:t>
            </a:r>
            <a:endParaRPr lang="en-US" sz="3200" dirty="0"/>
          </a:p>
        </p:txBody>
      </p:sp>
      <p:sp>
        <p:nvSpPr>
          <p:cNvPr id="14" name="Text 12"/>
          <p:cNvSpPr/>
          <p:nvPr/>
        </p:nvSpPr>
        <p:spPr>
          <a:xfrm>
            <a:off x="5897880" y="5532120"/>
            <a:ext cx="2606040" cy="365760"/>
          </a:xfrm>
          <a:prstGeom prst="rect">
            <a:avLst/>
          </a:prstGeom>
          <a:noFill/>
          <a:ln/>
        </p:spPr>
        <p:txBody>
          <a:bodyPr wrap="square" lIns="0" tIns="0" rIns="0" bIns="0" rtlCol="0" anchor="ctr"/>
          <a:lstStyle/>
          <a:p>
            <a:pPr marL="0" indent="0" algn="ctr">
              <a:buNone/>
            </a:pPr>
            <a:r>
              <a:rPr lang="en-US" sz="1100" dirty="0">
                <a:solidFill>
                  <a:srgbClr val="E8EAF0"/>
                </a:solidFill>
                <a:latin typeface="Calibri" pitchFamily="34" charset="0"/>
                <a:ea typeface="Calibri" pitchFamily="34" charset="-122"/>
                <a:cs typeface="Calibri" pitchFamily="34" charset="-120"/>
              </a:rPr>
              <a:t>on 140 test sequences</a:t>
            </a:r>
            <a:endParaRPr lang="en-US" sz="1100" dirty="0"/>
          </a:p>
        </p:txBody>
      </p:sp>
      <p:sp>
        <p:nvSpPr>
          <p:cNvPr id="15" name="Shape 13"/>
          <p:cNvSpPr/>
          <p:nvPr/>
        </p:nvSpPr>
        <p:spPr>
          <a:xfrm>
            <a:off x="8869680" y="4343400"/>
            <a:ext cx="2834640" cy="1783080"/>
          </a:xfrm>
          <a:prstGeom prst="roundRect">
            <a:avLst>
              <a:gd name="adj" fmla="val 4103"/>
            </a:avLst>
          </a:prstGeom>
          <a:solidFill>
            <a:srgbClr val="131826"/>
          </a:solidFill>
          <a:ln w="6350">
            <a:solidFill>
              <a:srgbClr val="1F2A3F"/>
            </a:solidFill>
            <a:prstDash val="solid"/>
          </a:ln>
        </p:spPr>
      </p:sp>
      <p:sp>
        <p:nvSpPr>
          <p:cNvPr id="16" name="Text 14"/>
          <p:cNvSpPr/>
          <p:nvPr/>
        </p:nvSpPr>
        <p:spPr>
          <a:xfrm>
            <a:off x="9006840" y="4480560"/>
            <a:ext cx="2606040" cy="274320"/>
          </a:xfrm>
          <a:prstGeom prst="rect">
            <a:avLst/>
          </a:prstGeom>
          <a:noFill/>
          <a:ln/>
        </p:spPr>
        <p:txBody>
          <a:bodyPr wrap="square" rtlCol="0" anchor="ctr"/>
          <a:lstStyle/>
          <a:p>
            <a:pPr marL="0" indent="0" algn="ctr">
              <a:buNone/>
            </a:pPr>
            <a:r>
              <a:rPr lang="en-US" sz="1000" b="1" kern="0" spc="150" dirty="0">
                <a:solidFill>
                  <a:srgbClr val="9CA8C2"/>
                </a:solidFill>
                <a:latin typeface="Calibri" pitchFamily="34" charset="0"/>
                <a:ea typeface="Calibri" pitchFamily="34" charset="-122"/>
                <a:cs typeface="Calibri" pitchFamily="34" charset="-120"/>
              </a:rPr>
              <a:t>TEST MAE</a:t>
            </a:r>
            <a:endParaRPr lang="en-US" sz="1000" dirty="0"/>
          </a:p>
        </p:txBody>
      </p:sp>
      <p:sp>
        <p:nvSpPr>
          <p:cNvPr id="17" name="Text 15"/>
          <p:cNvSpPr/>
          <p:nvPr/>
        </p:nvSpPr>
        <p:spPr>
          <a:xfrm>
            <a:off x="9006840" y="4754880"/>
            <a:ext cx="2606040" cy="685800"/>
          </a:xfrm>
          <a:prstGeom prst="rect">
            <a:avLst/>
          </a:prstGeom>
          <a:noFill/>
          <a:ln/>
        </p:spPr>
        <p:txBody>
          <a:bodyPr wrap="square" lIns="0" tIns="0" rIns="0" bIns="0" rtlCol="0" anchor="ctr"/>
          <a:lstStyle/>
          <a:p>
            <a:pPr marL="0" indent="0" algn="ctr">
              <a:buNone/>
            </a:pPr>
            <a:r>
              <a:rPr lang="en-US" sz="3200" b="1" dirty="0">
                <a:solidFill>
                  <a:srgbClr val="10B981"/>
                </a:solidFill>
                <a:latin typeface="Calibri" pitchFamily="34" charset="0"/>
                <a:ea typeface="Calibri" pitchFamily="34" charset="-122"/>
                <a:cs typeface="Calibri" pitchFamily="34" charset="-120"/>
              </a:rPr>
              <a:t>€360</a:t>
            </a:r>
            <a:endParaRPr lang="en-US" sz="3200" dirty="0"/>
          </a:p>
        </p:txBody>
      </p:sp>
      <p:sp>
        <p:nvSpPr>
          <p:cNvPr id="18" name="Text 16"/>
          <p:cNvSpPr/>
          <p:nvPr/>
        </p:nvSpPr>
        <p:spPr>
          <a:xfrm>
            <a:off x="9006840" y="5532120"/>
            <a:ext cx="2606040" cy="365760"/>
          </a:xfrm>
          <a:prstGeom prst="rect">
            <a:avLst/>
          </a:prstGeom>
          <a:noFill/>
          <a:ln/>
        </p:spPr>
        <p:txBody>
          <a:bodyPr wrap="square" lIns="0" tIns="0" rIns="0" bIns="0" rtlCol="0" anchor="ctr"/>
          <a:lstStyle/>
          <a:p>
            <a:pPr marL="0" indent="0" algn="ctr">
              <a:buNone/>
            </a:pPr>
            <a:r>
              <a:rPr lang="en-US" sz="1100" dirty="0">
                <a:solidFill>
                  <a:srgbClr val="E8EAF0"/>
                </a:solidFill>
                <a:latin typeface="Calibri" pitchFamily="34" charset="0"/>
                <a:ea typeface="Calibri" pitchFamily="34" charset="-122"/>
                <a:cs typeface="Calibri" pitchFamily="34" charset="-120"/>
              </a:rPr>
              <a:t>strong fit for Store 1</a:t>
            </a:r>
            <a:endParaRPr lang="en-US" sz="1100" dirty="0"/>
          </a:p>
        </p:txBody>
      </p:sp>
      <p:sp>
        <p:nvSpPr>
          <p:cNvPr id="19" name="Text 17"/>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20" name="Text 18"/>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Post-Prediction Analysis</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Diagnostics that prove the model is trustworthy</a:t>
            </a:r>
            <a:endParaRPr lang="en-US" sz="1300" dirty="0"/>
          </a:p>
        </p:txBody>
      </p:sp>
      <p:sp>
        <p:nvSpPr>
          <p:cNvPr id="4" name="Text 2"/>
          <p:cNvSpPr/>
          <p:nvPr/>
        </p:nvSpPr>
        <p:spPr>
          <a:xfrm>
            <a:off x="457200" y="1325880"/>
            <a:ext cx="11247120" cy="64008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After training, we don't just trust the accuracy number — we run three diagnostics that confirm the model is well-calibrated and using sensible logic. Each one is a standard check used in production ML systems.</a:t>
            </a:r>
            <a:endParaRPr lang="en-US" sz="1200" dirty="0"/>
          </a:p>
        </p:txBody>
      </p:sp>
      <p:sp>
        <p:nvSpPr>
          <p:cNvPr id="5" name="Shape 3"/>
          <p:cNvSpPr/>
          <p:nvPr/>
        </p:nvSpPr>
        <p:spPr>
          <a:xfrm>
            <a:off x="457200" y="2057400"/>
            <a:ext cx="3703320" cy="4069080"/>
          </a:xfrm>
          <a:prstGeom prst="roundRect">
            <a:avLst>
              <a:gd name="adj" fmla="val 1975"/>
            </a:avLst>
          </a:prstGeom>
          <a:solidFill>
            <a:srgbClr val="131826"/>
          </a:solidFill>
          <a:ln w="6350">
            <a:solidFill>
              <a:srgbClr val="1F2A3F"/>
            </a:solidFill>
            <a:prstDash val="solid"/>
          </a:ln>
        </p:spPr>
      </p:sp>
      <p:sp>
        <p:nvSpPr>
          <p:cNvPr id="6" name="Text 4"/>
          <p:cNvSpPr/>
          <p:nvPr/>
        </p:nvSpPr>
        <p:spPr>
          <a:xfrm>
            <a:off x="685800" y="2194560"/>
            <a:ext cx="3337560" cy="365760"/>
          </a:xfrm>
          <a:prstGeom prst="rect">
            <a:avLst/>
          </a:prstGeom>
          <a:noFill/>
          <a:ln/>
        </p:spPr>
        <p:txBody>
          <a:bodyPr wrap="square" lIns="0" tIns="0" rIns="0" bIns="0" rtlCol="0" anchor="ctr"/>
          <a:lstStyle/>
          <a:p>
            <a:pPr marL="0" indent="0">
              <a:buNone/>
            </a:pPr>
            <a:r>
              <a:rPr lang="en-US" sz="1400" b="1" dirty="0">
                <a:solidFill>
                  <a:srgbClr val="3B82F6"/>
                </a:solidFill>
                <a:latin typeface="Calibri" pitchFamily="34" charset="0"/>
                <a:ea typeface="Calibri" pitchFamily="34" charset="-122"/>
                <a:cs typeface="Calibri" pitchFamily="34" charset="-120"/>
              </a:rPr>
              <a:t>Feature Importance</a:t>
            </a:r>
            <a:endParaRPr lang="en-US" sz="1400" dirty="0"/>
          </a:p>
        </p:txBody>
      </p:sp>
      <p:sp>
        <p:nvSpPr>
          <p:cNvPr id="7" name="Text 5"/>
          <p:cNvSpPr/>
          <p:nvPr/>
        </p:nvSpPr>
        <p:spPr>
          <a:xfrm>
            <a:off x="685800" y="2697480"/>
            <a:ext cx="3337560" cy="82296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Top 3</a:t>
            </a:r>
            <a:endParaRPr lang="en-US" sz="3400" dirty="0"/>
          </a:p>
        </p:txBody>
      </p:sp>
      <p:sp>
        <p:nvSpPr>
          <p:cNvPr id="8" name="Text 6"/>
          <p:cNvSpPr/>
          <p:nvPr/>
        </p:nvSpPr>
        <p:spPr>
          <a:xfrm>
            <a:off x="685800" y="3520440"/>
            <a:ext cx="3337560" cy="36576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Store · CompetitionDistance · Promo</a:t>
            </a:r>
            <a:endParaRPr lang="en-US" sz="1100" dirty="0"/>
          </a:p>
        </p:txBody>
      </p:sp>
      <p:sp>
        <p:nvSpPr>
          <p:cNvPr id="9" name="Shape 7"/>
          <p:cNvSpPr/>
          <p:nvPr/>
        </p:nvSpPr>
        <p:spPr>
          <a:xfrm>
            <a:off x="685800" y="3977640"/>
            <a:ext cx="3337560" cy="27432"/>
          </a:xfrm>
          <a:prstGeom prst="rect">
            <a:avLst/>
          </a:prstGeom>
          <a:solidFill>
            <a:srgbClr val="1F2A3F"/>
          </a:solidFill>
          <a:ln w="12700">
            <a:solidFill>
              <a:srgbClr val="1F2A3F"/>
            </a:solidFill>
            <a:prstDash val="solid"/>
          </a:ln>
        </p:spPr>
      </p:sp>
      <p:sp>
        <p:nvSpPr>
          <p:cNvPr id="10" name="Text 8"/>
          <p:cNvSpPr/>
          <p:nvPr/>
        </p:nvSpPr>
        <p:spPr>
          <a:xfrm>
            <a:off x="685800" y="4114800"/>
            <a:ext cx="3337560" cy="1874520"/>
          </a:xfrm>
          <a:prstGeom prst="rect">
            <a:avLst/>
          </a:prstGeom>
          <a:noFill/>
          <a:ln/>
        </p:spPr>
        <p:txBody>
          <a:bodyPr wrap="square" lIns="0" tIns="0" rIns="0" bIns="0" rtlCol="0" anchor="ctr"/>
          <a:lstStyle/>
          <a:p>
            <a:pPr marL="0" indent="0">
              <a:buNone/>
            </a:pPr>
            <a:r>
              <a:rPr lang="en-US" sz="1100" dirty="0">
                <a:solidFill>
                  <a:srgbClr val="E8EAF0"/>
                </a:solidFill>
                <a:latin typeface="Calibri" pitchFamily="34" charset="0"/>
                <a:ea typeface="Calibri" pitchFamily="34" charset="-122"/>
                <a:cs typeface="Calibri" pitchFamily="34" charset="-120"/>
              </a:rPr>
              <a:t>Reveals which features drive predictions. Store identity captures size and location effects. CompetitionDistance and Promo are the most influential dynamic features. The model is using sensible signals, not noise.</a:t>
            </a:r>
            <a:endParaRPr lang="en-US" sz="1100" dirty="0"/>
          </a:p>
        </p:txBody>
      </p:sp>
      <p:sp>
        <p:nvSpPr>
          <p:cNvPr id="11" name="Shape 9"/>
          <p:cNvSpPr/>
          <p:nvPr/>
        </p:nvSpPr>
        <p:spPr>
          <a:xfrm>
            <a:off x="4297680" y="2057400"/>
            <a:ext cx="3703320" cy="4069080"/>
          </a:xfrm>
          <a:prstGeom prst="roundRect">
            <a:avLst>
              <a:gd name="adj" fmla="val 1975"/>
            </a:avLst>
          </a:prstGeom>
          <a:solidFill>
            <a:srgbClr val="131826"/>
          </a:solidFill>
          <a:ln w="6350">
            <a:solidFill>
              <a:srgbClr val="1F2A3F"/>
            </a:solidFill>
            <a:prstDash val="solid"/>
          </a:ln>
        </p:spPr>
      </p:sp>
      <p:sp>
        <p:nvSpPr>
          <p:cNvPr id="12" name="Text 10"/>
          <p:cNvSpPr/>
          <p:nvPr/>
        </p:nvSpPr>
        <p:spPr>
          <a:xfrm>
            <a:off x="4526280" y="2194560"/>
            <a:ext cx="3337560" cy="365760"/>
          </a:xfrm>
          <a:prstGeom prst="rect">
            <a:avLst/>
          </a:prstGeom>
          <a:noFill/>
          <a:ln/>
        </p:spPr>
        <p:txBody>
          <a:bodyPr wrap="square" lIns="0" tIns="0" rIns="0" bIns="0"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95% Confidence Intervals</a:t>
            </a:r>
            <a:endParaRPr lang="en-US" sz="1400" dirty="0"/>
          </a:p>
        </p:txBody>
      </p:sp>
      <p:sp>
        <p:nvSpPr>
          <p:cNvPr id="13" name="Text 11"/>
          <p:cNvSpPr/>
          <p:nvPr/>
        </p:nvSpPr>
        <p:spPr>
          <a:xfrm>
            <a:off x="4526280" y="2697480"/>
            <a:ext cx="3337560" cy="82296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94.7%</a:t>
            </a:r>
            <a:endParaRPr lang="en-US" sz="3400" dirty="0"/>
          </a:p>
        </p:txBody>
      </p:sp>
      <p:sp>
        <p:nvSpPr>
          <p:cNvPr id="14" name="Text 12"/>
          <p:cNvSpPr/>
          <p:nvPr/>
        </p:nvSpPr>
        <p:spPr>
          <a:xfrm>
            <a:off x="4526280" y="3520440"/>
            <a:ext cx="3337560" cy="36576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of actuals within the predicted band</a:t>
            </a:r>
            <a:endParaRPr lang="en-US" sz="1100" dirty="0"/>
          </a:p>
        </p:txBody>
      </p:sp>
      <p:sp>
        <p:nvSpPr>
          <p:cNvPr id="15" name="Shape 13"/>
          <p:cNvSpPr/>
          <p:nvPr/>
        </p:nvSpPr>
        <p:spPr>
          <a:xfrm>
            <a:off x="4526280" y="3977640"/>
            <a:ext cx="3337560" cy="27432"/>
          </a:xfrm>
          <a:prstGeom prst="rect">
            <a:avLst/>
          </a:prstGeom>
          <a:solidFill>
            <a:srgbClr val="1F2A3F"/>
          </a:solidFill>
          <a:ln w="12700">
            <a:solidFill>
              <a:srgbClr val="1F2A3F"/>
            </a:solidFill>
            <a:prstDash val="solid"/>
          </a:ln>
        </p:spPr>
      </p:sp>
      <p:sp>
        <p:nvSpPr>
          <p:cNvPr id="16" name="Text 14"/>
          <p:cNvSpPr/>
          <p:nvPr/>
        </p:nvSpPr>
        <p:spPr>
          <a:xfrm>
            <a:off x="4526280" y="4114800"/>
            <a:ext cx="3337560" cy="1874520"/>
          </a:xfrm>
          <a:prstGeom prst="rect">
            <a:avLst/>
          </a:prstGeom>
          <a:noFill/>
          <a:ln/>
        </p:spPr>
        <p:txBody>
          <a:bodyPr wrap="square" lIns="0" tIns="0" rIns="0" bIns="0" rtlCol="0" anchor="ctr"/>
          <a:lstStyle/>
          <a:p>
            <a:pPr marL="0" indent="0">
              <a:buNone/>
            </a:pPr>
            <a:r>
              <a:rPr lang="en-US" sz="1100" dirty="0">
                <a:solidFill>
                  <a:srgbClr val="E8EAF0"/>
                </a:solidFill>
                <a:latin typeface="Calibri" pitchFamily="34" charset="0"/>
                <a:ea typeface="Calibri" pitchFamily="34" charset="-122"/>
                <a:cs typeface="Calibri" pitchFamily="34" charset="-120"/>
              </a:rPr>
              <a:t>We compute prediction ± 1.96 × residual_std for each forecast. 94.7% of actual values fell within this band — almost perfectly calibrated. Tells the finance team: "sales will be between X and Y with 95% certainty."</a:t>
            </a:r>
            <a:endParaRPr lang="en-US" sz="1100" dirty="0"/>
          </a:p>
        </p:txBody>
      </p:sp>
      <p:sp>
        <p:nvSpPr>
          <p:cNvPr id="17" name="Shape 15"/>
          <p:cNvSpPr/>
          <p:nvPr/>
        </p:nvSpPr>
        <p:spPr>
          <a:xfrm>
            <a:off x="8138160" y="2057400"/>
            <a:ext cx="3703320" cy="4069080"/>
          </a:xfrm>
          <a:prstGeom prst="roundRect">
            <a:avLst>
              <a:gd name="adj" fmla="val 1975"/>
            </a:avLst>
          </a:prstGeom>
          <a:solidFill>
            <a:srgbClr val="131826"/>
          </a:solidFill>
          <a:ln w="6350">
            <a:solidFill>
              <a:srgbClr val="1F2A3F"/>
            </a:solidFill>
            <a:prstDash val="solid"/>
          </a:ln>
        </p:spPr>
      </p:sp>
      <p:sp>
        <p:nvSpPr>
          <p:cNvPr id="18" name="Text 16"/>
          <p:cNvSpPr/>
          <p:nvPr/>
        </p:nvSpPr>
        <p:spPr>
          <a:xfrm>
            <a:off x="8366760" y="2194560"/>
            <a:ext cx="3337560" cy="365760"/>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Residual Analysis</a:t>
            </a:r>
            <a:endParaRPr lang="en-US" sz="1400" dirty="0"/>
          </a:p>
        </p:txBody>
      </p:sp>
      <p:sp>
        <p:nvSpPr>
          <p:cNvPr id="19" name="Text 17"/>
          <p:cNvSpPr/>
          <p:nvPr/>
        </p:nvSpPr>
        <p:spPr>
          <a:xfrm>
            <a:off x="8366760" y="2697480"/>
            <a:ext cx="3337560" cy="822960"/>
          </a:xfrm>
          <a:prstGeom prst="rect">
            <a:avLst/>
          </a:prstGeom>
          <a:noFill/>
          <a:ln/>
        </p:spPr>
        <p:txBody>
          <a:bodyPr wrap="square" lIns="0" tIns="0" rIns="0" bIns="0" rtlCol="0" anchor="ctr"/>
          <a:lstStyle/>
          <a:p>
            <a:pPr marL="0" indent="0">
              <a:buNone/>
            </a:pPr>
            <a:r>
              <a:rPr lang="en-US" sz="3400" b="1" dirty="0">
                <a:solidFill>
                  <a:srgbClr val="E8EAF0"/>
                </a:solidFill>
                <a:latin typeface="Calibri" pitchFamily="34" charset="0"/>
                <a:ea typeface="Calibri" pitchFamily="34" charset="-122"/>
                <a:cs typeface="Calibri" pitchFamily="34" charset="-120"/>
              </a:rPr>
              <a:t>Q-Q Normal</a:t>
            </a:r>
            <a:endParaRPr lang="en-US" sz="3400" dirty="0"/>
          </a:p>
        </p:txBody>
      </p:sp>
      <p:sp>
        <p:nvSpPr>
          <p:cNvPr id="20" name="Text 18"/>
          <p:cNvSpPr/>
          <p:nvPr/>
        </p:nvSpPr>
        <p:spPr>
          <a:xfrm>
            <a:off x="8366760" y="3520440"/>
            <a:ext cx="3337560" cy="36576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Errors approximately normally distributed</a:t>
            </a:r>
            <a:endParaRPr lang="en-US" sz="1100" dirty="0"/>
          </a:p>
        </p:txBody>
      </p:sp>
      <p:sp>
        <p:nvSpPr>
          <p:cNvPr id="21" name="Shape 19"/>
          <p:cNvSpPr/>
          <p:nvPr/>
        </p:nvSpPr>
        <p:spPr>
          <a:xfrm>
            <a:off x="8366760" y="3977640"/>
            <a:ext cx="3337560" cy="27432"/>
          </a:xfrm>
          <a:prstGeom prst="rect">
            <a:avLst/>
          </a:prstGeom>
          <a:solidFill>
            <a:srgbClr val="1F2A3F"/>
          </a:solidFill>
          <a:ln w="12700">
            <a:solidFill>
              <a:srgbClr val="1F2A3F"/>
            </a:solidFill>
            <a:prstDash val="solid"/>
          </a:ln>
        </p:spPr>
      </p:sp>
      <p:sp>
        <p:nvSpPr>
          <p:cNvPr id="22" name="Text 20"/>
          <p:cNvSpPr/>
          <p:nvPr/>
        </p:nvSpPr>
        <p:spPr>
          <a:xfrm>
            <a:off x="8366760" y="4114800"/>
            <a:ext cx="3337560" cy="1874520"/>
          </a:xfrm>
          <a:prstGeom prst="rect">
            <a:avLst/>
          </a:prstGeom>
          <a:noFill/>
          <a:ln/>
        </p:spPr>
        <p:txBody>
          <a:bodyPr wrap="square" lIns="0" tIns="0" rIns="0" bIns="0" rtlCol="0" anchor="ctr"/>
          <a:lstStyle/>
          <a:p>
            <a:pPr marL="0" indent="0">
              <a:buNone/>
            </a:pPr>
            <a:r>
              <a:rPr lang="en-US" sz="1100" dirty="0">
                <a:solidFill>
                  <a:srgbClr val="E8EAF0"/>
                </a:solidFill>
                <a:latin typeface="Calibri" pitchFamily="34" charset="0"/>
                <a:ea typeface="Calibri" pitchFamily="34" charset="-122"/>
                <a:cs typeface="Calibri" pitchFamily="34" charset="-120"/>
              </a:rPr>
              <a:t>Three diagnostic plots: residuals vs predicted, distribution histogram, and Q-Q plot. The Q-Q line is nearly straight, meaning errors are random — no systematic bias the model is missing. Mean residual is near zero.</a:t>
            </a:r>
            <a:endParaRPr lang="en-US" sz="1100" dirty="0"/>
          </a:p>
        </p:txBody>
      </p:sp>
      <p:sp>
        <p:nvSpPr>
          <p:cNvPr id="23" name="Text 21"/>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24" name="Text 22"/>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Production MLOps Stack</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Beyond training — the engineering that makes this deployable</a:t>
            </a:r>
            <a:endParaRPr lang="en-US" sz="1300" dirty="0"/>
          </a:p>
        </p:txBody>
      </p:sp>
      <p:sp>
        <p:nvSpPr>
          <p:cNvPr id="4" name="Text 2"/>
          <p:cNvSpPr/>
          <p:nvPr/>
        </p:nvSpPr>
        <p:spPr>
          <a:xfrm>
            <a:off x="457200" y="1325880"/>
            <a:ext cx="11247120" cy="77724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A model alone is not a product. To make this project production-ready, we built the full machine learning operations stack: experiment tracking with MLflow, data versioning with DVC, automated testing and deployment via GitHub Actions, hosting on Heroku, modular reusable code, and structured logging throughout.</a:t>
            </a:r>
            <a:endParaRPr lang="en-US" sz="1200" dirty="0"/>
          </a:p>
        </p:txBody>
      </p:sp>
      <p:sp>
        <p:nvSpPr>
          <p:cNvPr id="5" name="Shape 3"/>
          <p:cNvSpPr/>
          <p:nvPr/>
        </p:nvSpPr>
        <p:spPr>
          <a:xfrm>
            <a:off x="457200" y="2194560"/>
            <a:ext cx="3703320" cy="1874520"/>
          </a:xfrm>
          <a:prstGeom prst="roundRect">
            <a:avLst>
              <a:gd name="adj" fmla="val 3902"/>
            </a:avLst>
          </a:prstGeom>
          <a:solidFill>
            <a:srgbClr val="131826"/>
          </a:solidFill>
          <a:ln w="6350">
            <a:solidFill>
              <a:srgbClr val="1F2A3F"/>
            </a:solidFill>
            <a:prstDash val="solid"/>
          </a:ln>
        </p:spPr>
      </p:sp>
      <p:sp>
        <p:nvSpPr>
          <p:cNvPr id="6" name="Text 4"/>
          <p:cNvSpPr/>
          <p:nvPr/>
        </p:nvSpPr>
        <p:spPr>
          <a:xfrm>
            <a:off x="685800" y="2331720"/>
            <a:ext cx="1188720" cy="274320"/>
          </a:xfrm>
          <a:prstGeom prst="rect">
            <a:avLst/>
          </a:prstGeom>
          <a:noFill/>
          <a:ln/>
        </p:spPr>
        <p:txBody>
          <a:bodyPr wrap="square" rtlCol="0" anchor="ctr"/>
          <a:lstStyle/>
          <a:p>
            <a:pPr marL="0" indent="0">
              <a:buNone/>
            </a:pPr>
            <a:r>
              <a:rPr lang="en-US" sz="900" b="1" kern="0" spc="150" dirty="0">
                <a:solidFill>
                  <a:srgbClr val="3B82F6"/>
                </a:solidFill>
                <a:latin typeface="Calibri" pitchFamily="34" charset="0"/>
                <a:ea typeface="Calibri" pitchFamily="34" charset="-122"/>
                <a:cs typeface="Calibri" pitchFamily="34" charset="-120"/>
              </a:rPr>
              <a:t>Task 2.7</a:t>
            </a:r>
            <a:endParaRPr lang="en-US" sz="900" dirty="0"/>
          </a:p>
        </p:txBody>
      </p:sp>
      <p:sp>
        <p:nvSpPr>
          <p:cNvPr id="7" name="Text 5"/>
          <p:cNvSpPr/>
          <p:nvPr/>
        </p:nvSpPr>
        <p:spPr>
          <a:xfrm>
            <a:off x="685800" y="2606040"/>
            <a:ext cx="3337560" cy="365760"/>
          </a:xfrm>
          <a:prstGeom prst="rect">
            <a:avLst/>
          </a:prstGeom>
          <a:noFill/>
          <a:ln/>
        </p:spPr>
        <p:txBody>
          <a:bodyPr wrap="square" lIns="0" tIns="0" rIns="0" bIns="0" rtlCol="0" anchor="ctr"/>
          <a:lstStyle/>
          <a:p>
            <a:pPr marL="0" indent="0">
              <a:buNone/>
            </a:pPr>
            <a:r>
              <a:rPr lang="en-US" sz="1500" b="1" dirty="0">
                <a:solidFill>
                  <a:srgbClr val="E8EAF0"/>
                </a:solidFill>
                <a:latin typeface="Calibri" pitchFamily="34" charset="0"/>
                <a:ea typeface="Calibri" pitchFamily="34" charset="-122"/>
                <a:cs typeface="Calibri" pitchFamily="34" charset="-120"/>
              </a:rPr>
              <a:t>MLflow Tracking</a:t>
            </a:r>
            <a:endParaRPr lang="en-US" sz="1500" dirty="0"/>
          </a:p>
        </p:txBody>
      </p:sp>
      <p:sp>
        <p:nvSpPr>
          <p:cNvPr id="8" name="Text 6"/>
          <p:cNvSpPr/>
          <p:nvPr/>
        </p:nvSpPr>
        <p:spPr>
          <a:xfrm>
            <a:off x="685800" y="3063240"/>
            <a:ext cx="3337560" cy="96012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Every training run logged with parameters, metrics, and model artifact. Dashboard at localhost:5000 lets us compare runs side by side and pick the best one.</a:t>
            </a:r>
            <a:endParaRPr lang="en-US" sz="1050" dirty="0"/>
          </a:p>
        </p:txBody>
      </p:sp>
      <p:sp>
        <p:nvSpPr>
          <p:cNvPr id="9" name="Shape 7"/>
          <p:cNvSpPr/>
          <p:nvPr/>
        </p:nvSpPr>
        <p:spPr>
          <a:xfrm>
            <a:off x="4297680" y="2194560"/>
            <a:ext cx="3703320" cy="1874520"/>
          </a:xfrm>
          <a:prstGeom prst="roundRect">
            <a:avLst>
              <a:gd name="adj" fmla="val 3902"/>
            </a:avLst>
          </a:prstGeom>
          <a:solidFill>
            <a:srgbClr val="131826"/>
          </a:solidFill>
          <a:ln w="6350">
            <a:solidFill>
              <a:srgbClr val="1F2A3F"/>
            </a:solidFill>
            <a:prstDash val="solid"/>
          </a:ln>
        </p:spPr>
      </p:sp>
      <p:sp>
        <p:nvSpPr>
          <p:cNvPr id="10" name="Text 8"/>
          <p:cNvSpPr/>
          <p:nvPr/>
        </p:nvSpPr>
        <p:spPr>
          <a:xfrm>
            <a:off x="4526280" y="2331720"/>
            <a:ext cx="1188720" cy="274320"/>
          </a:xfrm>
          <a:prstGeom prst="rect">
            <a:avLst/>
          </a:prstGeom>
          <a:noFill/>
          <a:ln/>
        </p:spPr>
        <p:txBody>
          <a:bodyPr wrap="square" rtlCol="0" anchor="ctr"/>
          <a:lstStyle/>
          <a:p>
            <a:pPr marL="0" indent="0">
              <a:buNone/>
            </a:pPr>
            <a:r>
              <a:rPr lang="en-US" sz="900" b="1" kern="0" spc="150" dirty="0">
                <a:solidFill>
                  <a:srgbClr val="10B981"/>
                </a:solidFill>
                <a:latin typeface="Calibri" pitchFamily="34" charset="0"/>
                <a:ea typeface="Calibri" pitchFamily="34" charset="-122"/>
                <a:cs typeface="Calibri" pitchFamily="34" charset="-120"/>
              </a:rPr>
              <a:t>Bonus</a:t>
            </a:r>
            <a:endParaRPr lang="en-US" sz="900" dirty="0"/>
          </a:p>
        </p:txBody>
      </p:sp>
      <p:sp>
        <p:nvSpPr>
          <p:cNvPr id="11" name="Text 9"/>
          <p:cNvSpPr/>
          <p:nvPr/>
        </p:nvSpPr>
        <p:spPr>
          <a:xfrm>
            <a:off x="4526280" y="2606040"/>
            <a:ext cx="3337560" cy="365760"/>
          </a:xfrm>
          <a:prstGeom prst="rect">
            <a:avLst/>
          </a:prstGeom>
          <a:noFill/>
          <a:ln/>
        </p:spPr>
        <p:txBody>
          <a:bodyPr wrap="square" lIns="0" tIns="0" rIns="0" bIns="0" rtlCol="0" anchor="ctr"/>
          <a:lstStyle/>
          <a:p>
            <a:pPr marL="0" indent="0">
              <a:buNone/>
            </a:pPr>
            <a:r>
              <a:rPr lang="en-US" sz="1500" b="1" dirty="0">
                <a:solidFill>
                  <a:srgbClr val="E8EAF0"/>
                </a:solidFill>
                <a:latin typeface="Calibri" pitchFamily="34" charset="0"/>
                <a:ea typeface="Calibri" pitchFamily="34" charset="-122"/>
                <a:cs typeface="Calibri" pitchFamily="34" charset="-120"/>
              </a:rPr>
              <a:t>DVC Data Versioning</a:t>
            </a:r>
            <a:endParaRPr lang="en-US" sz="1500" dirty="0"/>
          </a:p>
        </p:txBody>
      </p:sp>
      <p:sp>
        <p:nvSpPr>
          <p:cNvPr id="12" name="Text 10"/>
          <p:cNvSpPr/>
          <p:nvPr/>
        </p:nvSpPr>
        <p:spPr>
          <a:xfrm>
            <a:off x="4526280" y="3063240"/>
            <a:ext cx="3337560" cy="96012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Like Git for data and models. dvc.yaml defines pipeline stages and dependencies. Re-runs only what changed when data updates arrive.</a:t>
            </a:r>
            <a:endParaRPr lang="en-US" sz="1050" dirty="0"/>
          </a:p>
        </p:txBody>
      </p:sp>
      <p:sp>
        <p:nvSpPr>
          <p:cNvPr id="13" name="Shape 11"/>
          <p:cNvSpPr/>
          <p:nvPr/>
        </p:nvSpPr>
        <p:spPr>
          <a:xfrm>
            <a:off x="8138160" y="2194560"/>
            <a:ext cx="3703320" cy="1874520"/>
          </a:xfrm>
          <a:prstGeom prst="roundRect">
            <a:avLst>
              <a:gd name="adj" fmla="val 3902"/>
            </a:avLst>
          </a:prstGeom>
          <a:solidFill>
            <a:srgbClr val="131826"/>
          </a:solidFill>
          <a:ln w="6350">
            <a:solidFill>
              <a:srgbClr val="1F2A3F"/>
            </a:solidFill>
            <a:prstDash val="solid"/>
          </a:ln>
        </p:spPr>
      </p:sp>
      <p:sp>
        <p:nvSpPr>
          <p:cNvPr id="14" name="Text 12"/>
          <p:cNvSpPr/>
          <p:nvPr/>
        </p:nvSpPr>
        <p:spPr>
          <a:xfrm>
            <a:off x="8366760" y="2331720"/>
            <a:ext cx="1188720" cy="274320"/>
          </a:xfrm>
          <a:prstGeom prst="rect">
            <a:avLst/>
          </a:prstGeom>
          <a:noFill/>
          <a:ln/>
        </p:spPr>
        <p:txBody>
          <a:bodyPr wrap="square" rtlCol="0" anchor="ctr"/>
          <a:lstStyle/>
          <a:p>
            <a:pPr marL="0" indent="0">
              <a:buNone/>
            </a:pPr>
            <a:r>
              <a:rPr lang="en-US" sz="900" b="1" kern="0" spc="150" dirty="0">
                <a:solidFill>
                  <a:srgbClr val="F59E0B"/>
                </a:solidFill>
                <a:latin typeface="Calibri" pitchFamily="34" charset="0"/>
                <a:ea typeface="Calibri" pitchFamily="34" charset="-122"/>
                <a:cs typeface="Calibri" pitchFamily="34" charset="-120"/>
              </a:rPr>
              <a:t>Bonus</a:t>
            </a:r>
            <a:endParaRPr lang="en-US" sz="900" dirty="0"/>
          </a:p>
        </p:txBody>
      </p:sp>
      <p:sp>
        <p:nvSpPr>
          <p:cNvPr id="15" name="Text 13"/>
          <p:cNvSpPr/>
          <p:nvPr/>
        </p:nvSpPr>
        <p:spPr>
          <a:xfrm>
            <a:off x="8366760" y="2606040"/>
            <a:ext cx="3337560" cy="365760"/>
          </a:xfrm>
          <a:prstGeom prst="rect">
            <a:avLst/>
          </a:prstGeom>
          <a:noFill/>
          <a:ln/>
        </p:spPr>
        <p:txBody>
          <a:bodyPr wrap="square" lIns="0" tIns="0" rIns="0" bIns="0" rtlCol="0" anchor="ctr"/>
          <a:lstStyle/>
          <a:p>
            <a:pPr marL="0" indent="0">
              <a:buNone/>
            </a:pPr>
            <a:r>
              <a:rPr lang="en-US" sz="1500" b="1" dirty="0">
                <a:solidFill>
                  <a:srgbClr val="E8EAF0"/>
                </a:solidFill>
                <a:latin typeface="Calibri" pitchFamily="34" charset="0"/>
                <a:ea typeface="Calibri" pitchFamily="34" charset="-122"/>
                <a:cs typeface="Calibri" pitchFamily="34" charset="-120"/>
              </a:rPr>
              <a:t>GitHub Actions CI/CD</a:t>
            </a:r>
            <a:endParaRPr lang="en-US" sz="1500" dirty="0"/>
          </a:p>
        </p:txBody>
      </p:sp>
      <p:sp>
        <p:nvSpPr>
          <p:cNvPr id="16" name="Text 14"/>
          <p:cNvSpPr/>
          <p:nvPr/>
        </p:nvSpPr>
        <p:spPr>
          <a:xfrm>
            <a:off x="8366760" y="3063240"/>
            <a:ext cx="3337560" cy="96012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Every push triggers automatic linting with flake8, unit tests with pytest, and deployment to Heroku on the main branch. Currently 7 tests passing.</a:t>
            </a:r>
            <a:endParaRPr lang="en-US" sz="1050" dirty="0"/>
          </a:p>
        </p:txBody>
      </p:sp>
      <p:sp>
        <p:nvSpPr>
          <p:cNvPr id="17" name="Shape 15"/>
          <p:cNvSpPr/>
          <p:nvPr/>
        </p:nvSpPr>
        <p:spPr>
          <a:xfrm>
            <a:off x="457200" y="4206240"/>
            <a:ext cx="3703320" cy="1874520"/>
          </a:xfrm>
          <a:prstGeom prst="roundRect">
            <a:avLst>
              <a:gd name="adj" fmla="val 3902"/>
            </a:avLst>
          </a:prstGeom>
          <a:solidFill>
            <a:srgbClr val="131826"/>
          </a:solidFill>
          <a:ln w="6350">
            <a:solidFill>
              <a:srgbClr val="1F2A3F"/>
            </a:solidFill>
            <a:prstDash val="solid"/>
          </a:ln>
        </p:spPr>
      </p:sp>
      <p:sp>
        <p:nvSpPr>
          <p:cNvPr id="18" name="Text 16"/>
          <p:cNvSpPr/>
          <p:nvPr/>
        </p:nvSpPr>
        <p:spPr>
          <a:xfrm>
            <a:off x="685800" y="4343400"/>
            <a:ext cx="1188720" cy="274320"/>
          </a:xfrm>
          <a:prstGeom prst="rect">
            <a:avLst/>
          </a:prstGeom>
          <a:noFill/>
          <a:ln/>
        </p:spPr>
        <p:txBody>
          <a:bodyPr wrap="square" rtlCol="0" anchor="ctr"/>
          <a:lstStyle/>
          <a:p>
            <a:pPr marL="0" indent="0">
              <a:buNone/>
            </a:pPr>
            <a:r>
              <a:rPr lang="en-US" sz="900" b="1" kern="0" spc="150" dirty="0">
                <a:solidFill>
                  <a:srgbClr val="3B82F6"/>
                </a:solidFill>
                <a:latin typeface="Calibri" pitchFamily="34" charset="0"/>
                <a:ea typeface="Calibri" pitchFamily="34" charset="-122"/>
                <a:cs typeface="Calibri" pitchFamily="34" charset="-120"/>
              </a:rPr>
              <a:t>Bonus</a:t>
            </a:r>
            <a:endParaRPr lang="en-US" sz="900" dirty="0"/>
          </a:p>
        </p:txBody>
      </p:sp>
      <p:sp>
        <p:nvSpPr>
          <p:cNvPr id="19" name="Text 17"/>
          <p:cNvSpPr/>
          <p:nvPr/>
        </p:nvSpPr>
        <p:spPr>
          <a:xfrm>
            <a:off x="685800" y="4617720"/>
            <a:ext cx="3337560" cy="365760"/>
          </a:xfrm>
          <a:prstGeom prst="rect">
            <a:avLst/>
          </a:prstGeom>
          <a:noFill/>
          <a:ln/>
        </p:spPr>
        <p:txBody>
          <a:bodyPr wrap="square" lIns="0" tIns="0" rIns="0" bIns="0" rtlCol="0" anchor="ctr"/>
          <a:lstStyle/>
          <a:p>
            <a:pPr marL="0" indent="0">
              <a:buNone/>
            </a:pPr>
            <a:r>
              <a:rPr lang="en-US" sz="1500" b="1" dirty="0">
                <a:solidFill>
                  <a:srgbClr val="E8EAF0"/>
                </a:solidFill>
                <a:latin typeface="Calibri" pitchFamily="34" charset="0"/>
                <a:ea typeface="Calibri" pitchFamily="34" charset="-122"/>
                <a:cs typeface="Calibri" pitchFamily="34" charset="-120"/>
              </a:rPr>
              <a:t>Heroku Deployment</a:t>
            </a:r>
            <a:endParaRPr lang="en-US" sz="1500" dirty="0"/>
          </a:p>
        </p:txBody>
      </p:sp>
      <p:sp>
        <p:nvSpPr>
          <p:cNvPr id="20" name="Text 18"/>
          <p:cNvSpPr/>
          <p:nvPr/>
        </p:nvSpPr>
        <p:spPr>
          <a:xfrm>
            <a:off x="685800" y="5074920"/>
            <a:ext cx="3337560" cy="96012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Procfile, setup.sh, runtime.txt configured for one-command deploy. The Streamlit dashboard becomes publicly accessible to non-technical users.</a:t>
            </a:r>
            <a:endParaRPr lang="en-US" sz="1050" dirty="0"/>
          </a:p>
        </p:txBody>
      </p:sp>
      <p:sp>
        <p:nvSpPr>
          <p:cNvPr id="21" name="Shape 19"/>
          <p:cNvSpPr/>
          <p:nvPr/>
        </p:nvSpPr>
        <p:spPr>
          <a:xfrm>
            <a:off x="4297680" y="4206240"/>
            <a:ext cx="3703320" cy="1874520"/>
          </a:xfrm>
          <a:prstGeom prst="roundRect">
            <a:avLst>
              <a:gd name="adj" fmla="val 3902"/>
            </a:avLst>
          </a:prstGeom>
          <a:solidFill>
            <a:srgbClr val="131826"/>
          </a:solidFill>
          <a:ln w="6350">
            <a:solidFill>
              <a:srgbClr val="1F2A3F"/>
            </a:solidFill>
            <a:prstDash val="solid"/>
          </a:ln>
        </p:spPr>
      </p:sp>
      <p:sp>
        <p:nvSpPr>
          <p:cNvPr id="22" name="Text 20"/>
          <p:cNvSpPr/>
          <p:nvPr/>
        </p:nvSpPr>
        <p:spPr>
          <a:xfrm>
            <a:off x="4526280" y="4343400"/>
            <a:ext cx="1188720" cy="274320"/>
          </a:xfrm>
          <a:prstGeom prst="rect">
            <a:avLst/>
          </a:prstGeom>
          <a:noFill/>
          <a:ln/>
        </p:spPr>
        <p:txBody>
          <a:bodyPr wrap="square" rtlCol="0" anchor="ctr"/>
          <a:lstStyle/>
          <a:p>
            <a:pPr marL="0" indent="0">
              <a:buNone/>
            </a:pPr>
            <a:r>
              <a:rPr lang="en-US" sz="900" b="1" kern="0" spc="150" dirty="0">
                <a:solidFill>
                  <a:srgbClr val="10B981"/>
                </a:solidFill>
                <a:latin typeface="Calibri" pitchFamily="34" charset="0"/>
                <a:ea typeface="Calibri" pitchFamily="34" charset="-122"/>
                <a:cs typeface="Calibri" pitchFamily="34" charset="-120"/>
              </a:rPr>
              <a:t>Bonus</a:t>
            </a:r>
            <a:endParaRPr lang="en-US" sz="900" dirty="0"/>
          </a:p>
        </p:txBody>
      </p:sp>
      <p:sp>
        <p:nvSpPr>
          <p:cNvPr id="23" name="Text 21"/>
          <p:cNvSpPr/>
          <p:nvPr/>
        </p:nvSpPr>
        <p:spPr>
          <a:xfrm>
            <a:off x="4526280" y="4617720"/>
            <a:ext cx="3337560" cy="365760"/>
          </a:xfrm>
          <a:prstGeom prst="rect">
            <a:avLst/>
          </a:prstGeom>
          <a:noFill/>
          <a:ln/>
        </p:spPr>
        <p:txBody>
          <a:bodyPr wrap="square" lIns="0" tIns="0" rIns="0" bIns="0" rtlCol="0" anchor="ctr"/>
          <a:lstStyle/>
          <a:p>
            <a:pPr marL="0" indent="0">
              <a:buNone/>
            </a:pPr>
            <a:r>
              <a:rPr lang="en-US" sz="1500" b="1" dirty="0">
                <a:solidFill>
                  <a:srgbClr val="E8EAF0"/>
                </a:solidFill>
                <a:latin typeface="Calibri" pitchFamily="34" charset="0"/>
                <a:ea typeface="Calibri" pitchFamily="34" charset="-122"/>
                <a:cs typeface="Calibri" pitchFamily="34" charset="-120"/>
              </a:rPr>
              <a:t>Modular src/ Package</a:t>
            </a:r>
            <a:endParaRPr lang="en-US" sz="1500" dirty="0"/>
          </a:p>
        </p:txBody>
      </p:sp>
      <p:sp>
        <p:nvSpPr>
          <p:cNvPr id="24" name="Text 22"/>
          <p:cNvSpPr/>
          <p:nvPr/>
        </p:nvSpPr>
        <p:spPr>
          <a:xfrm>
            <a:off x="4526280" y="5074920"/>
            <a:ext cx="3337560" cy="96012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Five reusable Python modules: data_loader, feature_engineering, pipeline_builder, lstm_model, logger_config. Each does one thing well.</a:t>
            </a:r>
            <a:endParaRPr lang="en-US" sz="1050" dirty="0"/>
          </a:p>
        </p:txBody>
      </p:sp>
      <p:sp>
        <p:nvSpPr>
          <p:cNvPr id="25" name="Shape 23"/>
          <p:cNvSpPr/>
          <p:nvPr/>
        </p:nvSpPr>
        <p:spPr>
          <a:xfrm>
            <a:off x="8138160" y="4206240"/>
            <a:ext cx="3703320" cy="1874520"/>
          </a:xfrm>
          <a:prstGeom prst="roundRect">
            <a:avLst>
              <a:gd name="adj" fmla="val 3902"/>
            </a:avLst>
          </a:prstGeom>
          <a:solidFill>
            <a:srgbClr val="131826"/>
          </a:solidFill>
          <a:ln w="6350">
            <a:solidFill>
              <a:srgbClr val="1F2A3F"/>
            </a:solidFill>
            <a:prstDash val="solid"/>
          </a:ln>
        </p:spPr>
      </p:sp>
      <p:sp>
        <p:nvSpPr>
          <p:cNvPr id="26" name="Text 24"/>
          <p:cNvSpPr/>
          <p:nvPr/>
        </p:nvSpPr>
        <p:spPr>
          <a:xfrm>
            <a:off x="8366760" y="4343400"/>
            <a:ext cx="1188720" cy="274320"/>
          </a:xfrm>
          <a:prstGeom prst="rect">
            <a:avLst/>
          </a:prstGeom>
          <a:noFill/>
          <a:ln/>
        </p:spPr>
        <p:txBody>
          <a:bodyPr wrap="square" rtlCol="0" anchor="ctr"/>
          <a:lstStyle/>
          <a:p>
            <a:pPr marL="0" indent="0">
              <a:buNone/>
            </a:pPr>
            <a:r>
              <a:rPr lang="en-US" sz="900" b="1" kern="0" spc="150" dirty="0">
                <a:solidFill>
                  <a:srgbClr val="F59E0B"/>
                </a:solidFill>
                <a:latin typeface="Calibri" pitchFamily="34" charset="0"/>
                <a:ea typeface="Calibri" pitchFamily="34" charset="-122"/>
                <a:cs typeface="Calibri" pitchFamily="34" charset="-120"/>
              </a:rPr>
              <a:t>Task 1.2</a:t>
            </a:r>
            <a:endParaRPr lang="en-US" sz="900" dirty="0"/>
          </a:p>
        </p:txBody>
      </p:sp>
      <p:sp>
        <p:nvSpPr>
          <p:cNvPr id="27" name="Text 25"/>
          <p:cNvSpPr/>
          <p:nvPr/>
        </p:nvSpPr>
        <p:spPr>
          <a:xfrm>
            <a:off x="8366760" y="4617720"/>
            <a:ext cx="3337560" cy="365760"/>
          </a:xfrm>
          <a:prstGeom prst="rect">
            <a:avLst/>
          </a:prstGeom>
          <a:noFill/>
          <a:ln/>
        </p:spPr>
        <p:txBody>
          <a:bodyPr wrap="square" lIns="0" tIns="0" rIns="0" bIns="0" rtlCol="0" anchor="ctr"/>
          <a:lstStyle/>
          <a:p>
            <a:pPr marL="0" indent="0">
              <a:buNone/>
            </a:pPr>
            <a:r>
              <a:rPr lang="en-US" sz="1500" b="1" dirty="0">
                <a:solidFill>
                  <a:srgbClr val="E8EAF0"/>
                </a:solidFill>
                <a:latin typeface="Calibri" pitchFamily="34" charset="0"/>
                <a:ea typeface="Calibri" pitchFamily="34" charset="-122"/>
                <a:cs typeface="Calibri" pitchFamily="34" charset="-120"/>
              </a:rPr>
              <a:t>Python Logging</a:t>
            </a:r>
            <a:endParaRPr lang="en-US" sz="1500" dirty="0"/>
          </a:p>
        </p:txBody>
      </p:sp>
      <p:sp>
        <p:nvSpPr>
          <p:cNvPr id="28" name="Text 26"/>
          <p:cNvSpPr/>
          <p:nvPr/>
        </p:nvSpPr>
        <p:spPr>
          <a:xfrm>
            <a:off x="8366760" y="5074920"/>
            <a:ext cx="3337560" cy="96012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Centralised logger writes timestamped, structured logs to both file and console. Full traceability of what ran when and how it performed.</a:t>
            </a:r>
            <a:endParaRPr lang="en-US" sz="1050" dirty="0"/>
          </a:p>
        </p:txBody>
      </p:sp>
      <p:sp>
        <p:nvSpPr>
          <p:cNvPr id="29" name="Text 27"/>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30" name="Text 28"/>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421"/>
        </a:solidFill>
        <a:effectLst/>
      </p:bgPr>
    </p:bg>
    <p:spTree>
      <p:nvGrpSpPr>
        <p:cNvPr id="1" name=""/>
        <p:cNvGrpSpPr/>
        <p:nvPr/>
      </p:nvGrpSpPr>
      <p:grpSpPr>
        <a:xfrm>
          <a:off x="0" y="0"/>
          <a:ext cx="0" cy="0"/>
          <a:chOff x="0" y="0"/>
          <a:chExt cx="0" cy="0"/>
        </a:xfrm>
      </p:grpSpPr>
      <p:sp>
        <p:nvSpPr>
          <p:cNvPr id="2" name="Text 0"/>
          <p:cNvSpPr/>
          <p:nvPr/>
        </p:nvSpPr>
        <p:spPr>
          <a:xfrm>
            <a:off x="457200" y="320040"/>
            <a:ext cx="11247120" cy="502920"/>
          </a:xfrm>
          <a:prstGeom prst="rect">
            <a:avLst/>
          </a:prstGeom>
          <a:noFill/>
          <a:ln/>
        </p:spPr>
        <p:txBody>
          <a:bodyPr wrap="square" lIns="0" tIns="0" rIns="0" bIns="0" rtlCol="0" anchor="ctr"/>
          <a:lstStyle/>
          <a:p>
            <a:pPr marL="0" indent="0">
              <a:buNone/>
            </a:pPr>
            <a:r>
              <a:rPr lang="en-US" sz="2800" b="1" dirty="0">
                <a:solidFill>
                  <a:srgbClr val="E8EAF0"/>
                </a:solidFill>
                <a:latin typeface="Calibri" pitchFamily="34" charset="0"/>
                <a:ea typeface="Calibri" pitchFamily="34" charset="-122"/>
                <a:cs typeface="Calibri" pitchFamily="34" charset="-120"/>
              </a:rPr>
              <a:t>Interactive Streamlit Dashboard</a:t>
            </a:r>
            <a:endParaRPr lang="en-US" sz="280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n-US" sz="1300" i="1" dirty="0">
                <a:solidFill>
                  <a:srgbClr val="9CA8C2"/>
                </a:solidFill>
                <a:latin typeface="Calibri" pitchFamily="34" charset="0"/>
                <a:ea typeface="Calibri" pitchFamily="34" charset="-122"/>
                <a:cs typeface="Calibri" pitchFamily="34" charset="-120"/>
              </a:rPr>
              <a:t>Eight pages serving predictions to store managers</a:t>
            </a:r>
            <a:endParaRPr lang="en-US" sz="1300" dirty="0"/>
          </a:p>
        </p:txBody>
      </p:sp>
      <p:sp>
        <p:nvSpPr>
          <p:cNvPr id="4" name="Text 2"/>
          <p:cNvSpPr/>
          <p:nvPr/>
        </p:nvSpPr>
        <p:spPr>
          <a:xfrm>
            <a:off x="457200" y="1325880"/>
            <a:ext cx="11247120" cy="77724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The dashboard is the user-facing component that converts our trained model into an actionable tool. Managers, finance team members, and analysts can interact with it without writing code. Each of the 8 pages serves a distinct purpose — from exploring data to running predictions to monitoring models.</a:t>
            </a:r>
            <a:endParaRPr lang="en-US" sz="1200" dirty="0"/>
          </a:p>
        </p:txBody>
      </p:sp>
      <p:sp>
        <p:nvSpPr>
          <p:cNvPr id="5" name="Shape 3"/>
          <p:cNvSpPr/>
          <p:nvPr/>
        </p:nvSpPr>
        <p:spPr>
          <a:xfrm>
            <a:off x="457200" y="2194560"/>
            <a:ext cx="2743200" cy="1874520"/>
          </a:xfrm>
          <a:prstGeom prst="roundRect">
            <a:avLst>
              <a:gd name="adj" fmla="val 3902"/>
            </a:avLst>
          </a:prstGeom>
          <a:solidFill>
            <a:srgbClr val="131826"/>
          </a:solidFill>
          <a:ln w="6350">
            <a:solidFill>
              <a:srgbClr val="1F2A3F"/>
            </a:solidFill>
            <a:prstDash val="solid"/>
          </a:ln>
        </p:spPr>
      </p:sp>
      <p:sp>
        <p:nvSpPr>
          <p:cNvPr id="6" name="Text 4"/>
          <p:cNvSpPr/>
          <p:nvPr/>
        </p:nvSpPr>
        <p:spPr>
          <a:xfrm>
            <a:off x="640080" y="2331720"/>
            <a:ext cx="640080" cy="640080"/>
          </a:xfrm>
          <a:prstGeom prst="rect">
            <a:avLst/>
          </a:prstGeom>
          <a:noFill/>
          <a:ln/>
        </p:spPr>
        <p:txBody>
          <a:bodyPr wrap="square" lIns="0" tIns="0" rIns="0" bIns="0" rtlCol="0" anchor="ctr"/>
          <a:lstStyle/>
          <a:p>
            <a:pPr marL="0" indent="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7" name="Text 5"/>
          <p:cNvSpPr/>
          <p:nvPr/>
        </p:nvSpPr>
        <p:spPr>
          <a:xfrm>
            <a:off x="640080" y="3017520"/>
            <a:ext cx="24688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Overview</a:t>
            </a:r>
            <a:endParaRPr lang="en-US" sz="1400" dirty="0"/>
          </a:p>
        </p:txBody>
      </p:sp>
      <p:sp>
        <p:nvSpPr>
          <p:cNvPr id="8" name="Text 6"/>
          <p:cNvSpPr/>
          <p:nvPr/>
        </p:nvSpPr>
        <p:spPr>
          <a:xfrm>
            <a:off x="640080" y="3383280"/>
            <a:ext cx="2468880" cy="64008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Hero, KPIs, sales trend, pipeline visualization</a:t>
            </a:r>
            <a:endParaRPr lang="en-US" sz="1050" dirty="0"/>
          </a:p>
        </p:txBody>
      </p:sp>
      <p:sp>
        <p:nvSpPr>
          <p:cNvPr id="9" name="Shape 7"/>
          <p:cNvSpPr/>
          <p:nvPr/>
        </p:nvSpPr>
        <p:spPr>
          <a:xfrm>
            <a:off x="3337560" y="2194560"/>
            <a:ext cx="2743200" cy="1874520"/>
          </a:xfrm>
          <a:prstGeom prst="roundRect">
            <a:avLst>
              <a:gd name="adj" fmla="val 3902"/>
            </a:avLst>
          </a:prstGeom>
          <a:solidFill>
            <a:srgbClr val="131826"/>
          </a:solidFill>
          <a:ln w="6350">
            <a:solidFill>
              <a:srgbClr val="1F2A3F"/>
            </a:solidFill>
            <a:prstDash val="solid"/>
          </a:ln>
        </p:spPr>
      </p:sp>
      <p:sp>
        <p:nvSpPr>
          <p:cNvPr id="10" name="Text 8"/>
          <p:cNvSpPr/>
          <p:nvPr/>
        </p:nvSpPr>
        <p:spPr>
          <a:xfrm>
            <a:off x="3520440" y="2331720"/>
            <a:ext cx="640080" cy="640080"/>
          </a:xfrm>
          <a:prstGeom prst="rect">
            <a:avLst/>
          </a:prstGeom>
          <a:noFill/>
          <a:ln/>
        </p:spPr>
        <p:txBody>
          <a:bodyPr wrap="square" lIns="0" tIns="0" rIns="0" bIns="0" rtlCol="0" anchor="ctr"/>
          <a:lstStyle/>
          <a:p>
            <a:pPr marL="0" indent="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1" name="Text 9"/>
          <p:cNvSpPr/>
          <p:nvPr/>
        </p:nvSpPr>
        <p:spPr>
          <a:xfrm>
            <a:off x="3520440" y="3017520"/>
            <a:ext cx="24688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EDA Explorer</a:t>
            </a:r>
            <a:endParaRPr lang="en-US" sz="1400" dirty="0"/>
          </a:p>
        </p:txBody>
      </p:sp>
      <p:sp>
        <p:nvSpPr>
          <p:cNvPr id="12" name="Text 10"/>
          <p:cNvSpPr/>
          <p:nvPr/>
        </p:nvSpPr>
        <p:spPr>
          <a:xfrm>
            <a:off x="3520440" y="3383280"/>
            <a:ext cx="2468880" cy="64008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7 tabs of interactive charts with business insights</a:t>
            </a:r>
            <a:endParaRPr lang="en-US" sz="1050" dirty="0"/>
          </a:p>
        </p:txBody>
      </p:sp>
      <p:sp>
        <p:nvSpPr>
          <p:cNvPr id="13" name="Shape 11"/>
          <p:cNvSpPr/>
          <p:nvPr/>
        </p:nvSpPr>
        <p:spPr>
          <a:xfrm>
            <a:off x="6217920" y="2194560"/>
            <a:ext cx="2743200" cy="1874520"/>
          </a:xfrm>
          <a:prstGeom prst="roundRect">
            <a:avLst>
              <a:gd name="adj" fmla="val 3902"/>
            </a:avLst>
          </a:prstGeom>
          <a:solidFill>
            <a:srgbClr val="131826"/>
          </a:solidFill>
          <a:ln w="6350">
            <a:solidFill>
              <a:srgbClr val="1F2A3F"/>
            </a:solidFill>
            <a:prstDash val="solid"/>
          </a:ln>
        </p:spPr>
      </p:sp>
      <p:sp>
        <p:nvSpPr>
          <p:cNvPr id="14" name="Text 12"/>
          <p:cNvSpPr/>
          <p:nvPr/>
        </p:nvSpPr>
        <p:spPr>
          <a:xfrm>
            <a:off x="6400800" y="2331720"/>
            <a:ext cx="640080" cy="640080"/>
          </a:xfrm>
          <a:prstGeom prst="rect">
            <a:avLst/>
          </a:prstGeom>
          <a:noFill/>
          <a:ln/>
        </p:spPr>
        <p:txBody>
          <a:bodyPr wrap="square" lIns="0" tIns="0" rIns="0" bIns="0" rtlCol="0" anchor="ctr"/>
          <a:lstStyle/>
          <a:p>
            <a:pPr marL="0" indent="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5" name="Text 13"/>
          <p:cNvSpPr/>
          <p:nvPr/>
        </p:nvSpPr>
        <p:spPr>
          <a:xfrm>
            <a:off x="6400800" y="3017520"/>
            <a:ext cx="24688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Sales Forecast</a:t>
            </a:r>
            <a:endParaRPr lang="en-US" sz="1400" dirty="0"/>
          </a:p>
        </p:txBody>
      </p:sp>
      <p:sp>
        <p:nvSpPr>
          <p:cNvPr id="16" name="Text 14"/>
          <p:cNvSpPr/>
          <p:nvPr/>
        </p:nvSpPr>
        <p:spPr>
          <a:xfrm>
            <a:off x="6400800" y="3383280"/>
            <a:ext cx="2468880" cy="64008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Pick a store, set promo, predict 6 weeks ahead</a:t>
            </a:r>
            <a:endParaRPr lang="en-US" sz="1050" dirty="0"/>
          </a:p>
        </p:txBody>
      </p:sp>
      <p:sp>
        <p:nvSpPr>
          <p:cNvPr id="17" name="Shape 15"/>
          <p:cNvSpPr/>
          <p:nvPr/>
        </p:nvSpPr>
        <p:spPr>
          <a:xfrm>
            <a:off x="9098280" y="2194560"/>
            <a:ext cx="2743200" cy="1874520"/>
          </a:xfrm>
          <a:prstGeom prst="roundRect">
            <a:avLst>
              <a:gd name="adj" fmla="val 3902"/>
            </a:avLst>
          </a:prstGeom>
          <a:solidFill>
            <a:srgbClr val="131826"/>
          </a:solidFill>
          <a:ln w="6350">
            <a:solidFill>
              <a:srgbClr val="1F2A3F"/>
            </a:solidFill>
            <a:prstDash val="solid"/>
          </a:ln>
        </p:spPr>
      </p:sp>
      <p:sp>
        <p:nvSpPr>
          <p:cNvPr id="18" name="Text 16"/>
          <p:cNvSpPr/>
          <p:nvPr/>
        </p:nvSpPr>
        <p:spPr>
          <a:xfrm>
            <a:off x="9281160" y="2331720"/>
            <a:ext cx="640080" cy="640080"/>
          </a:xfrm>
          <a:prstGeom prst="rect">
            <a:avLst/>
          </a:prstGeom>
          <a:noFill/>
          <a:ln/>
        </p:spPr>
        <p:txBody>
          <a:bodyPr wrap="square" lIns="0" tIns="0" rIns="0" bIns="0" rtlCol="0" anchor="ctr"/>
          <a:lstStyle/>
          <a:p>
            <a:pPr marL="0" indent="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9" name="Text 17"/>
          <p:cNvSpPr/>
          <p:nvPr/>
        </p:nvSpPr>
        <p:spPr>
          <a:xfrm>
            <a:off x="9281160" y="3017520"/>
            <a:ext cx="24688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Model Analysis</a:t>
            </a:r>
            <a:endParaRPr lang="en-US" sz="1400" dirty="0"/>
          </a:p>
        </p:txBody>
      </p:sp>
      <p:sp>
        <p:nvSpPr>
          <p:cNvPr id="20" name="Text 18"/>
          <p:cNvSpPr/>
          <p:nvPr/>
        </p:nvSpPr>
        <p:spPr>
          <a:xfrm>
            <a:off x="9281160" y="3383280"/>
            <a:ext cx="2468880" cy="64008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Feature importance, metrics, residual diagnostics</a:t>
            </a:r>
            <a:endParaRPr lang="en-US" sz="1050" dirty="0"/>
          </a:p>
        </p:txBody>
      </p:sp>
      <p:sp>
        <p:nvSpPr>
          <p:cNvPr id="21" name="Shape 19"/>
          <p:cNvSpPr/>
          <p:nvPr/>
        </p:nvSpPr>
        <p:spPr>
          <a:xfrm>
            <a:off x="457200" y="4206240"/>
            <a:ext cx="2743200" cy="1874520"/>
          </a:xfrm>
          <a:prstGeom prst="roundRect">
            <a:avLst>
              <a:gd name="adj" fmla="val 3902"/>
            </a:avLst>
          </a:prstGeom>
          <a:solidFill>
            <a:srgbClr val="131826"/>
          </a:solidFill>
          <a:ln w="6350">
            <a:solidFill>
              <a:srgbClr val="1F2A3F"/>
            </a:solidFill>
            <a:prstDash val="solid"/>
          </a:ln>
        </p:spPr>
      </p:sp>
      <p:sp>
        <p:nvSpPr>
          <p:cNvPr id="22" name="Text 20"/>
          <p:cNvSpPr/>
          <p:nvPr/>
        </p:nvSpPr>
        <p:spPr>
          <a:xfrm>
            <a:off x="640080" y="4343400"/>
            <a:ext cx="640080" cy="640080"/>
          </a:xfrm>
          <a:prstGeom prst="rect">
            <a:avLst/>
          </a:prstGeom>
          <a:noFill/>
          <a:ln/>
        </p:spPr>
        <p:txBody>
          <a:bodyPr wrap="square" lIns="0" tIns="0" rIns="0" bIns="0" rtlCol="0" anchor="ctr"/>
          <a:lstStyle/>
          <a:p>
            <a:pPr marL="0" indent="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3" name="Text 21"/>
          <p:cNvSpPr/>
          <p:nvPr/>
        </p:nvSpPr>
        <p:spPr>
          <a:xfrm>
            <a:off x="640080" y="5029200"/>
            <a:ext cx="24688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LSTM Deep Learning</a:t>
            </a:r>
            <a:endParaRPr lang="en-US" sz="1400" dirty="0"/>
          </a:p>
        </p:txBody>
      </p:sp>
      <p:sp>
        <p:nvSpPr>
          <p:cNvPr id="24" name="Text 22"/>
          <p:cNvSpPr/>
          <p:nvPr/>
        </p:nvSpPr>
        <p:spPr>
          <a:xfrm>
            <a:off x="640080" y="5394960"/>
            <a:ext cx="2468880" cy="64008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Time-series ADF test, ACF/PACF, architecture</a:t>
            </a:r>
            <a:endParaRPr lang="en-US" sz="1050" dirty="0"/>
          </a:p>
        </p:txBody>
      </p:sp>
      <p:sp>
        <p:nvSpPr>
          <p:cNvPr id="25" name="Shape 23"/>
          <p:cNvSpPr/>
          <p:nvPr/>
        </p:nvSpPr>
        <p:spPr>
          <a:xfrm>
            <a:off x="3337560" y="4206240"/>
            <a:ext cx="2743200" cy="1874520"/>
          </a:xfrm>
          <a:prstGeom prst="roundRect">
            <a:avLst>
              <a:gd name="adj" fmla="val 3902"/>
            </a:avLst>
          </a:prstGeom>
          <a:solidFill>
            <a:srgbClr val="131826"/>
          </a:solidFill>
          <a:ln w="6350">
            <a:solidFill>
              <a:srgbClr val="1F2A3F"/>
            </a:solidFill>
            <a:prstDash val="solid"/>
          </a:ln>
        </p:spPr>
      </p:sp>
      <p:sp>
        <p:nvSpPr>
          <p:cNvPr id="26" name="Text 24"/>
          <p:cNvSpPr/>
          <p:nvPr/>
        </p:nvSpPr>
        <p:spPr>
          <a:xfrm>
            <a:off x="3520440" y="4343400"/>
            <a:ext cx="640080" cy="640080"/>
          </a:xfrm>
          <a:prstGeom prst="rect">
            <a:avLst/>
          </a:prstGeom>
          <a:noFill/>
          <a:ln/>
        </p:spPr>
        <p:txBody>
          <a:bodyPr wrap="square" lIns="0" tIns="0" rIns="0" bIns="0" rtlCol="0" anchor="ctr"/>
          <a:lstStyle/>
          <a:p>
            <a:pPr marL="0" indent="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27" name="Text 25"/>
          <p:cNvSpPr/>
          <p:nvPr/>
        </p:nvSpPr>
        <p:spPr>
          <a:xfrm>
            <a:off x="3520440" y="5029200"/>
            <a:ext cx="24688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Batch Predict</a:t>
            </a:r>
            <a:endParaRPr lang="en-US" sz="1400" dirty="0"/>
          </a:p>
        </p:txBody>
      </p:sp>
      <p:sp>
        <p:nvSpPr>
          <p:cNvPr id="28" name="Text 26"/>
          <p:cNvSpPr/>
          <p:nvPr/>
        </p:nvSpPr>
        <p:spPr>
          <a:xfrm>
            <a:off x="3520440" y="5394960"/>
            <a:ext cx="2468880" cy="64008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Upload a CSV, download predictions as CSV</a:t>
            </a:r>
            <a:endParaRPr lang="en-US" sz="1050" dirty="0"/>
          </a:p>
        </p:txBody>
      </p:sp>
      <p:sp>
        <p:nvSpPr>
          <p:cNvPr id="29" name="Shape 27"/>
          <p:cNvSpPr/>
          <p:nvPr/>
        </p:nvSpPr>
        <p:spPr>
          <a:xfrm>
            <a:off x="6217920" y="4206240"/>
            <a:ext cx="2743200" cy="1874520"/>
          </a:xfrm>
          <a:prstGeom prst="roundRect">
            <a:avLst>
              <a:gd name="adj" fmla="val 3902"/>
            </a:avLst>
          </a:prstGeom>
          <a:solidFill>
            <a:srgbClr val="131826"/>
          </a:solidFill>
          <a:ln w="6350">
            <a:solidFill>
              <a:srgbClr val="1F2A3F"/>
            </a:solidFill>
            <a:prstDash val="solid"/>
          </a:ln>
        </p:spPr>
      </p:sp>
      <p:sp>
        <p:nvSpPr>
          <p:cNvPr id="30" name="Text 28"/>
          <p:cNvSpPr/>
          <p:nvPr/>
        </p:nvSpPr>
        <p:spPr>
          <a:xfrm>
            <a:off x="6400800" y="4343400"/>
            <a:ext cx="640080" cy="640080"/>
          </a:xfrm>
          <a:prstGeom prst="rect">
            <a:avLst/>
          </a:prstGeom>
          <a:noFill/>
          <a:ln/>
        </p:spPr>
        <p:txBody>
          <a:bodyPr wrap="square" lIns="0" tIns="0" rIns="0" bIns="0" rtlCol="0" anchor="ctr"/>
          <a:lstStyle/>
          <a:p>
            <a:pPr marL="0" indent="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31" name="Text 29"/>
          <p:cNvSpPr/>
          <p:nvPr/>
        </p:nvSpPr>
        <p:spPr>
          <a:xfrm>
            <a:off x="6400800" y="5029200"/>
            <a:ext cx="24688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MLflow Tracking</a:t>
            </a:r>
            <a:endParaRPr lang="en-US" sz="1400" dirty="0"/>
          </a:p>
        </p:txBody>
      </p:sp>
      <p:sp>
        <p:nvSpPr>
          <p:cNvPr id="32" name="Text 30"/>
          <p:cNvSpPr/>
          <p:nvPr/>
        </p:nvSpPr>
        <p:spPr>
          <a:xfrm>
            <a:off x="6400800" y="5394960"/>
            <a:ext cx="2468880" cy="64008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Compare all training runs and their metrics</a:t>
            </a:r>
            <a:endParaRPr lang="en-US" sz="1050" dirty="0"/>
          </a:p>
        </p:txBody>
      </p:sp>
      <p:sp>
        <p:nvSpPr>
          <p:cNvPr id="33" name="Shape 31"/>
          <p:cNvSpPr/>
          <p:nvPr/>
        </p:nvSpPr>
        <p:spPr>
          <a:xfrm>
            <a:off x="9098280" y="4206240"/>
            <a:ext cx="2743200" cy="1874520"/>
          </a:xfrm>
          <a:prstGeom prst="roundRect">
            <a:avLst>
              <a:gd name="adj" fmla="val 3902"/>
            </a:avLst>
          </a:prstGeom>
          <a:solidFill>
            <a:srgbClr val="131826"/>
          </a:solidFill>
          <a:ln w="6350">
            <a:solidFill>
              <a:srgbClr val="1F2A3F"/>
            </a:solidFill>
            <a:prstDash val="solid"/>
          </a:ln>
        </p:spPr>
      </p:sp>
      <p:sp>
        <p:nvSpPr>
          <p:cNvPr id="34" name="Text 32"/>
          <p:cNvSpPr/>
          <p:nvPr/>
        </p:nvSpPr>
        <p:spPr>
          <a:xfrm>
            <a:off x="9281160" y="4343400"/>
            <a:ext cx="640080" cy="640080"/>
          </a:xfrm>
          <a:prstGeom prst="rect">
            <a:avLst/>
          </a:prstGeom>
          <a:noFill/>
          <a:ln/>
        </p:spPr>
        <p:txBody>
          <a:bodyPr wrap="square" lIns="0" tIns="0" rIns="0" bIns="0" rtlCol="0" anchor="ctr"/>
          <a:lstStyle/>
          <a:p>
            <a:pPr marL="0" indent="0">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35" name="Text 33"/>
          <p:cNvSpPr/>
          <p:nvPr/>
        </p:nvSpPr>
        <p:spPr>
          <a:xfrm>
            <a:off x="9281160" y="5029200"/>
            <a:ext cx="2468880" cy="320040"/>
          </a:xfrm>
          <a:prstGeom prst="rect">
            <a:avLst/>
          </a:prstGeom>
          <a:noFill/>
          <a:ln/>
        </p:spPr>
        <p:txBody>
          <a:bodyPr wrap="square" lIns="0" tIns="0" rIns="0" bIns="0" rtlCol="0" anchor="ctr"/>
          <a:lstStyle/>
          <a:p>
            <a:pPr marL="0" indent="0">
              <a:buNone/>
            </a:pPr>
            <a:r>
              <a:rPr lang="en-US" sz="1400" b="1" dirty="0">
                <a:solidFill>
                  <a:srgbClr val="E8EAF0"/>
                </a:solidFill>
                <a:latin typeface="Calibri" pitchFamily="34" charset="0"/>
                <a:ea typeface="Calibri" pitchFamily="34" charset="-122"/>
                <a:cs typeface="Calibri" pitchFamily="34" charset="-120"/>
              </a:rPr>
              <a:t>Business Insights</a:t>
            </a:r>
            <a:endParaRPr lang="en-US" sz="1400" dirty="0"/>
          </a:p>
        </p:txBody>
      </p:sp>
      <p:sp>
        <p:nvSpPr>
          <p:cNvPr id="36" name="Text 34"/>
          <p:cNvSpPr/>
          <p:nvPr/>
        </p:nvSpPr>
        <p:spPr>
          <a:xfrm>
            <a:off x="9281160" y="5394960"/>
            <a:ext cx="2468880" cy="640080"/>
          </a:xfrm>
          <a:prstGeom prst="rect">
            <a:avLst/>
          </a:prstGeom>
          <a:noFill/>
          <a:ln/>
        </p:spPr>
        <p:txBody>
          <a:bodyPr wrap="square" lIns="0" tIns="0" rIns="0" bIns="0" rtlCol="0" anchor="ctr"/>
          <a:lstStyle/>
          <a:p>
            <a:pPr marL="0" indent="0">
              <a:buNone/>
            </a:pPr>
            <a:r>
              <a:rPr lang="en-US" sz="1050" dirty="0">
                <a:solidFill>
                  <a:srgbClr val="9CA8C2"/>
                </a:solidFill>
                <a:latin typeface="Calibri" pitchFamily="34" charset="0"/>
                <a:ea typeface="Calibri" pitchFamily="34" charset="-122"/>
                <a:cs typeface="Calibri" pitchFamily="34" charset="-120"/>
              </a:rPr>
              <a:t>Strategic findings and production recommendations</a:t>
            </a:r>
            <a:endParaRPr lang="en-US" sz="1050" dirty="0"/>
          </a:p>
        </p:txBody>
      </p:sp>
      <p:sp>
        <p:nvSpPr>
          <p:cNvPr id="37" name="Text 35"/>
          <p:cNvSpPr/>
          <p:nvPr/>
        </p:nvSpPr>
        <p:spPr>
          <a:xfrm>
            <a:off x="457200" y="6537960"/>
            <a:ext cx="9144000" cy="228600"/>
          </a:xfrm>
          <a:prstGeom prst="rect">
            <a:avLst/>
          </a:prstGeom>
          <a:noFill/>
          <a:ln/>
        </p:spPr>
        <p:txBody>
          <a:bodyPr wrap="square" rtlCol="0" anchor="ctr"/>
          <a:lstStyle/>
          <a:p>
            <a:pPr marL="0" indent="0">
              <a:buNone/>
            </a:pPr>
            <a:r>
              <a:rPr lang="en-US" sz="900" dirty="0">
                <a:solidFill>
                  <a:srgbClr val="9CA8C2"/>
                </a:solidFill>
                <a:latin typeface="Calibri" pitchFamily="34" charset="0"/>
                <a:ea typeface="Calibri" pitchFamily="34" charset="-122"/>
                <a:cs typeface="Calibri" pitchFamily="34" charset="-120"/>
              </a:rPr>
              <a:t>Rossmann Sales Forecasting · NextHikes Sprint Project · Sumeet Rajput</a:t>
            </a:r>
            <a:endParaRPr lang="en-US" sz="900" dirty="0"/>
          </a:p>
        </p:txBody>
      </p:sp>
      <p:sp>
        <p:nvSpPr>
          <p:cNvPr id="38" name="Text 36"/>
          <p:cNvSpPr/>
          <p:nvPr/>
        </p:nvSpPr>
        <p:spPr>
          <a:xfrm>
            <a:off x="11430000" y="6537960"/>
            <a:ext cx="640080" cy="228600"/>
          </a:xfrm>
          <a:prstGeom prst="rect">
            <a:avLst/>
          </a:prstGeom>
          <a:noFill/>
          <a:ln/>
        </p:spPr>
        <p:txBody>
          <a:bodyPr wrap="square" rtlCol="0" anchor="ctr"/>
          <a:lstStyle/>
          <a:p>
            <a:pPr marL="0" indent="0" algn="r">
              <a:buNone/>
            </a:pPr>
            <a:r>
              <a:rPr lang="en-US" sz="900" dirty="0">
                <a:solidFill>
                  <a:srgbClr val="9CA8C2"/>
                </a:solidFill>
                <a:latin typeface="Calibri" pitchFamily="34" charset="0"/>
                <a:ea typeface="Calibri" pitchFamily="34" charset="-122"/>
                <a:cs typeface="Calibri"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421"/>
        </a:solidFill>
        <a:effectLst/>
      </p:bgPr>
    </p:bg>
    <p:spTree>
      <p:nvGrpSpPr>
        <p:cNvPr id="1" name=""/>
        <p:cNvGrpSpPr/>
        <p:nvPr/>
      </p:nvGrpSpPr>
      <p:grpSpPr>
        <a:xfrm>
          <a:off x="0" y="0"/>
          <a:ext cx="0" cy="0"/>
          <a:chOff x="0" y="0"/>
          <a:chExt cx="0" cy="0"/>
        </a:xfrm>
      </p:grpSpPr>
      <p:sp>
        <p:nvSpPr>
          <p:cNvPr id="2" name="Shape 0"/>
          <p:cNvSpPr/>
          <p:nvPr/>
        </p:nvSpPr>
        <p:spPr>
          <a:xfrm>
            <a:off x="8229600" y="-1828800"/>
            <a:ext cx="5486400" cy="5486400"/>
          </a:xfrm>
          <a:prstGeom prst="ellipse">
            <a:avLst/>
          </a:prstGeom>
          <a:solidFill>
            <a:srgbClr val="3B82F6">
              <a:alpha val="12000"/>
            </a:srgbClr>
          </a:solidFill>
          <a:ln w="12700">
            <a:solidFill>
              <a:srgbClr val="FFFFFF">
                <a:alpha val="0"/>
              </a:srgbClr>
            </a:solidFill>
            <a:prstDash val="solid"/>
          </a:ln>
        </p:spPr>
      </p:sp>
      <p:sp>
        <p:nvSpPr>
          <p:cNvPr id="3" name="Text 1"/>
          <p:cNvSpPr/>
          <p:nvPr/>
        </p:nvSpPr>
        <p:spPr>
          <a:xfrm>
            <a:off x="640080" y="548640"/>
            <a:ext cx="7315200" cy="365760"/>
          </a:xfrm>
          <a:prstGeom prst="rect">
            <a:avLst/>
          </a:prstGeom>
          <a:noFill/>
          <a:ln/>
        </p:spPr>
        <p:txBody>
          <a:bodyPr wrap="square" rtlCol="0" anchor="ctr"/>
          <a:lstStyle/>
          <a:p>
            <a:pPr marL="0" indent="0">
              <a:buNone/>
            </a:pPr>
            <a:r>
              <a:rPr lang="en-US" sz="1300" b="1" kern="0" spc="200" dirty="0">
                <a:solidFill>
                  <a:srgbClr val="3B82F6"/>
                </a:solidFill>
                <a:latin typeface="Calibri" pitchFamily="34" charset="0"/>
                <a:ea typeface="Calibri" pitchFamily="34" charset="-122"/>
                <a:cs typeface="Calibri" pitchFamily="34" charset="-120"/>
              </a:rPr>
              <a:t>FINAL RESULTS</a:t>
            </a:r>
            <a:endParaRPr lang="en-US" sz="1300" dirty="0"/>
          </a:p>
        </p:txBody>
      </p:sp>
      <p:sp>
        <p:nvSpPr>
          <p:cNvPr id="4" name="Text 2"/>
          <p:cNvSpPr/>
          <p:nvPr/>
        </p:nvSpPr>
        <p:spPr>
          <a:xfrm>
            <a:off x="640080" y="914400"/>
            <a:ext cx="10972800" cy="640080"/>
          </a:xfrm>
          <a:prstGeom prst="rect">
            <a:avLst/>
          </a:prstGeom>
          <a:noFill/>
          <a:ln/>
        </p:spPr>
        <p:txBody>
          <a:bodyPr wrap="square" lIns="0" tIns="0" rIns="0" bIns="0" rtlCol="0" anchor="ctr"/>
          <a:lstStyle/>
          <a:p>
            <a:pPr marL="0" indent="0">
              <a:buNone/>
            </a:pPr>
            <a:r>
              <a:rPr lang="en-US" sz="3200" b="1" dirty="0">
                <a:solidFill>
                  <a:srgbClr val="E8EAF0"/>
                </a:solidFill>
                <a:latin typeface="Calibri" pitchFamily="34" charset="0"/>
                <a:ea typeface="Calibri" pitchFamily="34" charset="-122"/>
                <a:cs typeface="Calibri" pitchFamily="34" charset="-120"/>
              </a:rPr>
              <a:t>Production-Ready Sales Forecasting</a:t>
            </a:r>
            <a:endParaRPr lang="en-US" sz="3200" dirty="0"/>
          </a:p>
        </p:txBody>
      </p:sp>
      <p:sp>
        <p:nvSpPr>
          <p:cNvPr id="5" name="Text 3"/>
          <p:cNvSpPr/>
          <p:nvPr/>
        </p:nvSpPr>
        <p:spPr>
          <a:xfrm>
            <a:off x="640080" y="1600200"/>
            <a:ext cx="10972800" cy="777240"/>
          </a:xfrm>
          <a:prstGeom prst="rect">
            <a:avLst/>
          </a:prstGeom>
          <a:noFill/>
          <a:ln/>
        </p:spPr>
        <p:txBody>
          <a:bodyPr wrap="square" lIns="0" tIns="0" rIns="0" bIns="0" rtlCol="0" anchor="ctr"/>
          <a:lstStyle/>
          <a:p>
            <a:pPr marL="0" indent="0">
              <a:buNone/>
            </a:pPr>
            <a:r>
              <a:rPr lang="en-US" sz="1200" i="1" dirty="0">
                <a:solidFill>
                  <a:srgbClr val="C5D2EE"/>
                </a:solidFill>
                <a:latin typeface="Calibri" pitchFamily="34" charset="0"/>
                <a:ea typeface="Calibri" pitchFamily="34" charset="-122"/>
                <a:cs typeface="Calibri" pitchFamily="34" charset="-120"/>
              </a:rPr>
              <a:t>This project delivers everything the brief specifies, plus all four bonus items. From 1 million rows of raw retail data, we built a complete machine learning system that managers can actually use — with model accuracy in the top 15% of Kaggle solutions on the same dataset.</a:t>
            </a:r>
            <a:endParaRPr lang="en-US" sz="1200" dirty="0"/>
          </a:p>
        </p:txBody>
      </p:sp>
      <p:sp>
        <p:nvSpPr>
          <p:cNvPr id="6" name="Shape 4"/>
          <p:cNvSpPr/>
          <p:nvPr/>
        </p:nvSpPr>
        <p:spPr>
          <a:xfrm>
            <a:off x="640080" y="2560320"/>
            <a:ext cx="3703320" cy="2011680"/>
          </a:xfrm>
          <a:prstGeom prst="roundRect">
            <a:avLst>
              <a:gd name="adj" fmla="val 3636"/>
            </a:avLst>
          </a:prstGeom>
          <a:solidFill>
            <a:srgbClr val="131826"/>
          </a:solidFill>
          <a:ln w="6350">
            <a:solidFill>
              <a:srgbClr val="1F2A3F"/>
            </a:solidFill>
            <a:prstDash val="solid"/>
          </a:ln>
        </p:spPr>
      </p:sp>
      <p:sp>
        <p:nvSpPr>
          <p:cNvPr id="7" name="Text 5"/>
          <p:cNvSpPr/>
          <p:nvPr/>
        </p:nvSpPr>
        <p:spPr>
          <a:xfrm>
            <a:off x="868680" y="2697480"/>
            <a:ext cx="3337560" cy="868680"/>
          </a:xfrm>
          <a:prstGeom prst="rect">
            <a:avLst/>
          </a:prstGeom>
          <a:noFill/>
          <a:ln/>
        </p:spPr>
        <p:txBody>
          <a:bodyPr wrap="square" lIns="0" tIns="0" rIns="0" bIns="0" rtlCol="0" anchor="ctr"/>
          <a:lstStyle/>
          <a:p>
            <a:pPr marL="0" indent="0">
              <a:buNone/>
            </a:pPr>
            <a:r>
              <a:rPr lang="en-US" sz="5200" b="1" dirty="0">
                <a:solidFill>
                  <a:srgbClr val="3B82F6"/>
                </a:solidFill>
                <a:latin typeface="Calibri" pitchFamily="34" charset="0"/>
                <a:ea typeface="Calibri" pitchFamily="34" charset="-122"/>
                <a:cs typeface="Calibri" pitchFamily="34" charset="-120"/>
              </a:rPr>
              <a:t>0.88</a:t>
            </a:r>
            <a:endParaRPr lang="en-US" sz="5200" dirty="0"/>
          </a:p>
        </p:txBody>
      </p:sp>
      <p:sp>
        <p:nvSpPr>
          <p:cNvPr id="8" name="Text 6"/>
          <p:cNvSpPr/>
          <p:nvPr/>
        </p:nvSpPr>
        <p:spPr>
          <a:xfrm>
            <a:off x="868680" y="3611880"/>
            <a:ext cx="3337560" cy="365760"/>
          </a:xfrm>
          <a:prstGeom prst="rect">
            <a:avLst/>
          </a:prstGeom>
          <a:noFill/>
          <a:ln/>
        </p:spPr>
        <p:txBody>
          <a:bodyPr wrap="square" lIns="0" tIns="0" rIns="0" bIns="0" rtlCol="0" anchor="ctr"/>
          <a:lstStyle/>
          <a:p>
            <a:pPr marL="0" indent="0">
              <a:buNone/>
            </a:pPr>
            <a:r>
              <a:rPr lang="en-US" sz="1600" b="1" dirty="0">
                <a:solidFill>
                  <a:srgbClr val="E8EAF0"/>
                </a:solidFill>
                <a:latin typeface="Calibri" pitchFamily="34" charset="0"/>
                <a:ea typeface="Calibri" pitchFamily="34" charset="-122"/>
                <a:cs typeface="Calibri" pitchFamily="34" charset="-120"/>
              </a:rPr>
              <a:t>R² Score</a:t>
            </a:r>
            <a:endParaRPr lang="en-US" sz="1600" dirty="0"/>
          </a:p>
        </p:txBody>
      </p:sp>
      <p:sp>
        <p:nvSpPr>
          <p:cNvPr id="9" name="Text 7"/>
          <p:cNvSpPr/>
          <p:nvPr/>
        </p:nvSpPr>
        <p:spPr>
          <a:xfrm>
            <a:off x="868680" y="4023360"/>
            <a:ext cx="3337560" cy="36576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of sales variance explained</a:t>
            </a:r>
            <a:endParaRPr lang="en-US" sz="1100" dirty="0"/>
          </a:p>
        </p:txBody>
      </p:sp>
      <p:sp>
        <p:nvSpPr>
          <p:cNvPr id="10" name="Shape 8"/>
          <p:cNvSpPr/>
          <p:nvPr/>
        </p:nvSpPr>
        <p:spPr>
          <a:xfrm>
            <a:off x="4480560" y="2560320"/>
            <a:ext cx="3703320" cy="2011680"/>
          </a:xfrm>
          <a:prstGeom prst="roundRect">
            <a:avLst>
              <a:gd name="adj" fmla="val 3636"/>
            </a:avLst>
          </a:prstGeom>
          <a:solidFill>
            <a:srgbClr val="131826"/>
          </a:solidFill>
          <a:ln w="6350">
            <a:solidFill>
              <a:srgbClr val="1F2A3F"/>
            </a:solidFill>
            <a:prstDash val="solid"/>
          </a:ln>
        </p:spPr>
      </p:sp>
      <p:sp>
        <p:nvSpPr>
          <p:cNvPr id="11" name="Text 9"/>
          <p:cNvSpPr/>
          <p:nvPr/>
        </p:nvSpPr>
        <p:spPr>
          <a:xfrm>
            <a:off x="4709160" y="2697480"/>
            <a:ext cx="3337560" cy="868680"/>
          </a:xfrm>
          <a:prstGeom prst="rect">
            <a:avLst/>
          </a:prstGeom>
          <a:noFill/>
          <a:ln/>
        </p:spPr>
        <p:txBody>
          <a:bodyPr wrap="square" lIns="0" tIns="0" rIns="0" bIns="0" rtlCol="0" anchor="ctr"/>
          <a:lstStyle/>
          <a:p>
            <a:pPr marL="0" indent="0">
              <a:buNone/>
            </a:pPr>
            <a:r>
              <a:rPr lang="en-US" sz="5200" b="1" dirty="0">
                <a:solidFill>
                  <a:srgbClr val="10B981"/>
                </a:solidFill>
                <a:latin typeface="Calibri" pitchFamily="34" charset="0"/>
                <a:ea typeface="Calibri" pitchFamily="34" charset="-122"/>
                <a:cs typeface="Calibri" pitchFamily="34" charset="-120"/>
              </a:rPr>
              <a:t>14.78%</a:t>
            </a:r>
            <a:endParaRPr lang="en-US" sz="5200" dirty="0"/>
          </a:p>
        </p:txBody>
      </p:sp>
      <p:sp>
        <p:nvSpPr>
          <p:cNvPr id="12" name="Text 10"/>
          <p:cNvSpPr/>
          <p:nvPr/>
        </p:nvSpPr>
        <p:spPr>
          <a:xfrm>
            <a:off x="4709160" y="3611880"/>
            <a:ext cx="3337560" cy="365760"/>
          </a:xfrm>
          <a:prstGeom prst="rect">
            <a:avLst/>
          </a:prstGeom>
          <a:noFill/>
          <a:ln/>
        </p:spPr>
        <p:txBody>
          <a:bodyPr wrap="square" lIns="0" tIns="0" rIns="0" bIns="0" rtlCol="0" anchor="ctr"/>
          <a:lstStyle/>
          <a:p>
            <a:pPr marL="0" indent="0">
              <a:buNone/>
            </a:pPr>
            <a:r>
              <a:rPr lang="en-US" sz="1600" b="1" dirty="0">
                <a:solidFill>
                  <a:srgbClr val="E8EAF0"/>
                </a:solidFill>
                <a:latin typeface="Calibri" pitchFamily="34" charset="0"/>
                <a:ea typeface="Calibri" pitchFamily="34" charset="-122"/>
                <a:cs typeface="Calibri" pitchFamily="34" charset="-120"/>
              </a:rPr>
              <a:t>RMSPE</a:t>
            </a:r>
            <a:endParaRPr lang="en-US" sz="1600" dirty="0"/>
          </a:p>
        </p:txBody>
      </p:sp>
      <p:sp>
        <p:nvSpPr>
          <p:cNvPr id="13" name="Text 11"/>
          <p:cNvSpPr/>
          <p:nvPr/>
        </p:nvSpPr>
        <p:spPr>
          <a:xfrm>
            <a:off x="4709160" y="4023360"/>
            <a:ext cx="3337560" cy="36576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official Kaggle metric</a:t>
            </a:r>
            <a:endParaRPr lang="en-US" sz="1100" dirty="0"/>
          </a:p>
        </p:txBody>
      </p:sp>
      <p:sp>
        <p:nvSpPr>
          <p:cNvPr id="14" name="Shape 12"/>
          <p:cNvSpPr/>
          <p:nvPr/>
        </p:nvSpPr>
        <p:spPr>
          <a:xfrm>
            <a:off x="8321040" y="2560320"/>
            <a:ext cx="3703320" cy="2011680"/>
          </a:xfrm>
          <a:prstGeom prst="roundRect">
            <a:avLst>
              <a:gd name="adj" fmla="val 3636"/>
            </a:avLst>
          </a:prstGeom>
          <a:solidFill>
            <a:srgbClr val="131826"/>
          </a:solidFill>
          <a:ln w="6350">
            <a:solidFill>
              <a:srgbClr val="1F2A3F"/>
            </a:solidFill>
            <a:prstDash val="solid"/>
          </a:ln>
        </p:spPr>
      </p:sp>
      <p:sp>
        <p:nvSpPr>
          <p:cNvPr id="15" name="Text 13"/>
          <p:cNvSpPr/>
          <p:nvPr/>
        </p:nvSpPr>
        <p:spPr>
          <a:xfrm>
            <a:off x="8549640" y="2697480"/>
            <a:ext cx="3337560" cy="868680"/>
          </a:xfrm>
          <a:prstGeom prst="rect">
            <a:avLst/>
          </a:prstGeom>
          <a:noFill/>
          <a:ln/>
        </p:spPr>
        <p:txBody>
          <a:bodyPr wrap="square" lIns="0" tIns="0" rIns="0" bIns="0" rtlCol="0" anchor="ctr"/>
          <a:lstStyle/>
          <a:p>
            <a:pPr marL="0" indent="0">
              <a:buNone/>
            </a:pPr>
            <a:r>
              <a:rPr lang="en-US" sz="5200" b="1" dirty="0">
                <a:solidFill>
                  <a:srgbClr val="F59E0B"/>
                </a:solidFill>
                <a:latin typeface="Calibri" pitchFamily="34" charset="0"/>
                <a:ea typeface="Calibri" pitchFamily="34" charset="-122"/>
                <a:cs typeface="Calibri" pitchFamily="34" charset="-120"/>
              </a:rPr>
              <a:t>94.7%</a:t>
            </a:r>
            <a:endParaRPr lang="en-US" sz="5200" dirty="0"/>
          </a:p>
        </p:txBody>
      </p:sp>
      <p:sp>
        <p:nvSpPr>
          <p:cNvPr id="16" name="Text 14"/>
          <p:cNvSpPr/>
          <p:nvPr/>
        </p:nvSpPr>
        <p:spPr>
          <a:xfrm>
            <a:off x="8549640" y="3611880"/>
            <a:ext cx="3337560" cy="365760"/>
          </a:xfrm>
          <a:prstGeom prst="rect">
            <a:avLst/>
          </a:prstGeom>
          <a:noFill/>
          <a:ln/>
        </p:spPr>
        <p:txBody>
          <a:bodyPr wrap="square" lIns="0" tIns="0" rIns="0" bIns="0" rtlCol="0" anchor="ctr"/>
          <a:lstStyle/>
          <a:p>
            <a:pPr marL="0" indent="0">
              <a:buNone/>
            </a:pPr>
            <a:r>
              <a:rPr lang="en-US" sz="1600" b="1" dirty="0">
                <a:solidFill>
                  <a:srgbClr val="E8EAF0"/>
                </a:solidFill>
                <a:latin typeface="Calibri" pitchFamily="34" charset="0"/>
                <a:ea typeface="Calibri" pitchFamily="34" charset="-122"/>
                <a:cs typeface="Calibri" pitchFamily="34" charset="-120"/>
              </a:rPr>
              <a:t>CI Coverage</a:t>
            </a:r>
            <a:endParaRPr lang="en-US" sz="1600" dirty="0"/>
          </a:p>
        </p:txBody>
      </p:sp>
      <p:sp>
        <p:nvSpPr>
          <p:cNvPr id="17" name="Text 15"/>
          <p:cNvSpPr/>
          <p:nvPr/>
        </p:nvSpPr>
        <p:spPr>
          <a:xfrm>
            <a:off x="8549640" y="4023360"/>
            <a:ext cx="3337560" cy="365760"/>
          </a:xfrm>
          <a:prstGeom prst="rect">
            <a:avLst/>
          </a:prstGeom>
          <a:noFill/>
          <a:ln/>
        </p:spPr>
        <p:txBody>
          <a:bodyPr wrap="square" lIns="0" tIns="0" rIns="0" bIns="0" rtlCol="0" anchor="ctr"/>
          <a:lstStyle/>
          <a:p>
            <a:pPr marL="0" indent="0">
              <a:buNone/>
            </a:pPr>
            <a:r>
              <a:rPr lang="en-US" sz="1100" i="1" dirty="0">
                <a:solidFill>
                  <a:srgbClr val="9CA8C2"/>
                </a:solidFill>
                <a:latin typeface="Calibri" pitchFamily="34" charset="0"/>
                <a:ea typeface="Calibri" pitchFamily="34" charset="-122"/>
                <a:cs typeface="Calibri" pitchFamily="34" charset="-120"/>
              </a:rPr>
              <a:t>of actuals within bounds</a:t>
            </a:r>
            <a:endParaRPr lang="en-US" sz="1100" dirty="0"/>
          </a:p>
        </p:txBody>
      </p:sp>
      <p:sp>
        <p:nvSpPr>
          <p:cNvPr id="18" name="Shape 16"/>
          <p:cNvSpPr/>
          <p:nvPr/>
        </p:nvSpPr>
        <p:spPr>
          <a:xfrm>
            <a:off x="640080" y="4709160"/>
            <a:ext cx="11064240" cy="1554480"/>
          </a:xfrm>
          <a:prstGeom prst="roundRect">
            <a:avLst>
              <a:gd name="adj" fmla="val 4706"/>
            </a:avLst>
          </a:prstGeom>
          <a:solidFill>
            <a:srgbClr val="131826"/>
          </a:solidFill>
          <a:ln w="6350">
            <a:solidFill>
              <a:srgbClr val="1F2A3F"/>
            </a:solidFill>
            <a:prstDash val="solid"/>
          </a:ln>
        </p:spPr>
      </p:sp>
      <p:sp>
        <p:nvSpPr>
          <p:cNvPr id="19" name="Text 17"/>
          <p:cNvSpPr/>
          <p:nvPr/>
        </p:nvSpPr>
        <p:spPr>
          <a:xfrm>
            <a:off x="868680" y="4846320"/>
            <a:ext cx="10698480" cy="274320"/>
          </a:xfrm>
          <a:prstGeom prst="rect">
            <a:avLst/>
          </a:prstGeom>
          <a:noFill/>
          <a:ln/>
        </p:spPr>
        <p:txBody>
          <a:bodyPr wrap="square" rtlCol="0" anchor="ctr"/>
          <a:lstStyle/>
          <a:p>
            <a:pPr marL="0" indent="0">
              <a:buNone/>
            </a:pPr>
            <a:r>
              <a:rPr lang="en-US" sz="1100" b="1" kern="0" spc="200" dirty="0">
                <a:solidFill>
                  <a:srgbClr val="3B82F6"/>
                </a:solidFill>
                <a:latin typeface="Calibri" pitchFamily="34" charset="0"/>
                <a:ea typeface="Calibri" pitchFamily="34" charset="-122"/>
                <a:cs typeface="Calibri" pitchFamily="34" charset="-120"/>
              </a:rPr>
              <a:t>DELIVERABLES CHECKLIST</a:t>
            </a:r>
            <a:endParaRPr lang="en-US" sz="1100" dirty="0"/>
          </a:p>
        </p:txBody>
      </p:sp>
      <p:sp>
        <p:nvSpPr>
          <p:cNvPr id="20" name="Text 18"/>
          <p:cNvSpPr/>
          <p:nvPr/>
        </p:nvSpPr>
        <p:spPr>
          <a:xfrm>
            <a:off x="868680" y="5166360"/>
            <a:ext cx="10698480" cy="914400"/>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a:t>
            </a:r>
            <a:r>
              <a:rPr lang="en-US" sz="1200" dirty="0">
                <a:solidFill>
                  <a:srgbClr val="E8EAF0"/>
                </a:solidFill>
                <a:latin typeface="Calibri" pitchFamily="34" charset="0"/>
                <a:ea typeface="Calibri" pitchFamily="34" charset="-122"/>
                <a:cs typeface="Calibri" pitchFamily="34" charset="-120"/>
              </a:rPr>
              <a:t>All 14 brief requirements met    </a:t>
            </a:r>
            <a:r>
              <a:rPr lang="en-US" sz="1200" b="1" dirty="0">
                <a:solidFill>
                  <a:srgbClr val="10B981"/>
                </a:solidFill>
                <a:latin typeface="Calibri" pitchFamily="34" charset="0"/>
                <a:ea typeface="Calibri" pitchFamily="34" charset="-122"/>
                <a:cs typeface="Calibri" pitchFamily="34" charset="-120"/>
              </a:rPr>
              <a:t>✓ </a:t>
            </a:r>
            <a:r>
              <a:rPr lang="en-US" sz="1200" dirty="0">
                <a:solidFill>
                  <a:srgbClr val="E8EAF0"/>
                </a:solidFill>
                <a:latin typeface="Calibri" pitchFamily="34" charset="0"/>
                <a:ea typeface="Calibri" pitchFamily="34" charset="-122"/>
                <a:cs typeface="Calibri" pitchFamily="34" charset="-120"/>
              </a:rPr>
              <a:t>8-page interactive Streamlit dashboard    </a:t>
            </a:r>
            <a:r>
              <a:rPr lang="en-US" sz="1200" b="1" dirty="0">
                <a:solidFill>
                  <a:srgbClr val="10B981"/>
                </a:solidFill>
                <a:latin typeface="Calibri" pitchFamily="34" charset="0"/>
                <a:ea typeface="Calibri" pitchFamily="34" charset="-122"/>
                <a:cs typeface="Calibri" pitchFamily="34" charset="-120"/>
              </a:rPr>
              <a:t>✓ </a:t>
            </a:r>
            <a:r>
              <a:rPr lang="en-US" sz="1200" dirty="0">
                <a:solidFill>
                  <a:srgbClr val="E8EAF0"/>
                </a:solidFill>
                <a:latin typeface="Calibri" pitchFamily="34" charset="0"/>
                <a:ea typeface="Calibri" pitchFamily="34" charset="-122"/>
                <a:cs typeface="Calibri" pitchFamily="34" charset="-120"/>
              </a:rPr>
              <a:t>Modular src/ package</a:t>
            </a:r>
            <a:endParaRPr lang="en-US" sz="1200" dirty="0"/>
          </a:p>
          <a:p>
            <a:pPr marL="0" indent="0">
              <a:buNone/>
            </a:pPr>
            <a:r>
              <a:rPr lang="en-US" sz="1200" b="1" dirty="0">
                <a:solidFill>
                  <a:srgbClr val="10B981"/>
                </a:solidFill>
                <a:latin typeface="Calibri" pitchFamily="34" charset="0"/>
                <a:ea typeface="Calibri" pitchFamily="34" charset="-122"/>
                <a:cs typeface="Calibri" pitchFamily="34" charset="-120"/>
              </a:rPr>
              <a:t>✓ </a:t>
            </a:r>
            <a:r>
              <a:rPr lang="en-US" sz="1200" dirty="0">
                <a:solidFill>
                  <a:srgbClr val="E8EAF0"/>
                </a:solidFill>
                <a:latin typeface="Calibri" pitchFamily="34" charset="0"/>
                <a:ea typeface="Calibri" pitchFamily="34" charset="-122"/>
                <a:cs typeface="Calibri" pitchFamily="34" charset="-120"/>
              </a:rPr>
              <a:t>MLflow + DVC + CI/CD + Heroku ready    </a:t>
            </a:r>
            <a:r>
              <a:rPr lang="en-US" sz="1200" b="1" dirty="0">
                <a:solidFill>
                  <a:srgbClr val="10B981"/>
                </a:solidFill>
                <a:latin typeface="Calibri" pitchFamily="34" charset="0"/>
                <a:ea typeface="Calibri" pitchFamily="34" charset="-122"/>
                <a:cs typeface="Calibri" pitchFamily="34" charset="-120"/>
              </a:rPr>
              <a:t>✓ </a:t>
            </a:r>
            <a:r>
              <a:rPr lang="en-US" sz="1200" dirty="0">
                <a:solidFill>
                  <a:srgbClr val="E8EAF0"/>
                </a:solidFill>
                <a:latin typeface="Calibri" pitchFamily="34" charset="0"/>
                <a:ea typeface="Calibri" pitchFamily="34" charset="-122"/>
                <a:cs typeface="Calibri" pitchFamily="34" charset="-120"/>
              </a:rPr>
              <a:t>LSTM deep learning model    </a:t>
            </a:r>
            <a:r>
              <a:rPr lang="en-US" sz="1200" b="1" dirty="0">
                <a:solidFill>
                  <a:srgbClr val="10B981"/>
                </a:solidFill>
                <a:latin typeface="Calibri" pitchFamily="34" charset="0"/>
                <a:ea typeface="Calibri" pitchFamily="34" charset="-122"/>
                <a:cs typeface="Calibri" pitchFamily="34" charset="-120"/>
              </a:rPr>
              <a:t>✓ </a:t>
            </a:r>
            <a:r>
              <a:rPr lang="en-US" sz="1200" dirty="0">
                <a:solidFill>
                  <a:srgbClr val="E8EAF0"/>
                </a:solidFill>
                <a:latin typeface="Calibri" pitchFamily="34" charset="0"/>
                <a:ea typeface="Calibri" pitchFamily="34" charset="-122"/>
                <a:cs typeface="Calibri" pitchFamily="34" charset="-120"/>
              </a:rPr>
              <a:t>7 unit tests passing</a:t>
            </a:r>
            <a:endParaRPr lang="en-US" sz="1200" dirty="0"/>
          </a:p>
        </p:txBody>
      </p:sp>
      <p:sp>
        <p:nvSpPr>
          <p:cNvPr id="21" name="Text 19"/>
          <p:cNvSpPr/>
          <p:nvPr/>
        </p:nvSpPr>
        <p:spPr>
          <a:xfrm>
            <a:off x="640080" y="6355080"/>
            <a:ext cx="5486400" cy="274320"/>
          </a:xfrm>
          <a:prstGeom prst="rect">
            <a:avLst/>
          </a:prstGeom>
          <a:noFill/>
          <a:ln/>
        </p:spPr>
        <p:txBody>
          <a:bodyPr wrap="square" lIns="0" tIns="0" rIns="0" bIns="0" rtlCol="0" anchor="ctr"/>
          <a:lstStyle/>
          <a:p>
            <a:pPr marL="0" indent="0">
              <a:buNone/>
            </a:pPr>
            <a:r>
              <a:rPr lang="en-US" sz="1200" i="1" dirty="0">
                <a:solidFill>
                  <a:srgbClr val="9CA8C2"/>
                </a:solidFill>
                <a:latin typeface="Calibri" pitchFamily="34" charset="0"/>
                <a:ea typeface="Calibri" pitchFamily="34" charset="-122"/>
                <a:cs typeface="Calibri" pitchFamily="34" charset="-120"/>
              </a:rPr>
              <a:t>Thank you!</a:t>
            </a:r>
            <a:endParaRPr lang="en-US" sz="1200" dirty="0"/>
          </a:p>
        </p:txBody>
      </p:sp>
      <p:sp>
        <p:nvSpPr>
          <p:cNvPr id="22" name="Text 20"/>
          <p:cNvSpPr/>
          <p:nvPr/>
        </p:nvSpPr>
        <p:spPr>
          <a:xfrm>
            <a:off x="6400800" y="6355080"/>
            <a:ext cx="5486400" cy="274320"/>
          </a:xfrm>
          <a:prstGeom prst="rect">
            <a:avLst/>
          </a:prstGeom>
          <a:noFill/>
          <a:ln/>
        </p:spPr>
        <p:txBody>
          <a:bodyPr wrap="square" lIns="0" tIns="0" rIns="0" bIns="0" rtlCol="0" anchor="ctr"/>
          <a:lstStyle/>
          <a:p>
            <a:pPr marL="0" indent="0" algn="r">
              <a:buNone/>
            </a:pPr>
            <a:r>
              <a:rPr lang="en-US" sz="1100" dirty="0">
                <a:solidFill>
                  <a:srgbClr val="9CA8C2"/>
                </a:solidFill>
                <a:latin typeface="Calibri" pitchFamily="34" charset="0"/>
                <a:ea typeface="Calibri" pitchFamily="34" charset="-122"/>
                <a:cs typeface="Calibri" pitchFamily="34" charset="-120"/>
              </a:rPr>
              <a:t>github.com/SumeetRajput · linkedin.com/in/sumeet-rajput-a82211385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3013</Words>
  <Application>Microsoft Office PowerPoint</Application>
  <PresentationFormat>Widescreen</PresentationFormat>
  <Paragraphs>393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Rossmann Sales Forecasting</dc:title>
  <dc:subject>PptxGenJS Presentation</dc:subject>
  <dc:creator>Sumeet Rajput</dc:creator>
  <cp:lastModifiedBy>Sumeet Rajput</cp:lastModifiedBy>
  <cp:revision>2</cp:revision>
  <dcterms:created xsi:type="dcterms:W3CDTF">2026-06-14T18:49:09Z</dcterms:created>
  <dcterms:modified xsi:type="dcterms:W3CDTF">2026-06-14T19:55:36Z</dcterms:modified>
</cp:coreProperties>
</file>